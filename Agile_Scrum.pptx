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3" r:id="rId7"/>
    <p:sldId id="264" r:id="rId8"/>
    <p:sldId id="287" r:id="rId9"/>
    <p:sldId id="288" r:id="rId10"/>
    <p:sldId id="289" r:id="rId11"/>
    <p:sldId id="290" r:id="rId12"/>
    <p:sldId id="291" r:id="rId13"/>
    <p:sldId id="292" r:id="rId14"/>
    <p:sldId id="293" r:id="rId15"/>
    <p:sldId id="294" r:id="rId16"/>
    <p:sldId id="265" r:id="rId17"/>
    <p:sldId id="268" r:id="rId18"/>
    <p:sldId id="269" r:id="rId19"/>
    <p:sldId id="270" r:id="rId20"/>
    <p:sldId id="297" r:id="rId21"/>
    <p:sldId id="274" r:id="rId22"/>
    <p:sldId id="276" r:id="rId23"/>
    <p:sldId id="296" r:id="rId24"/>
    <p:sldId id="277" r:id="rId25"/>
    <p:sldId id="295" r:id="rId26"/>
    <p:sldId id="279" r:id="rId27"/>
    <p:sldId id="280" r:id="rId28"/>
    <p:sldId id="281" r:id="rId29"/>
    <p:sldId id="282" r:id="rId30"/>
    <p:sldId id="284" r:id="rId31"/>
    <p:sldId id="283" r:id="rId32"/>
    <p:sldId id="285" r:id="rId33"/>
    <p:sldId id="286" r:id="rId34"/>
  </p:sldIdLst>
  <p:sldSz cx="18288000" cy="10287000"/>
  <p:notesSz cx="6858000" cy="9144000"/>
  <p:embeddedFontLst>
    <p:embeddedFont>
      <p:font typeface="#9Slide01 Noi dung ngan" panose="00000600000000000000" pitchFamily="2" charset="-93"/>
      <p:regular r:id="rId35"/>
    </p:embeddedFont>
    <p:embeddedFont>
      <p:font typeface="#9Slide01 Tieu de ngan" panose="00000800000000000000" pitchFamily="2" charset="-93"/>
      <p:bold r:id="rId36"/>
    </p:embeddedFont>
    <p:embeddedFont>
      <p:font typeface="#9Slide02 Noi dung dai" panose="02000000000000000000" pitchFamily="2" charset="0"/>
      <p:regular r:id="rId37"/>
    </p:embeddedFont>
    <p:embeddedFont>
      <p:font typeface="#9Slide02 Tieu de dai" panose="02000000000000000000" pitchFamily="2" charset="0"/>
      <p:bold r:id="rId38"/>
    </p:embeddedFont>
    <p:embeddedFont>
      <p:font typeface="Calibri" panose="020F0502020204030204" pitchFamily="34" charset="0"/>
      <p:regular r:id="rId39"/>
      <p:bold r:id="rId40"/>
      <p:italic r:id="rId41"/>
      <p:boldItalic r:id="rId42"/>
    </p:embeddedFont>
    <p:embeddedFont>
      <p:font typeface="Comic Sans" panose="020B0604020202020204" charset="0"/>
      <p:regular r:id="rId43"/>
    </p:embeddedFont>
    <p:embeddedFont>
      <p:font typeface="DVN-Poppins 1" panose="020B0604020202020204" charset="0"/>
      <p:regular r:id="rId44"/>
    </p:embeddedFont>
    <p:embeddedFont>
      <p:font typeface="Poppins Bold" panose="020B0604020202020204" charset="0"/>
      <p:regular r:id="rId45"/>
    </p:embeddedFont>
    <p:embeddedFont>
      <p:font typeface="Poppins Bold Italics" panose="020B0604020202020204" charset="0"/>
      <p:regular r:id="rId46"/>
    </p:embeddedFont>
    <p:embeddedFont>
      <p:font typeface="Poppins Medium Bold"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D949"/>
    <a:srgbClr val="000000"/>
    <a:srgbClr val="E6E6E6"/>
    <a:srgbClr val="F12711"/>
    <a:srgbClr val="F0F0F0"/>
    <a:srgbClr val="4343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71B509-81B3-4726-952A-708FD4998CB6}" v="24" dt="2023-06-14T13:19:43.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48" d="100"/>
          <a:sy n="48" d="100"/>
        </p:scale>
        <p:origin x="1090"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8" name="9Slide.vn - 2019">
            <a:extLst>
              <a:ext uri="{FF2B5EF4-FFF2-40B4-BE49-F238E27FC236}">
                <a16:creationId xmlns:a16="http://schemas.microsoft.com/office/drawing/2014/main" id="{5EC304B6-178C-4008-B24F-A5FC60E99CBB}"/>
              </a:ext>
            </a:extLst>
          </p:cNvPr>
          <p:cNvSpPr txBox="1"/>
          <p:nvPr userDrawn="1"/>
        </p:nvSpPr>
        <p:spPr>
          <a:xfrm>
            <a:off x="0" y="-1789331"/>
            <a:ext cx="18288000" cy="646331"/>
          </a:xfrm>
          <a:prstGeom prst="rect">
            <a:avLst/>
          </a:prstGeom>
          <a:noFill/>
        </p:spPr>
        <p:txBody>
          <a:bodyPr vert="horz" rtlCol="0">
            <a:spAutoFit/>
          </a:bodyPr>
          <a:lstStyle/>
          <a:p>
            <a:pPr algn="ctr"/>
            <a:r>
              <a:rPr lang="en-US" sz="3600">
                <a:solidFill>
                  <a:srgbClr val="CFCFCF"/>
                </a:solidFill>
              </a:rPr>
              <a:t>www.9slide.vn</a:t>
            </a: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gif"/></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1028700" y="1028700"/>
            <a:ext cx="828785" cy="685800"/>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013460" y="8051633"/>
            <a:ext cx="997972" cy="1099694"/>
          </a:xfrm>
          <a:prstGeom prst="rect">
            <a:avLst/>
          </a:prstGeom>
        </p:spPr>
      </p:pic>
      <p:grpSp>
        <p:nvGrpSpPr>
          <p:cNvPr id="4" name="Group 4"/>
          <p:cNvGrpSpPr/>
          <p:nvPr/>
        </p:nvGrpSpPr>
        <p:grpSpPr>
          <a:xfrm rot="2371390">
            <a:off x="12258711" y="-6023358"/>
            <a:ext cx="3773803" cy="20910103"/>
            <a:chOff x="0" y="0"/>
            <a:chExt cx="993923" cy="5507188"/>
          </a:xfrm>
        </p:grpSpPr>
        <p:sp>
          <p:nvSpPr>
            <p:cNvPr id="5" name="Freeform 5"/>
            <p:cNvSpPr/>
            <p:nvPr/>
          </p:nvSpPr>
          <p:spPr>
            <a:xfrm>
              <a:off x="0" y="0"/>
              <a:ext cx="993923" cy="5507187"/>
            </a:xfrm>
            <a:custGeom>
              <a:avLst/>
              <a:gdLst/>
              <a:ahLst/>
              <a:cxnLst/>
              <a:rect l="l" t="t" r="r" b="b"/>
              <a:pathLst>
                <a:path w="993923" h="5507187">
                  <a:moveTo>
                    <a:pt x="0" y="0"/>
                  </a:moveTo>
                  <a:lnTo>
                    <a:pt x="993923" y="0"/>
                  </a:lnTo>
                  <a:lnTo>
                    <a:pt x="993923" y="5507187"/>
                  </a:lnTo>
                  <a:lnTo>
                    <a:pt x="0" y="5507187"/>
                  </a:lnTo>
                  <a:close/>
                </a:path>
              </a:pathLst>
            </a:custGeom>
            <a:solidFill>
              <a:srgbClr val="F12711"/>
            </a:solidFill>
          </p:spPr>
        </p:sp>
        <p:sp>
          <p:nvSpPr>
            <p:cNvPr id="6" name="TextBox 6"/>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326132" y="2075807"/>
            <a:ext cx="6817181" cy="6817181"/>
            <a:chOff x="0" y="0"/>
            <a:chExt cx="837653" cy="837653"/>
          </a:xfrm>
        </p:grpSpPr>
        <p:sp>
          <p:nvSpPr>
            <p:cNvPr id="8" name="Freeform 8"/>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19202B"/>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rot="2371390">
            <a:off x="14243670" y="-4774694"/>
            <a:ext cx="680143" cy="20910103"/>
            <a:chOff x="0" y="0"/>
            <a:chExt cx="179132" cy="5507188"/>
          </a:xfrm>
        </p:grpSpPr>
        <p:sp>
          <p:nvSpPr>
            <p:cNvPr id="11" name="Freeform 11"/>
            <p:cNvSpPr/>
            <p:nvPr/>
          </p:nvSpPr>
          <p:spPr>
            <a:xfrm>
              <a:off x="0" y="0"/>
              <a:ext cx="179132" cy="5507187"/>
            </a:xfrm>
            <a:custGeom>
              <a:avLst/>
              <a:gdLst/>
              <a:ahLst/>
              <a:cxnLst/>
              <a:rect l="l" t="t" r="r" b="b"/>
              <a:pathLst>
                <a:path w="179132" h="5507187">
                  <a:moveTo>
                    <a:pt x="0" y="0"/>
                  </a:moveTo>
                  <a:lnTo>
                    <a:pt x="179132" y="0"/>
                  </a:lnTo>
                  <a:lnTo>
                    <a:pt x="179132" y="5507187"/>
                  </a:lnTo>
                  <a:lnTo>
                    <a:pt x="0" y="5507187"/>
                  </a:lnTo>
                  <a:close/>
                </a:path>
              </a:pathLst>
            </a:custGeom>
            <a:solidFill>
              <a:srgbClr val="19202B"/>
            </a:solidFill>
          </p:spPr>
        </p:sp>
        <p:sp>
          <p:nvSpPr>
            <p:cNvPr id="12" name="TextBox 12"/>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857067" y="2717986"/>
            <a:ext cx="5805876" cy="5532824"/>
            <a:chOff x="0" y="0"/>
            <a:chExt cx="852913" cy="812800"/>
          </a:xfrm>
        </p:grpSpPr>
        <p:sp>
          <p:nvSpPr>
            <p:cNvPr id="14" name="Freeform 14"/>
            <p:cNvSpPr/>
            <p:nvPr/>
          </p:nvSpPr>
          <p:spPr>
            <a:xfrm>
              <a:off x="21870" y="0"/>
              <a:ext cx="809173" cy="812800"/>
            </a:xfrm>
            <a:custGeom>
              <a:avLst/>
              <a:gdLst/>
              <a:ahLst/>
              <a:cxnLst/>
              <a:rect l="l" t="t" r="r" b="b"/>
              <a:pathLst>
                <a:path w="809173" h="812800">
                  <a:moveTo>
                    <a:pt x="404586" y="0"/>
                  </a:moveTo>
                  <a:cubicBezTo>
                    <a:pt x="628325" y="1001"/>
                    <a:pt x="809173" y="182659"/>
                    <a:pt x="809173" y="406400"/>
                  </a:cubicBezTo>
                  <a:cubicBezTo>
                    <a:pt x="809173" y="630141"/>
                    <a:pt x="628325" y="811799"/>
                    <a:pt x="404586" y="812800"/>
                  </a:cubicBezTo>
                  <a:cubicBezTo>
                    <a:pt x="180847" y="811799"/>
                    <a:pt x="0" y="630141"/>
                    <a:pt x="0" y="406400"/>
                  </a:cubicBezTo>
                  <a:cubicBezTo>
                    <a:pt x="0" y="182659"/>
                    <a:pt x="180847" y="1001"/>
                    <a:pt x="404586" y="0"/>
                  </a:cubicBezTo>
                  <a:close/>
                </a:path>
              </a:pathLst>
            </a:custGeom>
            <a:solidFill>
              <a:srgbClr val="F12711"/>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6" name="Group 16"/>
          <p:cNvGrpSpPr>
            <a:grpSpLocks noChangeAspect="1"/>
          </p:cNvGrpSpPr>
          <p:nvPr/>
        </p:nvGrpSpPr>
        <p:grpSpPr>
          <a:xfrm>
            <a:off x="11160384" y="2910069"/>
            <a:ext cx="5148678" cy="5148657"/>
            <a:chOff x="0" y="0"/>
            <a:chExt cx="6350000" cy="6349975"/>
          </a:xfrm>
        </p:grpSpPr>
        <p:sp>
          <p:nvSpPr>
            <p:cNvPr id="17" name="Freeform 1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16666" r="-16666"/>
              </a:stretch>
            </a:blipFill>
          </p:spPr>
        </p:sp>
      </p:grpSp>
      <p:grpSp>
        <p:nvGrpSpPr>
          <p:cNvPr id="18" name="Group 18"/>
          <p:cNvGrpSpPr/>
          <p:nvPr/>
        </p:nvGrpSpPr>
        <p:grpSpPr>
          <a:xfrm>
            <a:off x="15319631" y="7889223"/>
            <a:ext cx="5446373" cy="5446373"/>
            <a:chOff x="0" y="0"/>
            <a:chExt cx="837653" cy="837653"/>
          </a:xfrm>
        </p:grpSpPr>
        <p:sp>
          <p:nvSpPr>
            <p:cNvPr id="19" name="Freeform 19"/>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F12711"/>
            </a:solidFill>
            <a:ln w="533400">
              <a:solidFill>
                <a:srgbClr val="19202B"/>
              </a:solidFill>
            </a:ln>
          </p:spPr>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0172418" y="-1511780"/>
            <a:ext cx="3587587" cy="3587587"/>
            <a:chOff x="0" y="0"/>
            <a:chExt cx="837653" cy="837653"/>
          </a:xfrm>
        </p:grpSpPr>
        <p:sp>
          <p:nvSpPr>
            <p:cNvPr id="22" name="Freeform 22"/>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F12711"/>
            </a:solidFill>
            <a:ln w="504825">
              <a:solidFill>
                <a:srgbClr val="19202B"/>
              </a:solidFill>
            </a:ln>
          </p:spPr>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10800000">
            <a:off x="-1709241" y="5962771"/>
            <a:ext cx="9377169" cy="976421"/>
            <a:chOff x="0" y="0"/>
            <a:chExt cx="2638028" cy="274691"/>
          </a:xfrm>
        </p:grpSpPr>
        <p:sp>
          <p:nvSpPr>
            <p:cNvPr id="25" name="Freeform 25"/>
            <p:cNvSpPr/>
            <p:nvPr/>
          </p:nvSpPr>
          <p:spPr>
            <a:xfrm>
              <a:off x="10730" y="0"/>
              <a:ext cx="2616568" cy="274691"/>
            </a:xfrm>
            <a:custGeom>
              <a:avLst/>
              <a:gdLst/>
              <a:ahLst/>
              <a:cxnLst/>
              <a:rect l="l" t="t" r="r" b="b"/>
              <a:pathLst>
                <a:path w="2616568" h="274691">
                  <a:moveTo>
                    <a:pt x="215587" y="0"/>
                  </a:moveTo>
                  <a:lnTo>
                    <a:pt x="2604180" y="0"/>
                  </a:lnTo>
                  <a:cubicBezTo>
                    <a:pt x="2608581" y="0"/>
                    <a:pt x="2612606" y="2479"/>
                    <a:pt x="2614587" y="6408"/>
                  </a:cubicBezTo>
                  <a:cubicBezTo>
                    <a:pt x="2616568" y="10337"/>
                    <a:pt x="2616166" y="15047"/>
                    <a:pt x="2613550" y="18585"/>
                  </a:cubicBezTo>
                  <a:lnTo>
                    <a:pt x="2437846" y="256106"/>
                  </a:lnTo>
                  <a:cubicBezTo>
                    <a:pt x="2429199" y="267795"/>
                    <a:pt x="2415520" y="274691"/>
                    <a:pt x="2400980" y="274691"/>
                  </a:cubicBezTo>
                  <a:lnTo>
                    <a:pt x="12387" y="274691"/>
                  </a:lnTo>
                  <a:cubicBezTo>
                    <a:pt x="7987" y="274691"/>
                    <a:pt x="3962" y="272213"/>
                    <a:pt x="1981" y="268283"/>
                  </a:cubicBezTo>
                  <a:cubicBezTo>
                    <a:pt x="0" y="264354"/>
                    <a:pt x="401" y="259644"/>
                    <a:pt x="3018" y="256106"/>
                  </a:cubicBezTo>
                  <a:lnTo>
                    <a:pt x="178722" y="18585"/>
                  </a:lnTo>
                  <a:cubicBezTo>
                    <a:pt x="187369" y="6896"/>
                    <a:pt x="201047" y="0"/>
                    <a:pt x="215587" y="0"/>
                  </a:cubicBezTo>
                  <a:close/>
                </a:path>
              </a:pathLst>
            </a:custGeom>
            <a:solidFill>
              <a:srgbClr val="F12711"/>
            </a:solidFill>
          </p:spPr>
        </p:sp>
        <p:sp>
          <p:nvSpPr>
            <p:cNvPr id="26" name="TextBox 26"/>
            <p:cNvSpPr txBox="1"/>
            <p:nvPr/>
          </p:nvSpPr>
          <p:spPr>
            <a:xfrm>
              <a:off x="101600" y="-57150"/>
              <a:ext cx="609600" cy="66675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7543363" y="4092674"/>
            <a:ext cx="2101652" cy="2101652"/>
            <a:chOff x="0" y="0"/>
            <a:chExt cx="837653" cy="837653"/>
          </a:xfrm>
        </p:grpSpPr>
        <p:sp>
          <p:nvSpPr>
            <p:cNvPr id="28" name="Freeform 28"/>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19202B"/>
            </a:solidFill>
          </p:spPr>
        </p:sp>
        <p:sp>
          <p:nvSpPr>
            <p:cNvPr id="29" name="TextBox 2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2026672" y="1009650"/>
            <a:ext cx="4633134" cy="666849"/>
          </a:xfrm>
          <a:prstGeom prst="rect">
            <a:avLst/>
          </a:prstGeom>
        </p:spPr>
        <p:txBody>
          <a:bodyPr lIns="0" tIns="0" rIns="0" bIns="0" rtlCol="0" anchor="t">
            <a:spAutoFit/>
          </a:bodyPr>
          <a:lstStyle/>
          <a:p>
            <a:pPr>
              <a:lnSpc>
                <a:spcPts val="5174"/>
              </a:lnSpc>
            </a:pPr>
            <a:r>
              <a:rPr lang="en-US" sz="4500">
                <a:latin typeface="#9Slide01 Tieu de ngan" panose="00000800000000000000" pitchFamily="2" charset="-93"/>
              </a:rPr>
              <a:t>IS208.N21.HTCL</a:t>
            </a:r>
          </a:p>
        </p:txBody>
      </p:sp>
      <p:sp>
        <p:nvSpPr>
          <p:cNvPr id="31" name="TextBox 31"/>
          <p:cNvSpPr txBox="1"/>
          <p:nvPr/>
        </p:nvSpPr>
        <p:spPr>
          <a:xfrm>
            <a:off x="2184255" y="8553450"/>
            <a:ext cx="5307632" cy="666849"/>
          </a:xfrm>
          <a:prstGeom prst="rect">
            <a:avLst/>
          </a:prstGeom>
        </p:spPr>
        <p:txBody>
          <a:bodyPr lIns="0" tIns="0" rIns="0" bIns="0" rtlCol="0" anchor="t">
            <a:spAutoFit/>
          </a:bodyPr>
          <a:lstStyle/>
          <a:p>
            <a:pPr>
              <a:lnSpc>
                <a:spcPts val="5174"/>
              </a:lnSpc>
            </a:pPr>
            <a:r>
              <a:rPr lang="en-US" sz="4500">
                <a:latin typeface="#9Slide01 Tieu de ngan"/>
              </a:rPr>
              <a:t>Võ Viết Đạt  </a:t>
            </a:r>
            <a:endParaRPr lang="en-US" sz="4500">
              <a:latin typeface="#9Slide01 Tieu de ngan" panose="00000800000000000000" pitchFamily="2" charset="-93"/>
            </a:endParaRPr>
          </a:p>
        </p:txBody>
      </p:sp>
      <p:sp>
        <p:nvSpPr>
          <p:cNvPr id="32" name="TextBox 32"/>
          <p:cNvSpPr txBox="1"/>
          <p:nvPr/>
        </p:nvSpPr>
        <p:spPr>
          <a:xfrm>
            <a:off x="2184255" y="8105775"/>
            <a:ext cx="3534344" cy="466725"/>
          </a:xfrm>
          <a:prstGeom prst="rect">
            <a:avLst/>
          </a:prstGeom>
        </p:spPr>
        <p:txBody>
          <a:bodyPr lIns="0" tIns="0" rIns="0" bIns="0" rtlCol="0" anchor="t">
            <a:spAutoFit/>
          </a:bodyPr>
          <a:lstStyle/>
          <a:p>
            <a:pPr>
              <a:lnSpc>
                <a:spcPts val="3450"/>
              </a:lnSpc>
            </a:pPr>
            <a:r>
              <a:rPr lang="en-US" sz="3000">
                <a:latin typeface="#9Slide01 Tieu de ngan" panose="00000800000000000000" pitchFamily="2" charset="-93"/>
              </a:rPr>
              <a:t>Giảng viên</a:t>
            </a:r>
          </a:p>
        </p:txBody>
      </p:sp>
      <p:sp>
        <p:nvSpPr>
          <p:cNvPr id="33" name="TextBox 33"/>
          <p:cNvSpPr txBox="1"/>
          <p:nvPr/>
        </p:nvSpPr>
        <p:spPr>
          <a:xfrm>
            <a:off x="1028700" y="3902122"/>
            <a:ext cx="8115300" cy="1828800"/>
          </a:xfrm>
          <a:prstGeom prst="rect">
            <a:avLst/>
          </a:prstGeom>
        </p:spPr>
        <p:txBody>
          <a:bodyPr lIns="0" tIns="0" rIns="0" bIns="0" rtlCol="0" anchor="t">
            <a:spAutoFit/>
          </a:bodyPr>
          <a:lstStyle/>
          <a:p>
            <a:pPr>
              <a:lnSpc>
                <a:spcPts val="6900"/>
              </a:lnSpc>
            </a:pPr>
            <a:r>
              <a:rPr lang="en-US" sz="6000">
                <a:latin typeface="#9Slide01 Tieu de ngan" panose="00000800000000000000" pitchFamily="2" charset="-93"/>
              </a:rPr>
              <a:t>MÔ HÌNH AGILE &amp; QUY TRÌNH SCRUM</a:t>
            </a:r>
          </a:p>
        </p:txBody>
      </p:sp>
      <p:sp>
        <p:nvSpPr>
          <p:cNvPr id="34" name="TextBox 34"/>
          <p:cNvSpPr txBox="1"/>
          <p:nvPr/>
        </p:nvSpPr>
        <p:spPr>
          <a:xfrm>
            <a:off x="1028700" y="6119194"/>
            <a:ext cx="6239178" cy="500137"/>
          </a:xfrm>
          <a:prstGeom prst="rect">
            <a:avLst/>
          </a:prstGeom>
        </p:spPr>
        <p:txBody>
          <a:bodyPr lIns="0" tIns="0" rIns="0" bIns="0" rtlCol="0" anchor="t">
            <a:spAutoFit/>
          </a:bodyPr>
          <a:lstStyle/>
          <a:p>
            <a:pPr>
              <a:lnSpc>
                <a:spcPts val="3910"/>
              </a:lnSpc>
            </a:pPr>
            <a:r>
              <a:rPr lang="en-US" sz="3400">
                <a:solidFill>
                  <a:srgbClr val="FFFFFF"/>
                </a:solidFill>
                <a:latin typeface="#9Slide01 Noi dung ngan" panose="00000600000000000000" pitchFamily="2" charset="-93"/>
              </a:rPr>
              <a:t>Trong phát triển phần mềm</a:t>
            </a:r>
          </a:p>
        </p:txBody>
      </p:sp>
      <p:sp>
        <p:nvSpPr>
          <p:cNvPr id="35" name="TextBox 35"/>
          <p:cNvSpPr txBox="1"/>
          <p:nvPr/>
        </p:nvSpPr>
        <p:spPr>
          <a:xfrm>
            <a:off x="1028700" y="2881494"/>
            <a:ext cx="8957518" cy="1615827"/>
          </a:xfrm>
          <a:prstGeom prst="rect">
            <a:avLst/>
          </a:prstGeom>
        </p:spPr>
        <p:txBody>
          <a:bodyPr lIns="0" tIns="0" rIns="0" bIns="0" rtlCol="0" anchor="t">
            <a:spAutoFit/>
          </a:bodyPr>
          <a:lstStyle/>
          <a:p>
            <a:pPr>
              <a:lnSpc>
                <a:spcPts val="6324"/>
              </a:lnSpc>
            </a:pPr>
            <a:r>
              <a:rPr lang="en-US" sz="5499">
                <a:solidFill>
                  <a:srgbClr val="F12711"/>
                </a:solidFill>
                <a:latin typeface="#9Slide01 Tieu de ngan" panose="00000800000000000000" pitchFamily="2" charset="-93"/>
              </a:rPr>
              <a:t>TỔNG QUAN</a:t>
            </a:r>
          </a:p>
          <a:p>
            <a:pPr>
              <a:lnSpc>
                <a:spcPts val="6324"/>
              </a:lnSpc>
            </a:pPr>
            <a:endParaRPr lang="en-US" sz="5499">
              <a:solidFill>
                <a:srgbClr val="F12711"/>
              </a:solidFill>
              <a:latin typeface="#9Slide01 Tieu de ngan" panose="00000800000000000000" pitchFamily="2" charset="-93"/>
            </a:endParaRPr>
          </a:p>
        </p:txBody>
      </p:sp>
      <p:pic>
        <p:nvPicPr>
          <p:cNvPr id="37" name="Picture 36">
            <a:extLst>
              <a:ext uri="{FF2B5EF4-FFF2-40B4-BE49-F238E27FC236}">
                <a16:creationId xmlns:a16="http://schemas.microsoft.com/office/drawing/2014/main" id="{1283ECC6-A132-4669-AFF8-EA74E8E7DF49}"/>
              </a:ext>
            </a:extLst>
          </p:cNvPr>
          <p:cNvPicPr>
            <a:picLocks noChangeAspect="1"/>
          </p:cNvPicPr>
          <p:nvPr>
            <p:custDataLst>
              <p:tags r:id="rId1"/>
            </p:custDataLst>
          </p:nvPr>
        </p:nvPicPr>
        <p:blipFill rotWithShape="1">
          <a:blip r:embed="rId7">
            <a:extLst>
              <a:ext uri="{28A0092B-C50C-407E-A947-70E740481C1C}">
                <a14:useLocalDpi xmlns:a14="http://schemas.microsoft.com/office/drawing/2010/main" val="0"/>
              </a:ext>
            </a:extLst>
          </a:blip>
          <a:srcRect/>
          <a:stretch/>
        </p:blipFill>
        <p:spPr>
          <a:xfrm>
            <a:off x="-2815602" y="-732824"/>
            <a:ext cx="2447324" cy="2447324"/>
          </a:xfrm>
          <a:prstGeom prst="rect">
            <a:avLst/>
          </a:prstGeom>
          <a:solidFill>
            <a:scrgbClr r="0" g="0" b="0">
              <a:alpha val="0"/>
            </a:scrgbClr>
          </a:solidFill>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411106" y="3778112"/>
            <a:ext cx="19110211" cy="1543050"/>
          </a:xfrm>
          <a:custGeom>
            <a:avLst/>
            <a:gdLst/>
            <a:ahLst/>
            <a:cxnLst/>
            <a:rect l="l" t="t" r="r" b="b"/>
            <a:pathLst>
              <a:path w="5033142" h="406400">
                <a:moveTo>
                  <a:pt x="0" y="0"/>
                </a:moveTo>
                <a:lnTo>
                  <a:pt x="5033142" y="0"/>
                </a:lnTo>
                <a:lnTo>
                  <a:pt x="5033142" y="406400"/>
                </a:lnTo>
                <a:lnTo>
                  <a:pt x="0" y="406400"/>
                </a:lnTo>
                <a:close/>
              </a:path>
            </a:pathLst>
          </a:custGeom>
          <a:solidFill>
            <a:schemeClr val="bg2"/>
          </a:solidFill>
        </p:spPr>
      </p:sp>
      <p:grpSp>
        <p:nvGrpSpPr>
          <p:cNvPr id="5" name="Group 5"/>
          <p:cNvGrpSpPr/>
          <p:nvPr/>
        </p:nvGrpSpPr>
        <p:grpSpPr>
          <a:xfrm>
            <a:off x="1030425" y="3006587"/>
            <a:ext cx="3086100" cy="3086100"/>
            <a:chOff x="0" y="0"/>
            <a:chExt cx="4114800" cy="4114800"/>
          </a:xfrm>
        </p:grpSpPr>
        <p:grpSp>
          <p:nvGrpSpPr>
            <p:cNvPr id="6" name="Group 6"/>
            <p:cNvGrpSpPr/>
            <p:nvPr/>
          </p:nvGrpSpPr>
          <p:grpSpPr>
            <a:xfrm>
              <a:off x="0" y="0"/>
              <a:ext cx="4114800" cy="4114800"/>
              <a:chOff x="0" y="0"/>
              <a:chExt cx="812800" cy="812800"/>
            </a:xfrm>
          </p:grpSpPr>
          <p:sp>
            <p:nvSpPr>
              <p:cNvPr id="7" name="Freeform 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325294" y="325301"/>
              <a:ext cx="3464212" cy="3464198"/>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9288" r="-9288"/>
                </a:stretch>
              </a:blipFill>
            </p:spPr>
          </p:sp>
        </p:grpSp>
      </p:grpSp>
      <p:grpSp>
        <p:nvGrpSpPr>
          <p:cNvPr id="11" name="Group 11"/>
          <p:cNvGrpSpPr/>
          <p:nvPr/>
        </p:nvGrpSpPr>
        <p:grpSpPr>
          <a:xfrm>
            <a:off x="5410200" y="2983507"/>
            <a:ext cx="3086100" cy="3086100"/>
            <a:chOff x="0" y="0"/>
            <a:chExt cx="4114800" cy="4114800"/>
          </a:xfrm>
        </p:grpSpPr>
        <p:grpSp>
          <p:nvGrpSpPr>
            <p:cNvPr id="12" name="Group 12"/>
            <p:cNvGrpSpPr/>
            <p:nvPr/>
          </p:nvGrpSpPr>
          <p:grpSpPr>
            <a:xfrm>
              <a:off x="0" y="0"/>
              <a:ext cx="4114800" cy="4114800"/>
              <a:chOff x="0" y="0"/>
              <a:chExt cx="812800" cy="812800"/>
            </a:xfrm>
          </p:grpSpPr>
          <p:sp>
            <p:nvSpPr>
              <p:cNvPr id="13" name="Freeform 1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5" name="Group 15"/>
            <p:cNvGrpSpPr>
              <a:grpSpLocks noChangeAspect="1"/>
            </p:cNvGrpSpPr>
            <p:nvPr/>
          </p:nvGrpSpPr>
          <p:grpSpPr>
            <a:xfrm>
              <a:off x="325294" y="325301"/>
              <a:ext cx="3464212" cy="3464198"/>
              <a:chOff x="0" y="0"/>
              <a:chExt cx="6350000" cy="6349975"/>
            </a:xfrm>
          </p:grpSpPr>
          <p:sp>
            <p:nvSpPr>
              <p:cNvPr id="16" name="Freeform 16"/>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5813" r="-5813"/>
                </a:stretch>
              </a:blipFill>
            </p:spPr>
          </p:sp>
        </p:grpSp>
      </p:grpSp>
      <p:grpSp>
        <p:nvGrpSpPr>
          <p:cNvPr id="17" name="Group 17"/>
          <p:cNvGrpSpPr/>
          <p:nvPr/>
        </p:nvGrpSpPr>
        <p:grpSpPr>
          <a:xfrm>
            <a:off x="9791700" y="2983507"/>
            <a:ext cx="3086100" cy="3086100"/>
            <a:chOff x="0" y="0"/>
            <a:chExt cx="4114800" cy="4114800"/>
          </a:xfrm>
        </p:grpSpPr>
        <p:grpSp>
          <p:nvGrpSpPr>
            <p:cNvPr id="18" name="Group 18"/>
            <p:cNvGrpSpPr/>
            <p:nvPr/>
          </p:nvGrpSpPr>
          <p:grpSpPr>
            <a:xfrm>
              <a:off x="0" y="0"/>
              <a:ext cx="4114800" cy="4114800"/>
              <a:chOff x="0" y="0"/>
              <a:chExt cx="812800" cy="812800"/>
            </a:xfrm>
          </p:grpSpPr>
          <p:sp>
            <p:nvSpPr>
              <p:cNvPr id="19" name="Freeform 1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1" name="Group 21"/>
            <p:cNvGrpSpPr>
              <a:grpSpLocks noChangeAspect="1"/>
            </p:cNvGrpSpPr>
            <p:nvPr/>
          </p:nvGrpSpPr>
          <p:grpSpPr>
            <a:xfrm>
              <a:off x="325294" y="325301"/>
              <a:ext cx="3464212" cy="3464198"/>
              <a:chOff x="0" y="0"/>
              <a:chExt cx="6350000" cy="6349975"/>
            </a:xfrm>
          </p:grpSpPr>
          <p:sp>
            <p:nvSpPr>
              <p:cNvPr id="22" name="Freeform 2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6284" r="-6284"/>
                </a:stretch>
              </a:blipFill>
            </p:spPr>
          </p:sp>
        </p:grpSp>
      </p:grpSp>
      <p:grpSp>
        <p:nvGrpSpPr>
          <p:cNvPr id="23" name="Group 23"/>
          <p:cNvGrpSpPr/>
          <p:nvPr/>
        </p:nvGrpSpPr>
        <p:grpSpPr>
          <a:xfrm>
            <a:off x="14173200" y="2983507"/>
            <a:ext cx="3086100" cy="3086100"/>
            <a:chOff x="0" y="0"/>
            <a:chExt cx="4114800" cy="4114800"/>
          </a:xfrm>
        </p:grpSpPr>
        <p:grpSp>
          <p:nvGrpSpPr>
            <p:cNvPr id="24" name="Group 24"/>
            <p:cNvGrpSpPr/>
            <p:nvPr/>
          </p:nvGrpSpPr>
          <p:grpSpPr>
            <a:xfrm>
              <a:off x="0" y="0"/>
              <a:ext cx="4114800" cy="4114800"/>
              <a:chOff x="0" y="0"/>
              <a:chExt cx="812800" cy="812800"/>
            </a:xfrm>
          </p:grpSpPr>
          <p:sp>
            <p:nvSpPr>
              <p:cNvPr id="25" name="Freeform 25"/>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26" name="TextBox 2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7" name="Group 27"/>
            <p:cNvGrpSpPr>
              <a:grpSpLocks noChangeAspect="1"/>
            </p:cNvGrpSpPr>
            <p:nvPr/>
          </p:nvGrpSpPr>
          <p:grpSpPr>
            <a:xfrm>
              <a:off x="325294" y="325301"/>
              <a:ext cx="3464212" cy="3464198"/>
              <a:chOff x="0" y="0"/>
              <a:chExt cx="6350000" cy="6349975"/>
            </a:xfrm>
          </p:grpSpPr>
          <p:sp>
            <p:nvSpPr>
              <p:cNvPr id="28" name="Freeform 28"/>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10180" r="-10180"/>
                </a:stretch>
              </a:blipFill>
            </p:spPr>
          </p:sp>
        </p:grpSp>
      </p:grpSp>
      <p:sp>
        <p:nvSpPr>
          <p:cNvPr id="29" name="TextBox 29"/>
          <p:cNvSpPr txBox="1"/>
          <p:nvPr/>
        </p:nvSpPr>
        <p:spPr>
          <a:xfrm>
            <a:off x="4578909" y="1000125"/>
            <a:ext cx="9451870" cy="872034"/>
          </a:xfrm>
          <a:prstGeom prst="rect">
            <a:avLst/>
          </a:prstGeom>
        </p:spPr>
        <p:txBody>
          <a:bodyPr lIns="0" tIns="0" rIns="0" bIns="0" rtlCol="0" anchor="t">
            <a:spAutoFit/>
          </a:bodyPr>
          <a:lstStyle/>
          <a:p>
            <a:pPr algn="ctr">
              <a:lnSpc>
                <a:spcPts val="6839"/>
              </a:lnSpc>
            </a:pPr>
            <a:r>
              <a:rPr lang="en-US" sz="6000">
                <a:solidFill>
                  <a:srgbClr val="F12711"/>
                </a:solidFill>
                <a:latin typeface="#9Slide01 Tieu de ngan" panose="00000800000000000000" pitchFamily="2" charset="-93"/>
              </a:rPr>
              <a:t>Thành viên nhóm</a:t>
            </a:r>
          </a:p>
        </p:txBody>
      </p:sp>
      <p:sp>
        <p:nvSpPr>
          <p:cNvPr id="30" name="TextBox 30"/>
          <p:cNvSpPr txBox="1"/>
          <p:nvPr/>
        </p:nvSpPr>
        <p:spPr>
          <a:xfrm>
            <a:off x="1030425" y="64554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ĐỨC MINH</a:t>
            </a:r>
          </a:p>
        </p:txBody>
      </p:sp>
      <p:sp>
        <p:nvSpPr>
          <p:cNvPr id="31" name="TextBox 31"/>
          <p:cNvSpPr txBox="1"/>
          <p:nvPr/>
        </p:nvSpPr>
        <p:spPr>
          <a:xfrm>
            <a:off x="5410200" y="64554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LÂM HÀ</a:t>
            </a:r>
          </a:p>
        </p:txBody>
      </p:sp>
      <p:sp>
        <p:nvSpPr>
          <p:cNvPr id="32" name="TextBox 32"/>
          <p:cNvSpPr txBox="1"/>
          <p:nvPr/>
        </p:nvSpPr>
        <p:spPr>
          <a:xfrm>
            <a:off x="9791700" y="64554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QUỐC BẢO</a:t>
            </a:r>
          </a:p>
        </p:txBody>
      </p:sp>
      <p:sp>
        <p:nvSpPr>
          <p:cNvPr id="33" name="TextBox 33"/>
          <p:cNvSpPr txBox="1"/>
          <p:nvPr/>
        </p:nvSpPr>
        <p:spPr>
          <a:xfrm>
            <a:off x="14173200" y="64554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MAI WIN</a:t>
            </a:r>
          </a:p>
        </p:txBody>
      </p:sp>
      <p:sp>
        <p:nvSpPr>
          <p:cNvPr id="34" name="TextBox 34"/>
          <p:cNvSpPr txBox="1"/>
          <p:nvPr/>
        </p:nvSpPr>
        <p:spPr>
          <a:xfrm>
            <a:off x="14173200" y="69126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19522550</a:t>
            </a:r>
          </a:p>
        </p:txBody>
      </p:sp>
      <p:sp>
        <p:nvSpPr>
          <p:cNvPr id="35" name="TextBox 35"/>
          <p:cNvSpPr txBox="1"/>
          <p:nvPr/>
        </p:nvSpPr>
        <p:spPr>
          <a:xfrm>
            <a:off x="9791700" y="69126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19521261</a:t>
            </a:r>
          </a:p>
        </p:txBody>
      </p:sp>
      <p:sp>
        <p:nvSpPr>
          <p:cNvPr id="36" name="TextBox 36"/>
          <p:cNvSpPr txBox="1"/>
          <p:nvPr/>
        </p:nvSpPr>
        <p:spPr>
          <a:xfrm>
            <a:off x="5410200" y="69126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21522030</a:t>
            </a:r>
          </a:p>
        </p:txBody>
      </p:sp>
      <p:sp>
        <p:nvSpPr>
          <p:cNvPr id="37" name="TextBox 37"/>
          <p:cNvSpPr txBox="1"/>
          <p:nvPr/>
        </p:nvSpPr>
        <p:spPr>
          <a:xfrm>
            <a:off x="1030425" y="6912680"/>
            <a:ext cx="3086100" cy="494366"/>
          </a:xfrm>
          <a:prstGeom prst="rect">
            <a:avLst/>
          </a:prstGeom>
        </p:spPr>
        <p:txBody>
          <a:bodyPr lIns="0" tIns="0" rIns="0" bIns="0" rtlCol="0" anchor="t">
            <a:spAutoFit/>
          </a:bodyPr>
          <a:lstStyle/>
          <a:p>
            <a:pPr algn="ctr">
              <a:lnSpc>
                <a:spcPts val="4200"/>
              </a:lnSpc>
              <a:spcBef>
                <a:spcPct val="0"/>
              </a:spcBef>
            </a:pPr>
            <a:r>
              <a:rPr lang="en-US" sz="3000">
                <a:latin typeface="#9Slide01 Tieu de ngan" panose="00000800000000000000" pitchFamily="2" charset="-93"/>
              </a:rPr>
              <a:t>21521131</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5">
            <a:extLst>
              <a:ext uri="{FF2B5EF4-FFF2-40B4-BE49-F238E27FC236}">
                <a16:creationId xmlns:a16="http://schemas.microsoft.com/office/drawing/2014/main" id="{C8919539-E3C3-4ED0-B97D-8CA428812983}"/>
              </a:ext>
            </a:extLst>
          </p:cNvPr>
          <p:cNvSpPr/>
          <p:nvPr/>
        </p:nvSpPr>
        <p:spPr>
          <a:xfrm flipV="1">
            <a:off x="256672" y="1383259"/>
            <a:ext cx="5486400" cy="45719"/>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a:ln w="3175">
            <a:solidFill>
              <a:srgbClr val="F9D949"/>
            </a:solidFill>
          </a:ln>
        </p:spPr>
        <p:txBody>
          <a:bodyPr/>
          <a:lstStyle/>
          <a:p>
            <a:endParaRPr lang="en-US"/>
          </a:p>
        </p:txBody>
      </p:sp>
      <p:pic>
        <p:nvPicPr>
          <p:cNvPr id="16" name="Picture 16"/>
          <p:cNvPicPr>
            <a:picLocks noChangeAspect="1"/>
          </p:cNvPicPr>
          <p:nvPr/>
        </p:nvPicPr>
        <p:blipFill>
          <a:blip r:embed="rId2"/>
          <a:srcRect/>
          <a:stretch>
            <a:fillRect/>
          </a:stretch>
        </p:blipFill>
        <p:spPr>
          <a:xfrm>
            <a:off x="4731980" y="1961667"/>
            <a:ext cx="8824041" cy="6337098"/>
          </a:xfrm>
          <a:prstGeom prst="rect">
            <a:avLst/>
          </a:prstGeom>
        </p:spPr>
      </p:pic>
      <p:sp>
        <p:nvSpPr>
          <p:cNvPr id="17" name="TextBox 17"/>
          <p:cNvSpPr txBox="1"/>
          <p:nvPr/>
        </p:nvSpPr>
        <p:spPr>
          <a:xfrm>
            <a:off x="256672" y="247730"/>
            <a:ext cx="7129583" cy="1000274"/>
          </a:xfrm>
          <a:prstGeom prst="rect">
            <a:avLst/>
          </a:prstGeom>
        </p:spPr>
        <p:txBody>
          <a:bodyPr lIns="0" tIns="0" rIns="0" bIns="0" rtlCol="0" anchor="t">
            <a:spAutoFit/>
          </a:bodyPr>
          <a:lstStyle/>
          <a:p>
            <a:pPr>
              <a:lnSpc>
                <a:spcPts val="7813"/>
              </a:lnSpc>
            </a:pPr>
            <a:r>
              <a:rPr lang="en-US" sz="6854">
                <a:solidFill>
                  <a:srgbClr val="F12711"/>
                </a:solidFill>
                <a:latin typeface="#9Slide01 Tieu de ngan" panose="00000800000000000000" pitchFamily="2" charset="-93"/>
                <a:ea typeface="#9Slide02 Noi dung dai" panose="02000000000000000000" pitchFamily="2" charset="0"/>
              </a:rPr>
              <a:t>Agile-Scrum</a:t>
            </a:r>
          </a:p>
        </p:txBody>
      </p:sp>
      <p:sp>
        <p:nvSpPr>
          <p:cNvPr id="18" name="TextBox 18"/>
          <p:cNvSpPr txBox="1"/>
          <p:nvPr/>
        </p:nvSpPr>
        <p:spPr>
          <a:xfrm>
            <a:off x="3655208" y="8479740"/>
            <a:ext cx="10977585" cy="559256"/>
          </a:xfrm>
          <a:prstGeom prst="rect">
            <a:avLst/>
          </a:prstGeom>
        </p:spPr>
        <p:txBody>
          <a:bodyPr lIns="0" tIns="0" rIns="0" bIns="0" rtlCol="0" anchor="t">
            <a:spAutoFit/>
          </a:bodyPr>
          <a:lstStyle/>
          <a:p>
            <a:pPr algn="just">
              <a:lnSpc>
                <a:spcPts val="4681"/>
              </a:lnSpc>
              <a:spcBef>
                <a:spcPct val="0"/>
              </a:spcBef>
            </a:pPr>
            <a:r>
              <a:rPr lang="en-US" sz="3600" spc="40">
                <a:solidFill>
                  <a:srgbClr val="000000"/>
                </a:solidFill>
                <a:latin typeface="#9Slide01 Noi dung ngan" panose="00000600000000000000" pitchFamily="2" charset="-93"/>
                <a:ea typeface="#9Slide02 Noi dung dai" panose="02000000000000000000" pitchFamily="2" charset="0"/>
              </a:rPr>
              <a:t>Tại sao cần dùng phương pháp </a:t>
            </a:r>
            <a:r>
              <a:rPr lang="en-US" sz="3600" spc="40">
                <a:latin typeface="#9Slide01 Noi dung ngan" panose="00000600000000000000" pitchFamily="2" charset="-93"/>
                <a:ea typeface="#9Slide02 Noi dung dai" panose="02000000000000000000" pitchFamily="2" charset="0"/>
              </a:rPr>
              <a:t>Agile</a:t>
            </a:r>
            <a:r>
              <a:rPr lang="en-US" sz="3600" spc="40">
                <a:solidFill>
                  <a:srgbClr val="000000"/>
                </a:solidFill>
                <a:latin typeface="#9Slide01 Noi dung ngan" panose="00000600000000000000" pitchFamily="2" charset="-93"/>
                <a:ea typeface="#9Slide02 Noi dung dai" panose="02000000000000000000" pitchFamily="2" charset="0"/>
              </a:rPr>
              <a:t>/Scrum?</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5"/>
          <p:cNvSpPr/>
          <p:nvPr/>
        </p:nvSpPr>
        <p:spPr>
          <a:xfrm>
            <a:off x="0" y="-26198"/>
            <a:ext cx="18288000" cy="1436078"/>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7" name="TextBox 17"/>
          <p:cNvSpPr txBox="1"/>
          <p:nvPr/>
        </p:nvSpPr>
        <p:spPr>
          <a:xfrm>
            <a:off x="3418142" y="266700"/>
            <a:ext cx="12026171" cy="1211247"/>
          </a:xfrm>
          <a:prstGeom prst="rect">
            <a:avLst/>
          </a:prstGeom>
        </p:spPr>
        <p:txBody>
          <a:bodyPr lIns="0" tIns="0" rIns="0" bIns="0" rtlCol="0" anchor="t">
            <a:spAutoFit/>
          </a:bodyPr>
          <a:lstStyle/>
          <a:p>
            <a:pPr algn="ctr">
              <a:lnSpc>
                <a:spcPts val="8785"/>
              </a:lnSpc>
            </a:pPr>
            <a:r>
              <a:rPr lang="en-US" sz="7706" u="sng">
                <a:solidFill>
                  <a:srgbClr val="F12711"/>
                </a:solidFill>
                <a:latin typeface="Poppins Bold Italics"/>
              </a:rPr>
              <a:t>Menu</a:t>
            </a:r>
          </a:p>
        </p:txBody>
      </p:sp>
      <p:grpSp>
        <p:nvGrpSpPr>
          <p:cNvPr id="2" name="Group 2"/>
          <p:cNvGrpSpPr/>
          <p:nvPr/>
        </p:nvGrpSpPr>
        <p:grpSpPr>
          <a:xfrm>
            <a:off x="1106521" y="3968743"/>
            <a:ext cx="1946675" cy="1946675"/>
            <a:chOff x="0" y="0"/>
            <a:chExt cx="812800" cy="812800"/>
          </a:xfrm>
        </p:grpSpPr>
        <p:sp>
          <p:nvSpPr>
            <p:cNvPr id="3" name="Freeform 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62708" y="4223896"/>
            <a:ext cx="1434300" cy="1434300"/>
          </a:xfrm>
          <a:prstGeom prst="rect">
            <a:avLst/>
          </a:prstGeom>
        </p:spPr>
      </p:pic>
      <p:sp>
        <p:nvSpPr>
          <p:cNvPr id="18" name="TextBox 18"/>
          <p:cNvSpPr txBox="1"/>
          <p:nvPr/>
        </p:nvSpPr>
        <p:spPr>
          <a:xfrm>
            <a:off x="-304800" y="6227716"/>
            <a:ext cx="4769316" cy="567143"/>
          </a:xfrm>
          <a:prstGeom prst="rect">
            <a:avLst/>
          </a:prstGeom>
        </p:spPr>
        <p:txBody>
          <a:bodyPr lIns="0" tIns="0" rIns="0" bIns="0" rtlCol="0" anchor="t">
            <a:spAutoFit/>
          </a:bodyPr>
          <a:lstStyle/>
          <a:p>
            <a:pPr algn="ctr">
              <a:lnSpc>
                <a:spcPts val="4800"/>
              </a:lnSpc>
            </a:pPr>
            <a:r>
              <a:rPr lang="en-US" sz="3500">
                <a:latin typeface="#9Slide01 Tieu de ngan" panose="00000800000000000000" pitchFamily="2" charset="-93"/>
              </a:rPr>
              <a:t>Agile/Waterfall</a:t>
            </a:r>
          </a:p>
        </p:txBody>
      </p:sp>
      <p:grpSp>
        <p:nvGrpSpPr>
          <p:cNvPr id="25" name="Group 24">
            <a:extLst>
              <a:ext uri="{FF2B5EF4-FFF2-40B4-BE49-F238E27FC236}">
                <a16:creationId xmlns:a16="http://schemas.microsoft.com/office/drawing/2014/main" id="{88B51689-B8D7-435A-A8E3-D8DB85D63CE8}"/>
              </a:ext>
            </a:extLst>
          </p:cNvPr>
          <p:cNvGrpSpPr/>
          <p:nvPr/>
        </p:nvGrpSpPr>
        <p:grpSpPr>
          <a:xfrm>
            <a:off x="7860113" y="3876464"/>
            <a:ext cx="1946675" cy="1946675"/>
            <a:chOff x="7707280" y="3506360"/>
            <a:chExt cx="1946675" cy="1946675"/>
          </a:xfrm>
        </p:grpSpPr>
        <p:grpSp>
          <p:nvGrpSpPr>
            <p:cNvPr id="5" name="Group 5"/>
            <p:cNvGrpSpPr/>
            <p:nvPr/>
          </p:nvGrpSpPr>
          <p:grpSpPr>
            <a:xfrm>
              <a:off x="7707280" y="3506360"/>
              <a:ext cx="1946675" cy="1946675"/>
              <a:chOff x="0" y="0"/>
              <a:chExt cx="812800" cy="812800"/>
            </a:xfrm>
          </p:grpSpPr>
          <p:sp>
            <p:nvSpPr>
              <p:cNvPr id="6" name="Freeform 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7930007" y="3755316"/>
              <a:ext cx="1501221" cy="1501221"/>
            </a:xfrm>
            <a:prstGeom prst="rect">
              <a:avLst/>
            </a:prstGeom>
          </p:spPr>
        </p:pic>
      </p:grpSp>
      <p:sp>
        <p:nvSpPr>
          <p:cNvPr id="20" name="TextBox 20"/>
          <p:cNvSpPr txBox="1"/>
          <p:nvPr/>
        </p:nvSpPr>
        <p:spPr>
          <a:xfrm>
            <a:off x="5855901" y="6253364"/>
            <a:ext cx="5955099" cy="547907"/>
          </a:xfrm>
          <a:prstGeom prst="rect">
            <a:avLst/>
          </a:prstGeom>
        </p:spPr>
        <p:txBody>
          <a:bodyPr wrap="square" lIns="0" tIns="0" rIns="0" bIns="0" rtlCol="0" anchor="t">
            <a:spAutoFit/>
          </a:bodyPr>
          <a:lstStyle/>
          <a:p>
            <a:pPr algn="ctr">
              <a:lnSpc>
                <a:spcPts val="4589"/>
              </a:lnSpc>
            </a:pPr>
            <a:r>
              <a:rPr lang="en-US" sz="3500">
                <a:latin typeface="#9Slide01 Tieu de ngan" panose="00000800000000000000" pitchFamily="2" charset="-93"/>
              </a:rPr>
              <a:t>Tổng quan về Agile</a:t>
            </a:r>
          </a:p>
        </p:txBody>
      </p:sp>
      <p:grpSp>
        <p:nvGrpSpPr>
          <p:cNvPr id="26" name="Group 25">
            <a:extLst>
              <a:ext uri="{FF2B5EF4-FFF2-40B4-BE49-F238E27FC236}">
                <a16:creationId xmlns:a16="http://schemas.microsoft.com/office/drawing/2014/main" id="{575E86B6-615E-477A-9FC9-E0B751CBF602}"/>
              </a:ext>
            </a:extLst>
          </p:cNvPr>
          <p:cNvGrpSpPr/>
          <p:nvPr/>
        </p:nvGrpSpPr>
        <p:grpSpPr>
          <a:xfrm>
            <a:off x="14315925" y="3946285"/>
            <a:ext cx="1946675" cy="1946675"/>
            <a:chOff x="13921155" y="3635217"/>
            <a:chExt cx="1946675" cy="1946675"/>
          </a:xfrm>
        </p:grpSpPr>
        <p:grpSp>
          <p:nvGrpSpPr>
            <p:cNvPr id="8" name="Group 8"/>
            <p:cNvGrpSpPr/>
            <p:nvPr/>
          </p:nvGrpSpPr>
          <p:grpSpPr>
            <a:xfrm>
              <a:off x="13921155" y="3635217"/>
              <a:ext cx="1946675" cy="1946675"/>
              <a:chOff x="0" y="0"/>
              <a:chExt cx="812800" cy="812800"/>
            </a:xfrm>
          </p:grpSpPr>
          <p:sp>
            <p:nvSpPr>
              <p:cNvPr id="9" name="Freeform 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4128280" y="3857944"/>
              <a:ext cx="1501221" cy="1501221"/>
            </a:xfrm>
            <a:prstGeom prst="rect">
              <a:avLst/>
            </a:prstGeom>
          </p:spPr>
        </p:pic>
      </p:grpSp>
      <p:sp>
        <p:nvSpPr>
          <p:cNvPr id="22" name="TextBox 22"/>
          <p:cNvSpPr txBox="1"/>
          <p:nvPr/>
        </p:nvSpPr>
        <p:spPr>
          <a:xfrm>
            <a:off x="12503602" y="6231674"/>
            <a:ext cx="5571321" cy="547907"/>
          </a:xfrm>
          <a:prstGeom prst="rect">
            <a:avLst/>
          </a:prstGeom>
        </p:spPr>
        <p:txBody>
          <a:bodyPr lIns="0" tIns="0" rIns="0" bIns="0" rtlCol="0" anchor="t">
            <a:spAutoFit/>
          </a:bodyPr>
          <a:lstStyle/>
          <a:p>
            <a:pPr algn="ctr">
              <a:lnSpc>
                <a:spcPts val="4573"/>
              </a:lnSpc>
            </a:pPr>
            <a:r>
              <a:rPr lang="en-US" sz="3500">
                <a:latin typeface="#9Slide01 Tieu de ngan" panose="00000800000000000000" pitchFamily="2" charset="-93"/>
              </a:rPr>
              <a:t>Tổng quan về Scrum</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15">
            <a:extLst>
              <a:ext uri="{FF2B5EF4-FFF2-40B4-BE49-F238E27FC236}">
                <a16:creationId xmlns:a16="http://schemas.microsoft.com/office/drawing/2014/main" id="{ABEA9EB7-ECA5-4485-8AF6-E7BF9F9F8276}"/>
              </a:ext>
            </a:extLst>
          </p:cNvPr>
          <p:cNvSpPr/>
          <p:nvPr/>
        </p:nvSpPr>
        <p:spPr>
          <a:xfrm>
            <a:off x="0" y="-26198"/>
            <a:ext cx="18288000" cy="1436078"/>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pic>
        <p:nvPicPr>
          <p:cNvPr id="14" name="Picture 14"/>
          <p:cNvPicPr>
            <a:picLocks noChangeAspect="1"/>
          </p:cNvPicPr>
          <p:nvPr/>
        </p:nvPicPr>
        <p:blipFill>
          <a:blip r:embed="rId2"/>
          <a:srcRect/>
          <a:stretch>
            <a:fillRect/>
          </a:stretch>
        </p:blipFill>
        <p:spPr>
          <a:xfrm>
            <a:off x="1098072" y="6432027"/>
            <a:ext cx="5500484" cy="3428119"/>
          </a:xfrm>
          <a:prstGeom prst="rect">
            <a:avLst/>
          </a:prstGeom>
          <a:solidFill>
            <a:schemeClr val="bg1"/>
          </a:solidFill>
        </p:spPr>
      </p:pic>
      <p:sp>
        <p:nvSpPr>
          <p:cNvPr id="16" name="TextBox 16"/>
          <p:cNvSpPr txBox="1"/>
          <p:nvPr/>
        </p:nvSpPr>
        <p:spPr>
          <a:xfrm>
            <a:off x="4306098" y="418351"/>
            <a:ext cx="9675803" cy="897682"/>
          </a:xfrm>
          <a:prstGeom prst="rect">
            <a:avLst/>
          </a:prstGeom>
        </p:spPr>
        <p:txBody>
          <a:bodyPr lIns="0" tIns="0" rIns="0" bIns="0" rtlCol="0" anchor="t">
            <a:spAutoFit/>
          </a:bodyPr>
          <a:lstStyle/>
          <a:p>
            <a:pPr algn="ctr">
              <a:lnSpc>
                <a:spcPts val="7003"/>
              </a:lnSpc>
            </a:pPr>
            <a:r>
              <a:rPr lang="en-US" sz="6143">
                <a:solidFill>
                  <a:schemeClr val="tx2"/>
                </a:solidFill>
                <a:latin typeface="Poppins Bold"/>
              </a:rPr>
              <a:t>Agile/WaterFall</a:t>
            </a:r>
          </a:p>
        </p:txBody>
      </p:sp>
      <p:sp>
        <p:nvSpPr>
          <p:cNvPr id="17" name="TextBox 17"/>
          <p:cNvSpPr txBox="1"/>
          <p:nvPr/>
        </p:nvSpPr>
        <p:spPr>
          <a:xfrm>
            <a:off x="1905000" y="1786621"/>
            <a:ext cx="3246442" cy="666849"/>
          </a:xfrm>
          <a:prstGeom prst="rect">
            <a:avLst/>
          </a:prstGeom>
        </p:spPr>
        <p:txBody>
          <a:bodyPr lIns="0" tIns="0" rIns="0" bIns="0" rtlCol="0" anchor="t">
            <a:spAutoFit/>
          </a:bodyPr>
          <a:lstStyle/>
          <a:p>
            <a:pPr algn="ctr">
              <a:lnSpc>
                <a:spcPts val="5223"/>
              </a:lnSpc>
            </a:pPr>
            <a:r>
              <a:rPr lang="en-US" sz="4800">
                <a:solidFill>
                  <a:schemeClr val="tx2"/>
                </a:solidFill>
                <a:latin typeface="#9Slide01 Tieu de ngan" panose="00000800000000000000" pitchFamily="2" charset="-93"/>
              </a:rPr>
              <a:t>WaterFall</a:t>
            </a:r>
          </a:p>
        </p:txBody>
      </p:sp>
      <p:sp>
        <p:nvSpPr>
          <p:cNvPr id="18" name="TextBox 18"/>
          <p:cNvSpPr txBox="1"/>
          <p:nvPr/>
        </p:nvSpPr>
        <p:spPr>
          <a:xfrm>
            <a:off x="12118314" y="1786621"/>
            <a:ext cx="3246442" cy="666849"/>
          </a:xfrm>
          <a:prstGeom prst="rect">
            <a:avLst/>
          </a:prstGeom>
        </p:spPr>
        <p:txBody>
          <a:bodyPr lIns="0" tIns="0" rIns="0" bIns="0" rtlCol="0" anchor="t">
            <a:spAutoFit/>
          </a:bodyPr>
          <a:lstStyle/>
          <a:p>
            <a:pPr algn="ctr">
              <a:lnSpc>
                <a:spcPts val="5223"/>
              </a:lnSpc>
            </a:pPr>
            <a:r>
              <a:rPr lang="en-US" sz="4800">
                <a:solidFill>
                  <a:schemeClr val="tx2"/>
                </a:solidFill>
                <a:latin typeface="#9Slide01 Tieu de ngan" panose="00000800000000000000" pitchFamily="2" charset="-93"/>
              </a:rPr>
              <a:t>Agile</a:t>
            </a:r>
          </a:p>
        </p:txBody>
      </p:sp>
      <p:sp>
        <p:nvSpPr>
          <p:cNvPr id="19" name="TextBox 19"/>
          <p:cNvSpPr txBox="1"/>
          <p:nvPr/>
        </p:nvSpPr>
        <p:spPr>
          <a:xfrm>
            <a:off x="8977553" y="2809340"/>
            <a:ext cx="9462847" cy="4086760"/>
          </a:xfrm>
          <a:prstGeom prst="rect">
            <a:avLst/>
          </a:prstGeom>
          <a:noFill/>
        </p:spPr>
        <p:txBody>
          <a:bodyPr wrap="none">
            <a:spAutoFit/>
          </a:bodyPr>
          <a:lstStyle>
            <a:defPPr>
              <a:defRPr lang="en-US"/>
            </a:defPPr>
            <a:lvl1pPr>
              <a:lnSpc>
                <a:spcPct val="120000"/>
              </a:lnSpc>
              <a:spcBef>
                <a:spcPts val="0"/>
              </a:spcBef>
              <a:spcAft>
                <a:spcPts val="0"/>
              </a:spcAft>
              <a:defRPr sz="2400" b="0" i="0" u="none" strike="noStrike">
                <a:solidFill>
                  <a:srgbClr val="434343"/>
                </a:solidFill>
                <a:effectLst/>
                <a:latin typeface="#9Slide02 Noi dung dai" panose="02000000000000000000" pitchFamily="2" charset="0"/>
                <a:ea typeface="#9Slide02 Noi dung dai" panose="02000000000000000000" pitchFamily="2" charset="0"/>
              </a:defRPr>
            </a:lvl1pPr>
          </a:lstStyle>
          <a:p>
            <a:pPr marL="457200" indent="-457200">
              <a:lnSpc>
                <a:spcPct val="170000"/>
              </a:lnSpc>
              <a:buFont typeface="Wingdings" panose="05000000000000000000" pitchFamily="2" charset="2"/>
              <a:buChar char="§"/>
            </a:pPr>
            <a:r>
              <a:rPr lang="vi-VN" sz="2600"/>
              <a:t>Quy trình phát triển phần mềm linh hoạt</a:t>
            </a:r>
            <a:endParaRPr lang="en-US" sz="2600"/>
          </a:p>
          <a:p>
            <a:pPr marL="457200" indent="-457200">
              <a:lnSpc>
                <a:spcPct val="170000"/>
              </a:lnSpc>
              <a:buFont typeface="Wingdings" panose="05000000000000000000" pitchFamily="2" charset="2"/>
              <a:buChar char="§"/>
            </a:pPr>
            <a:r>
              <a:rPr lang="en-US" sz="2600"/>
              <a:t> </a:t>
            </a:r>
            <a:r>
              <a:rPr lang="vi-VN" sz="2600"/>
              <a:t>Điểm nổi bật:  tư tưởng linh hoạt, dựa trên nguyên tắc phân </a:t>
            </a:r>
            <a:endParaRPr lang="en-US" sz="2600"/>
          </a:p>
          <a:p>
            <a:pPr>
              <a:lnSpc>
                <a:spcPct val="170000"/>
              </a:lnSpc>
            </a:pPr>
            <a:r>
              <a:rPr lang="en-US" sz="2600"/>
              <a:t>	</a:t>
            </a:r>
            <a:r>
              <a:rPr lang="vi-VN" sz="2600"/>
              <a:t>đoạn vòng lặp (iterative) và tăng trưởng (incremental)</a:t>
            </a:r>
          </a:p>
          <a:p>
            <a:pPr marL="457200" indent="-457200">
              <a:lnSpc>
                <a:spcPct val="170000"/>
              </a:lnSpc>
              <a:buFont typeface="Wingdings" panose="05000000000000000000" pitchFamily="2" charset="2"/>
              <a:buChar char="§"/>
            </a:pPr>
            <a:r>
              <a:rPr lang="vi-VN" sz="2600"/>
              <a:t>Có thể áp dụng với dự án lớn với những yêu cầu phức tạp, </a:t>
            </a:r>
            <a:endParaRPr lang="en-US" sz="2600"/>
          </a:p>
          <a:p>
            <a:pPr>
              <a:lnSpc>
                <a:spcPct val="170000"/>
              </a:lnSpc>
            </a:pPr>
            <a:r>
              <a:rPr lang="en-US" sz="2600"/>
              <a:t>      	 </a:t>
            </a:r>
            <a:r>
              <a:rPr lang="vi-VN" sz="2600"/>
              <a:t>có nhiều biến số </a:t>
            </a:r>
            <a:br>
              <a:rPr lang="vi-VN" sz="2600"/>
            </a:br>
            <a:endParaRPr lang="en-US" sz="2600"/>
          </a:p>
        </p:txBody>
      </p:sp>
      <p:sp>
        <p:nvSpPr>
          <p:cNvPr id="22" name="TextBox 21">
            <a:extLst>
              <a:ext uri="{FF2B5EF4-FFF2-40B4-BE49-F238E27FC236}">
                <a16:creationId xmlns:a16="http://schemas.microsoft.com/office/drawing/2014/main" id="{C6621876-D775-4B63-9D8F-F94F0B46935B}"/>
              </a:ext>
            </a:extLst>
          </p:cNvPr>
          <p:cNvSpPr txBox="1"/>
          <p:nvPr/>
        </p:nvSpPr>
        <p:spPr>
          <a:xfrm>
            <a:off x="381000" y="3409505"/>
            <a:ext cx="7843814" cy="2726387"/>
          </a:xfrm>
          <a:prstGeom prst="rect">
            <a:avLst/>
          </a:prstGeom>
          <a:noFill/>
        </p:spPr>
        <p:txBody>
          <a:bodyPr wrap="none">
            <a:spAutoFit/>
          </a:bodyPr>
          <a:lstStyle/>
          <a:p>
            <a:pPr marL="457200" indent="-457200" rtl="0">
              <a:lnSpc>
                <a:spcPct val="170000"/>
              </a:lnSpc>
              <a:spcBef>
                <a:spcPts val="0"/>
              </a:spcBef>
              <a:spcAft>
                <a:spcPts val="0"/>
              </a:spcAft>
              <a:buFont typeface="Wingdings" panose="05000000000000000000" pitchFamily="2" charset="2"/>
              <a:buChar char="§"/>
            </a:pPr>
            <a:r>
              <a:rPr lang="vi-VN" sz="2600" b="0" i="0" u="none" strike="noStrike">
                <a:solidFill>
                  <a:srgbClr val="434343"/>
                </a:solidFill>
                <a:effectLst/>
                <a:latin typeface="#9Slide02 Noi dung dai" panose="02000000000000000000" pitchFamily="2" charset="0"/>
                <a:ea typeface="#9Slide02 Noi dung dai" panose="02000000000000000000" pitchFamily="2" charset="0"/>
              </a:rPr>
              <a:t>Quy trình phát triển trực quan</a:t>
            </a:r>
            <a:endParaRPr lang="vi-VN" sz="2600" b="0">
              <a:solidFill>
                <a:srgbClr val="434343"/>
              </a:solidFill>
              <a:effectLst/>
              <a:latin typeface="#9Slide02 Noi dung dai" panose="02000000000000000000" pitchFamily="2" charset="0"/>
              <a:ea typeface="#9Slide02 Noi dung dai" panose="02000000000000000000" pitchFamily="2" charset="0"/>
            </a:endParaRPr>
          </a:p>
          <a:p>
            <a:pPr marL="457200" indent="-457200" rtl="0">
              <a:lnSpc>
                <a:spcPct val="170000"/>
              </a:lnSpc>
              <a:spcBef>
                <a:spcPts val="0"/>
              </a:spcBef>
              <a:spcAft>
                <a:spcPts val="0"/>
              </a:spcAft>
              <a:buFont typeface="Wingdings" panose="05000000000000000000" pitchFamily="2" charset="2"/>
              <a:buChar char="§"/>
            </a:pPr>
            <a:r>
              <a:rPr lang="vi-VN" sz="2600" b="0" i="0" u="none" strike="noStrike">
                <a:solidFill>
                  <a:srgbClr val="434343"/>
                </a:solidFill>
                <a:effectLst/>
                <a:latin typeface="#9Slide02 Noi dung dai" panose="02000000000000000000" pitchFamily="2" charset="0"/>
                <a:ea typeface="#9Slide02 Noi dung dai" panose="02000000000000000000" pitchFamily="2" charset="0"/>
              </a:rPr>
              <a:t>Là hệ thống quản lý phát triển phần mềm cổ điển</a:t>
            </a:r>
            <a:endParaRPr lang="vi-VN" sz="2600" b="0">
              <a:solidFill>
                <a:srgbClr val="434343"/>
              </a:solidFill>
              <a:effectLst/>
              <a:latin typeface="#9Slide02 Noi dung dai" panose="02000000000000000000" pitchFamily="2" charset="0"/>
              <a:ea typeface="#9Slide02 Noi dung dai" panose="02000000000000000000" pitchFamily="2" charset="0"/>
            </a:endParaRPr>
          </a:p>
          <a:p>
            <a:pPr marL="457200" indent="-457200" rtl="0">
              <a:lnSpc>
                <a:spcPct val="170000"/>
              </a:lnSpc>
              <a:spcBef>
                <a:spcPts val="0"/>
              </a:spcBef>
              <a:spcAft>
                <a:spcPts val="0"/>
              </a:spcAft>
              <a:buFont typeface="Wingdings" panose="05000000000000000000" pitchFamily="2" charset="2"/>
              <a:buChar char="§"/>
            </a:pPr>
            <a:r>
              <a:rPr lang="vi-VN" sz="2600" b="0" i="0" u="none" strike="noStrike">
                <a:solidFill>
                  <a:srgbClr val="434343"/>
                </a:solidFill>
                <a:effectLst/>
                <a:latin typeface="#9Slide02 Noi dung dai" panose="02000000000000000000" pitchFamily="2" charset="0"/>
                <a:ea typeface="#9Slide02 Noi dung dai" panose="02000000000000000000" pitchFamily="2" charset="0"/>
              </a:rPr>
              <a:t>Phù hợp với các dự án có kích thước vừa và nhỏ</a:t>
            </a:r>
            <a:br>
              <a:rPr lang="vi-VN" sz="2600">
                <a:solidFill>
                  <a:srgbClr val="434343"/>
                </a:solidFill>
                <a:latin typeface="#9Slide02 Noi dung dai" panose="02000000000000000000" pitchFamily="2" charset="0"/>
                <a:ea typeface="#9Slide02 Noi dung dai" panose="02000000000000000000" pitchFamily="2" charset="0"/>
              </a:rPr>
            </a:br>
            <a:endParaRPr lang="en-US" sz="2600">
              <a:solidFill>
                <a:srgbClr val="434343"/>
              </a:solidFill>
              <a:latin typeface="#9Slide02 Noi dung dai" panose="02000000000000000000" pitchFamily="2" charset="0"/>
              <a:ea typeface="#9Slide02 Noi dung dai" panose="02000000000000000000" pitchFamily="2" charset="0"/>
            </a:endParaRPr>
          </a:p>
        </p:txBody>
      </p:sp>
      <p:pic>
        <p:nvPicPr>
          <p:cNvPr id="24" name="Picture 2" descr="Agile: Hướng dẫn áp dụng phương pháp Agile%">
            <a:extLst>
              <a:ext uri="{FF2B5EF4-FFF2-40B4-BE49-F238E27FC236}">
                <a16:creationId xmlns:a16="http://schemas.microsoft.com/office/drawing/2014/main" id="{4D94E9FB-D4A8-4593-9B06-88B5DCFC5A7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421667" y="6320103"/>
            <a:ext cx="4639736" cy="3651966"/>
          </a:xfrm>
          <a:prstGeom prst="rect">
            <a:avLst/>
          </a:prstGeom>
          <a:solidFill>
            <a:srgbClr val="FFFFFF"/>
          </a:solidFill>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15">
            <a:extLst>
              <a:ext uri="{FF2B5EF4-FFF2-40B4-BE49-F238E27FC236}">
                <a16:creationId xmlns:a16="http://schemas.microsoft.com/office/drawing/2014/main" id="{EDDDBB02-B6C0-4AFC-A890-4F3A2376091D}"/>
              </a:ext>
            </a:extLst>
          </p:cNvPr>
          <p:cNvSpPr/>
          <p:nvPr/>
        </p:nvSpPr>
        <p:spPr>
          <a:xfrm>
            <a:off x="0" y="-26198"/>
            <a:ext cx="18288000" cy="1129123"/>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38" name="TextBox 38"/>
          <p:cNvSpPr txBox="1"/>
          <p:nvPr/>
        </p:nvSpPr>
        <p:spPr>
          <a:xfrm>
            <a:off x="4091423" y="114300"/>
            <a:ext cx="10105154" cy="948978"/>
          </a:xfrm>
          <a:prstGeom prst="rect">
            <a:avLst/>
          </a:prstGeom>
        </p:spPr>
        <p:txBody>
          <a:bodyPr lIns="0" tIns="0" rIns="0" bIns="0" rtlCol="0" anchor="t">
            <a:spAutoFit/>
          </a:bodyPr>
          <a:lstStyle/>
          <a:p>
            <a:pPr algn="ctr">
              <a:lnSpc>
                <a:spcPts val="7383"/>
              </a:lnSpc>
            </a:pPr>
            <a:r>
              <a:rPr lang="en-US" sz="6476">
                <a:solidFill>
                  <a:srgbClr val="F12711"/>
                </a:solidFill>
                <a:latin typeface="#9Slide01 Tieu de ngan" panose="00000800000000000000" pitchFamily="2" charset="-93"/>
              </a:rPr>
              <a:t>Tuyên ngôn Agile</a:t>
            </a:r>
          </a:p>
        </p:txBody>
      </p:sp>
      <p:grpSp>
        <p:nvGrpSpPr>
          <p:cNvPr id="2" name="Group 1">
            <a:extLst>
              <a:ext uri="{FF2B5EF4-FFF2-40B4-BE49-F238E27FC236}">
                <a16:creationId xmlns:a16="http://schemas.microsoft.com/office/drawing/2014/main" id="{C41AA9CE-DDE1-49A3-853C-8AB5D7C06F75}"/>
              </a:ext>
            </a:extLst>
          </p:cNvPr>
          <p:cNvGrpSpPr/>
          <p:nvPr/>
        </p:nvGrpSpPr>
        <p:grpSpPr>
          <a:xfrm>
            <a:off x="127085" y="1474787"/>
            <a:ext cx="8064778" cy="1813256"/>
            <a:chOff x="127085" y="1474787"/>
            <a:chExt cx="8064778" cy="1813256"/>
          </a:xfrm>
        </p:grpSpPr>
        <p:sp>
          <p:nvSpPr>
            <p:cNvPr id="3" name="Freeform 3"/>
            <p:cNvSpPr/>
            <p:nvPr/>
          </p:nvSpPr>
          <p:spPr>
            <a:xfrm>
              <a:off x="1245915" y="1773220"/>
              <a:ext cx="6945948" cy="1294075"/>
            </a:xfrm>
            <a:prstGeom prst="rect">
              <a:avLst/>
            </a:prstGeom>
            <a:solidFill>
              <a:srgbClr val="F12711"/>
            </a:solidFill>
          </p:spPr>
          <p:txBody>
            <a:bodyPr/>
            <a:lstStyle/>
            <a:p>
              <a:endParaRPr lang="en-US"/>
            </a:p>
          </p:txBody>
        </p:sp>
        <p:pic>
          <p:nvPicPr>
            <p:cNvPr id="34" name="Picture 34"/>
            <p:cNvPicPr>
              <a:picLocks noChangeAspect="1"/>
            </p:cNvPicPr>
            <p:nvPr/>
          </p:nvPicPr>
          <p:blipFill>
            <a:blip r:embed="rId2"/>
            <a:srcRect/>
            <a:stretch>
              <a:fillRect/>
            </a:stretch>
          </p:blipFill>
          <p:spPr>
            <a:xfrm>
              <a:off x="127085" y="1474787"/>
              <a:ext cx="2090886" cy="1813256"/>
            </a:xfrm>
            <a:prstGeom prst="rect">
              <a:avLst/>
            </a:prstGeom>
          </p:spPr>
        </p:pic>
        <p:sp>
          <p:nvSpPr>
            <p:cNvPr id="39" name="TextBox 39"/>
            <p:cNvSpPr txBox="1"/>
            <p:nvPr/>
          </p:nvSpPr>
          <p:spPr>
            <a:xfrm>
              <a:off x="2437596" y="1958222"/>
              <a:ext cx="5373266" cy="846386"/>
            </a:xfrm>
            <a:prstGeom prst="rect">
              <a:avLst/>
            </a:prstGeom>
          </p:spPr>
          <p:txBody>
            <a:bodyPr wrap="square" lIns="0" tIns="0" rIns="0" bIns="0" rtlCol="0" anchor="t">
              <a:spAutoFit/>
            </a:bodyPr>
            <a:lstStyle/>
            <a:p>
              <a:pPr algn="ctr">
                <a:lnSpc>
                  <a:spcPts val="3420"/>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 Cá nhân và sự tương tác quan trọng</a:t>
              </a:r>
            </a:p>
            <a:p>
              <a:pPr algn="ctr">
                <a:lnSpc>
                  <a:spcPts val="3420"/>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 hơn quy trình và công cụ</a:t>
              </a:r>
            </a:p>
          </p:txBody>
        </p:sp>
      </p:grpSp>
      <p:grpSp>
        <p:nvGrpSpPr>
          <p:cNvPr id="5" name="Group 4">
            <a:extLst>
              <a:ext uri="{FF2B5EF4-FFF2-40B4-BE49-F238E27FC236}">
                <a16:creationId xmlns:a16="http://schemas.microsoft.com/office/drawing/2014/main" id="{C537EC05-B561-41FB-AEAB-05BD86EFE267}"/>
              </a:ext>
            </a:extLst>
          </p:cNvPr>
          <p:cNvGrpSpPr/>
          <p:nvPr/>
        </p:nvGrpSpPr>
        <p:grpSpPr>
          <a:xfrm>
            <a:off x="270695" y="5470338"/>
            <a:ext cx="7353206" cy="1489778"/>
            <a:chOff x="270695" y="5470338"/>
            <a:chExt cx="7353206" cy="1489778"/>
          </a:xfrm>
        </p:grpSpPr>
        <p:sp>
          <p:nvSpPr>
            <p:cNvPr id="10" name="Freeform 10"/>
            <p:cNvSpPr/>
            <p:nvPr/>
          </p:nvSpPr>
          <p:spPr>
            <a:xfrm>
              <a:off x="1117935" y="5610308"/>
              <a:ext cx="6505966" cy="1349808"/>
            </a:xfrm>
            <a:prstGeom prst="rect">
              <a:avLst/>
            </a:prstGeom>
            <a:solidFill>
              <a:srgbClr val="F12711"/>
            </a:solidFill>
          </p:spPr>
          <p:txBody>
            <a:bodyPr/>
            <a:lstStyle/>
            <a:p>
              <a:endParaRPr lang="en-US"/>
            </a:p>
          </p:txBody>
        </p:sp>
        <p:pic>
          <p:nvPicPr>
            <p:cNvPr id="35" name="Picture 35"/>
            <p:cNvPicPr>
              <a:picLocks noChangeAspect="1"/>
            </p:cNvPicPr>
            <p:nvPr/>
          </p:nvPicPr>
          <p:blipFill>
            <a:blip r:embed="rId3"/>
            <a:srcRect/>
            <a:stretch>
              <a:fillRect/>
            </a:stretch>
          </p:blipFill>
          <p:spPr>
            <a:xfrm>
              <a:off x="270695" y="5470338"/>
              <a:ext cx="2317432" cy="1489778"/>
            </a:xfrm>
            <a:prstGeom prst="rect">
              <a:avLst/>
            </a:prstGeom>
          </p:spPr>
        </p:pic>
        <p:sp>
          <p:nvSpPr>
            <p:cNvPr id="40" name="TextBox 40"/>
            <p:cNvSpPr txBox="1"/>
            <p:nvPr/>
          </p:nvSpPr>
          <p:spPr>
            <a:xfrm>
              <a:off x="2730153" y="5810826"/>
              <a:ext cx="3975447" cy="846386"/>
            </a:xfrm>
            <a:prstGeom prst="rect">
              <a:avLst/>
            </a:prstGeom>
          </p:spPr>
          <p:txBody>
            <a:bodyPr wrap="none" lIns="0" tIns="0" rIns="0" bIns="0" rtlCol="0" anchor="t">
              <a:spAutoFit/>
            </a:bodyPr>
            <a:lstStyle/>
            <a:p>
              <a:pPr algn="ctr">
                <a:lnSpc>
                  <a:spcPts val="3409"/>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Phần mềm chạy tốt hơn là </a:t>
              </a:r>
            </a:p>
            <a:p>
              <a:pPr algn="ctr">
                <a:lnSpc>
                  <a:spcPts val="3409"/>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tài liệu đầy đủ</a:t>
              </a:r>
            </a:p>
          </p:txBody>
        </p:sp>
      </p:grpSp>
      <p:grpSp>
        <p:nvGrpSpPr>
          <p:cNvPr id="4" name="Group 3">
            <a:extLst>
              <a:ext uri="{FF2B5EF4-FFF2-40B4-BE49-F238E27FC236}">
                <a16:creationId xmlns:a16="http://schemas.microsoft.com/office/drawing/2014/main" id="{48F959A5-7BA3-4CCE-AB9E-EBB02C9BDECC}"/>
              </a:ext>
            </a:extLst>
          </p:cNvPr>
          <p:cNvGrpSpPr/>
          <p:nvPr/>
        </p:nvGrpSpPr>
        <p:grpSpPr>
          <a:xfrm>
            <a:off x="11099701" y="2907074"/>
            <a:ext cx="7188299" cy="1698918"/>
            <a:chOff x="11099701" y="2907074"/>
            <a:chExt cx="7188299" cy="1698918"/>
          </a:xfrm>
        </p:grpSpPr>
        <p:sp>
          <p:nvSpPr>
            <p:cNvPr id="17" name="Freeform 17"/>
            <p:cNvSpPr/>
            <p:nvPr/>
          </p:nvSpPr>
          <p:spPr>
            <a:xfrm>
              <a:off x="11592859" y="3121935"/>
              <a:ext cx="6695141" cy="1389056"/>
            </a:xfrm>
            <a:prstGeom prst="rect">
              <a:avLst/>
            </a:prstGeom>
            <a:solidFill>
              <a:srgbClr val="F12711"/>
            </a:solidFill>
          </p:spPr>
          <p:txBody>
            <a:bodyPr/>
            <a:lstStyle/>
            <a:p>
              <a:endParaRPr lang="en-US"/>
            </a:p>
          </p:txBody>
        </p:sp>
        <p:pic>
          <p:nvPicPr>
            <p:cNvPr id="36" name="Picture 36"/>
            <p:cNvPicPr>
              <a:picLocks noChangeAspect="1"/>
            </p:cNvPicPr>
            <p:nvPr/>
          </p:nvPicPr>
          <p:blipFill>
            <a:blip r:embed="rId4"/>
            <a:srcRect l="20918" t="6536" r="25353"/>
            <a:stretch>
              <a:fillRect/>
            </a:stretch>
          </p:blipFill>
          <p:spPr>
            <a:xfrm>
              <a:off x="11099701" y="2907074"/>
              <a:ext cx="1679116" cy="1698918"/>
            </a:xfrm>
            <a:prstGeom prst="rect">
              <a:avLst/>
            </a:prstGeom>
          </p:spPr>
        </p:pic>
        <p:sp>
          <p:nvSpPr>
            <p:cNvPr id="41" name="TextBox 41"/>
            <p:cNvSpPr txBox="1"/>
            <p:nvPr/>
          </p:nvSpPr>
          <p:spPr>
            <a:xfrm>
              <a:off x="12930819" y="3352630"/>
              <a:ext cx="4760920" cy="868828"/>
            </a:xfrm>
            <a:prstGeom prst="rect">
              <a:avLst/>
            </a:prstGeom>
          </p:spPr>
          <p:txBody>
            <a:bodyPr wrap="none" lIns="0" tIns="0" rIns="0" bIns="0" rtlCol="0" anchor="t">
              <a:spAutoFit/>
            </a:bodyPr>
            <a:lstStyle/>
            <a:p>
              <a:pPr algn="ctr">
                <a:lnSpc>
                  <a:spcPts val="3508"/>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Cộng tác với khách hàng hơn là </a:t>
              </a:r>
            </a:p>
            <a:p>
              <a:pPr algn="ctr">
                <a:lnSpc>
                  <a:spcPts val="3508"/>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đàm phán hợp đồng</a:t>
              </a:r>
            </a:p>
          </p:txBody>
        </p:sp>
      </p:grpSp>
      <p:grpSp>
        <p:nvGrpSpPr>
          <p:cNvPr id="6" name="Group 5">
            <a:extLst>
              <a:ext uri="{FF2B5EF4-FFF2-40B4-BE49-F238E27FC236}">
                <a16:creationId xmlns:a16="http://schemas.microsoft.com/office/drawing/2014/main" id="{F82395C9-8A12-4D06-88CD-6FD748229CA4}"/>
              </a:ext>
            </a:extLst>
          </p:cNvPr>
          <p:cNvGrpSpPr/>
          <p:nvPr/>
        </p:nvGrpSpPr>
        <p:grpSpPr>
          <a:xfrm>
            <a:off x="9517705" y="8328778"/>
            <a:ext cx="8724559" cy="1379567"/>
            <a:chOff x="9517705" y="8328778"/>
            <a:chExt cx="8724559" cy="1379567"/>
          </a:xfrm>
        </p:grpSpPr>
        <p:sp>
          <p:nvSpPr>
            <p:cNvPr id="24" name="Freeform 24"/>
            <p:cNvSpPr/>
            <p:nvPr/>
          </p:nvSpPr>
          <p:spPr>
            <a:xfrm>
              <a:off x="11592859" y="8328778"/>
              <a:ext cx="6649405" cy="1379567"/>
            </a:xfrm>
            <a:prstGeom prst="rect">
              <a:avLst/>
            </a:prstGeom>
            <a:solidFill>
              <a:srgbClr val="F12711"/>
            </a:solidFill>
          </p:spPr>
          <p:txBody>
            <a:bodyPr/>
            <a:lstStyle/>
            <a:p>
              <a:endParaRPr lang="en-US"/>
            </a:p>
          </p:txBody>
        </p:sp>
        <p:pic>
          <p:nvPicPr>
            <p:cNvPr id="37" name="Picture 37"/>
            <p:cNvPicPr>
              <a:picLocks noChangeAspect="1"/>
            </p:cNvPicPr>
            <p:nvPr/>
          </p:nvPicPr>
          <p:blipFill>
            <a:blip r:embed="rId5"/>
            <a:srcRect/>
            <a:stretch>
              <a:fillRect/>
            </a:stretch>
          </p:blipFill>
          <p:spPr>
            <a:xfrm>
              <a:off x="9517705" y="8431327"/>
              <a:ext cx="2075154" cy="1277018"/>
            </a:xfrm>
            <a:prstGeom prst="rect">
              <a:avLst/>
            </a:prstGeom>
          </p:spPr>
        </p:pic>
        <p:sp>
          <p:nvSpPr>
            <p:cNvPr id="42" name="TextBox 42"/>
            <p:cNvSpPr txBox="1"/>
            <p:nvPr/>
          </p:nvSpPr>
          <p:spPr>
            <a:xfrm>
              <a:off x="13153407" y="8524400"/>
              <a:ext cx="4603824" cy="913712"/>
            </a:xfrm>
            <a:prstGeom prst="rect">
              <a:avLst/>
            </a:prstGeom>
          </p:spPr>
          <p:txBody>
            <a:bodyPr wrap="none" lIns="0" tIns="0" rIns="0" bIns="0" rtlCol="0" anchor="t">
              <a:spAutoFit/>
            </a:bodyPr>
            <a:lstStyle/>
            <a:p>
              <a:pPr algn="ctr">
                <a:lnSpc>
                  <a:spcPts val="3741"/>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Phản hồi với sự thay đổi hơn là</a:t>
              </a:r>
            </a:p>
            <a:p>
              <a:pPr algn="ctr">
                <a:lnSpc>
                  <a:spcPts val="3741"/>
                </a:lnSpc>
                <a:spcBef>
                  <a:spcPct val="0"/>
                </a:spcBef>
              </a:pPr>
              <a:r>
                <a:rPr lang="en-US" sz="2600">
                  <a:solidFill>
                    <a:schemeClr val="bg1"/>
                  </a:solidFill>
                  <a:latin typeface="#9Slide02 Tieu de dai" panose="02000000000000000000" pitchFamily="2" charset="0"/>
                  <a:ea typeface="#9Slide02 Tieu de dai" panose="02000000000000000000" pitchFamily="2" charset="0"/>
                </a:rPr>
                <a:t> bám theo kế hoạch</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5">
            <a:extLst>
              <a:ext uri="{FF2B5EF4-FFF2-40B4-BE49-F238E27FC236}">
                <a16:creationId xmlns:a16="http://schemas.microsoft.com/office/drawing/2014/main" id="{16A30C1A-3266-4B41-8711-0524FACF8584}"/>
              </a:ext>
            </a:extLst>
          </p:cNvPr>
          <p:cNvSpPr/>
          <p:nvPr/>
        </p:nvSpPr>
        <p:spPr>
          <a:xfrm>
            <a:off x="15923926" y="2268028"/>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9" name="Freeform 15">
            <a:extLst>
              <a:ext uri="{FF2B5EF4-FFF2-40B4-BE49-F238E27FC236}">
                <a16:creationId xmlns:a16="http://schemas.microsoft.com/office/drawing/2014/main" id="{F09B9BFE-C52A-4289-BC6C-33F87C0B9E9E}"/>
              </a:ext>
            </a:extLst>
          </p:cNvPr>
          <p:cNvSpPr/>
          <p:nvPr/>
        </p:nvSpPr>
        <p:spPr>
          <a:xfrm>
            <a:off x="302926" y="2268028"/>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sp>
        <p:nvSpPr>
          <p:cNvPr id="17" name="TextBox 16">
            <a:extLst>
              <a:ext uri="{FF2B5EF4-FFF2-40B4-BE49-F238E27FC236}">
                <a16:creationId xmlns:a16="http://schemas.microsoft.com/office/drawing/2014/main" id="{5D70A7A0-C928-4A2A-90A6-525FB783564C}"/>
              </a:ext>
            </a:extLst>
          </p:cNvPr>
          <p:cNvSpPr txBox="1"/>
          <p:nvPr/>
        </p:nvSpPr>
        <p:spPr>
          <a:xfrm>
            <a:off x="381000" y="4127711"/>
            <a:ext cx="7086600" cy="2188291"/>
          </a:xfrm>
          <a:prstGeom prst="rect">
            <a:avLst/>
          </a:prstGeom>
          <a:noFill/>
        </p:spPr>
        <p:txBody>
          <a:bodyPr wrap="square">
            <a:spAutoFit/>
          </a:bodyPr>
          <a:lstStyle/>
          <a:p>
            <a:pPr>
              <a:lnSpc>
                <a:spcPct val="130000"/>
              </a:lnSpc>
            </a:pPr>
            <a:r>
              <a:rPr lang="en-US" sz="3600" spc="40">
                <a:latin typeface="#9Slide02 Tieu de dai" panose="02000000000000000000" pitchFamily="2" charset="0"/>
                <a:ea typeface="#9Slide02 Tieu de dai" panose="02000000000000000000" pitchFamily="2" charset="0"/>
              </a:rPr>
              <a:t>Đáp ứng toàn diện nhu cầu khách hàng thông qua việc giao hàng sớm và sản phẩm có giá trị</a:t>
            </a:r>
          </a:p>
        </p:txBody>
      </p:sp>
      <p:sp>
        <p:nvSpPr>
          <p:cNvPr id="19" name="TextBox 18">
            <a:extLst>
              <a:ext uri="{FF2B5EF4-FFF2-40B4-BE49-F238E27FC236}">
                <a16:creationId xmlns:a16="http://schemas.microsoft.com/office/drawing/2014/main" id="{03038527-574D-454D-AB15-5F5678078618}"/>
              </a:ext>
            </a:extLst>
          </p:cNvPr>
          <p:cNvSpPr txBox="1"/>
          <p:nvPr/>
        </p:nvSpPr>
        <p:spPr>
          <a:xfrm>
            <a:off x="381000" y="1943100"/>
            <a:ext cx="1204497" cy="2605265"/>
          </a:xfrm>
          <a:prstGeom prst="rect">
            <a:avLst/>
          </a:prstGeom>
          <a:noFill/>
        </p:spPr>
        <p:txBody>
          <a:bodyPr wrap="none">
            <a:spAutoFit/>
          </a:bodyPr>
          <a:lstStyle/>
          <a:p>
            <a:pP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1</a:t>
            </a:r>
          </a:p>
        </p:txBody>
      </p:sp>
      <p:sp>
        <p:nvSpPr>
          <p:cNvPr id="20" name="TextBox 19">
            <a:extLst>
              <a:ext uri="{FF2B5EF4-FFF2-40B4-BE49-F238E27FC236}">
                <a16:creationId xmlns:a16="http://schemas.microsoft.com/office/drawing/2014/main" id="{40A92EC7-AF7C-45DD-8657-F49CC8464C9E}"/>
              </a:ext>
            </a:extLst>
          </p:cNvPr>
          <p:cNvSpPr txBox="1"/>
          <p:nvPr/>
        </p:nvSpPr>
        <p:spPr>
          <a:xfrm>
            <a:off x="10287000" y="4102493"/>
            <a:ext cx="7086600" cy="2188291"/>
          </a:xfrm>
          <a:prstGeom prst="rect">
            <a:avLst/>
          </a:prstGeom>
          <a:noFill/>
        </p:spPr>
        <p:txBody>
          <a:bodyPr wrap="square">
            <a:spAutoFit/>
          </a:bodyPr>
          <a:lstStyle>
            <a:defPPr>
              <a:defRPr lang="en-US"/>
            </a:defPPr>
            <a:lvl1pPr>
              <a:lnSpc>
                <a:spcPct val="130000"/>
              </a:lnSpc>
              <a:defRPr sz="3200" spc="40">
                <a:latin typeface="#9Slide02 Tieu de dai" panose="02000000000000000000" pitchFamily="2" charset="0"/>
                <a:ea typeface="#9Slide02 Tieu de dai" panose="02000000000000000000" pitchFamily="2" charset="0"/>
              </a:defRPr>
            </a:lvl1pPr>
          </a:lstStyle>
          <a:p>
            <a:pPr algn="r"/>
            <a:r>
              <a:rPr lang="en-US" sz="3600"/>
              <a:t>Thay đổi yêu cầu được chào đón, thậm chí là rất muộn trong quá trình phát triển</a:t>
            </a:r>
          </a:p>
        </p:txBody>
      </p:sp>
      <p:sp>
        <p:nvSpPr>
          <p:cNvPr id="21" name="TextBox 20">
            <a:extLst>
              <a:ext uri="{FF2B5EF4-FFF2-40B4-BE49-F238E27FC236}">
                <a16:creationId xmlns:a16="http://schemas.microsoft.com/office/drawing/2014/main" id="{1A4521C0-A4B2-4D5D-AEFA-7AB22E9BDCCD}"/>
              </a:ext>
            </a:extLst>
          </p:cNvPr>
          <p:cNvSpPr txBox="1"/>
          <p:nvPr/>
        </p:nvSpPr>
        <p:spPr>
          <a:xfrm>
            <a:off x="16169103" y="1943100"/>
            <a:ext cx="1204497" cy="2605265"/>
          </a:xfrm>
          <a:prstGeom prst="rect">
            <a:avLst/>
          </a:prstGeom>
          <a:noFill/>
        </p:spPr>
        <p:txBody>
          <a:bodyPr wrap="none">
            <a:spAutoFit/>
          </a:bodyPr>
          <a:lstStyle/>
          <a:p>
            <a:pPr algn="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2</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5">
            <a:extLst>
              <a:ext uri="{FF2B5EF4-FFF2-40B4-BE49-F238E27FC236}">
                <a16:creationId xmlns:a16="http://schemas.microsoft.com/office/drawing/2014/main" id="{82B32417-F02F-41DC-BE5B-B421E66BAFD1}"/>
              </a:ext>
            </a:extLst>
          </p:cNvPr>
          <p:cNvSpPr/>
          <p:nvPr/>
        </p:nvSpPr>
        <p:spPr>
          <a:xfrm>
            <a:off x="381002" y="2552700"/>
            <a:ext cx="1449674" cy="1670735"/>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9" name="Freeform 15">
            <a:extLst>
              <a:ext uri="{FF2B5EF4-FFF2-40B4-BE49-F238E27FC236}">
                <a16:creationId xmlns:a16="http://schemas.microsoft.com/office/drawing/2014/main" id="{7EF094AE-DA61-478B-A44C-6453803831E1}"/>
              </a:ext>
            </a:extLst>
          </p:cNvPr>
          <p:cNvSpPr/>
          <p:nvPr/>
        </p:nvSpPr>
        <p:spPr>
          <a:xfrm>
            <a:off x="16457326" y="2400300"/>
            <a:ext cx="1449674" cy="1823135"/>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sp>
        <p:nvSpPr>
          <p:cNvPr id="17" name="TextBox 16">
            <a:extLst>
              <a:ext uri="{FF2B5EF4-FFF2-40B4-BE49-F238E27FC236}">
                <a16:creationId xmlns:a16="http://schemas.microsoft.com/office/drawing/2014/main" id="{5D70A7A0-C928-4A2A-90A6-525FB783564C}"/>
              </a:ext>
            </a:extLst>
          </p:cNvPr>
          <p:cNvSpPr txBox="1"/>
          <p:nvPr/>
        </p:nvSpPr>
        <p:spPr>
          <a:xfrm>
            <a:off x="381000" y="4127711"/>
            <a:ext cx="7086600" cy="2188291"/>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pPr algn="l"/>
            <a:r>
              <a:rPr lang="en-US"/>
              <a:t>Giao phần mềm chạy được cho khách hàng một cách thường xuyên</a:t>
            </a:r>
          </a:p>
        </p:txBody>
      </p:sp>
      <p:sp>
        <p:nvSpPr>
          <p:cNvPr id="19" name="TextBox 18">
            <a:extLst>
              <a:ext uri="{FF2B5EF4-FFF2-40B4-BE49-F238E27FC236}">
                <a16:creationId xmlns:a16="http://schemas.microsoft.com/office/drawing/2014/main" id="{03038527-574D-454D-AB15-5F5678078618}"/>
              </a:ext>
            </a:extLst>
          </p:cNvPr>
          <p:cNvSpPr txBox="1"/>
          <p:nvPr/>
        </p:nvSpPr>
        <p:spPr>
          <a:xfrm>
            <a:off x="381000" y="1943100"/>
            <a:ext cx="1204497" cy="2605265"/>
          </a:xfrm>
          <a:prstGeom prst="rect">
            <a:avLst/>
          </a:prstGeom>
          <a:noFill/>
        </p:spPr>
        <p:txBody>
          <a:bodyPr wrap="none">
            <a:spAutoFit/>
          </a:bodyPr>
          <a:lstStyle/>
          <a:p>
            <a:pP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3</a:t>
            </a:r>
          </a:p>
        </p:txBody>
      </p:sp>
      <p:sp>
        <p:nvSpPr>
          <p:cNvPr id="21" name="TextBox 20">
            <a:extLst>
              <a:ext uri="{FF2B5EF4-FFF2-40B4-BE49-F238E27FC236}">
                <a16:creationId xmlns:a16="http://schemas.microsoft.com/office/drawing/2014/main" id="{1A4521C0-A4B2-4D5D-AEFA-7AB22E9BDCCD}"/>
              </a:ext>
            </a:extLst>
          </p:cNvPr>
          <p:cNvSpPr txBox="1"/>
          <p:nvPr/>
        </p:nvSpPr>
        <p:spPr>
          <a:xfrm>
            <a:off x="16702505" y="1943100"/>
            <a:ext cx="1204497" cy="2605265"/>
          </a:xfrm>
          <a:prstGeom prst="rect">
            <a:avLst/>
          </a:prstGeom>
          <a:noFill/>
        </p:spPr>
        <p:txBody>
          <a:bodyPr wrap="none">
            <a:spAutoFit/>
          </a:bodyPr>
          <a:lstStyle/>
          <a:p>
            <a:pPr algn="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4</a:t>
            </a:r>
          </a:p>
        </p:txBody>
      </p:sp>
      <p:sp>
        <p:nvSpPr>
          <p:cNvPr id="13" name="TextBox 12">
            <a:extLst>
              <a:ext uri="{FF2B5EF4-FFF2-40B4-BE49-F238E27FC236}">
                <a16:creationId xmlns:a16="http://schemas.microsoft.com/office/drawing/2014/main" id="{1CF467CD-7CB0-4B47-AE26-67D5B909FC11}"/>
              </a:ext>
            </a:extLst>
          </p:cNvPr>
          <p:cNvSpPr txBox="1"/>
          <p:nvPr/>
        </p:nvSpPr>
        <p:spPr>
          <a:xfrm>
            <a:off x="10820402" y="4127711"/>
            <a:ext cx="7086600" cy="2188291"/>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r>
              <a:rPr lang="en-US"/>
              <a:t>Nhà kinh doanh và các kỹ sư phần mềm cần làm việc cùng nhau trong suốt dự án</a:t>
            </a:r>
          </a:p>
        </p:txBody>
      </p:sp>
    </p:spTree>
    <p:extLst>
      <p:ext uri="{BB962C8B-B14F-4D97-AF65-F5344CB8AC3E}">
        <p14:creationId xmlns:p14="http://schemas.microsoft.com/office/powerpoint/2010/main" val="401492366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5">
            <a:extLst>
              <a:ext uri="{FF2B5EF4-FFF2-40B4-BE49-F238E27FC236}">
                <a16:creationId xmlns:a16="http://schemas.microsoft.com/office/drawing/2014/main" id="{4CD1AE9F-FCEB-4048-B852-2ADE6CA73FAE}"/>
              </a:ext>
            </a:extLst>
          </p:cNvPr>
          <p:cNvSpPr/>
          <p:nvPr/>
        </p:nvSpPr>
        <p:spPr>
          <a:xfrm>
            <a:off x="16426846" y="2268028"/>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9" name="Freeform 15">
            <a:extLst>
              <a:ext uri="{FF2B5EF4-FFF2-40B4-BE49-F238E27FC236}">
                <a16:creationId xmlns:a16="http://schemas.microsoft.com/office/drawing/2014/main" id="{3D90D699-86F1-4D2C-A2E4-4140BE51235E}"/>
              </a:ext>
            </a:extLst>
          </p:cNvPr>
          <p:cNvSpPr/>
          <p:nvPr/>
        </p:nvSpPr>
        <p:spPr>
          <a:xfrm>
            <a:off x="380998" y="2268028"/>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sp>
        <p:nvSpPr>
          <p:cNvPr id="17" name="TextBox 16">
            <a:extLst>
              <a:ext uri="{FF2B5EF4-FFF2-40B4-BE49-F238E27FC236}">
                <a16:creationId xmlns:a16="http://schemas.microsoft.com/office/drawing/2014/main" id="{5D70A7A0-C928-4A2A-90A6-525FB783564C}"/>
              </a:ext>
            </a:extLst>
          </p:cNvPr>
          <p:cNvSpPr txBox="1"/>
          <p:nvPr/>
        </p:nvSpPr>
        <p:spPr>
          <a:xfrm>
            <a:off x="381000" y="4127711"/>
            <a:ext cx="7086600" cy="3628686"/>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pPr algn="l"/>
            <a:r>
              <a:rPr lang="en-US"/>
              <a:t>Xây dựng dự án xung quanh các cá nhân có động lực. Cung cấp sự hỗ trợ cần thiết, môi trường làm việc và niềm tin để hoàn thành công việc</a:t>
            </a:r>
          </a:p>
        </p:txBody>
      </p:sp>
      <p:sp>
        <p:nvSpPr>
          <p:cNvPr id="19" name="TextBox 18">
            <a:extLst>
              <a:ext uri="{FF2B5EF4-FFF2-40B4-BE49-F238E27FC236}">
                <a16:creationId xmlns:a16="http://schemas.microsoft.com/office/drawing/2014/main" id="{03038527-574D-454D-AB15-5F5678078618}"/>
              </a:ext>
            </a:extLst>
          </p:cNvPr>
          <p:cNvSpPr txBox="1"/>
          <p:nvPr/>
        </p:nvSpPr>
        <p:spPr>
          <a:xfrm>
            <a:off x="381000" y="1943100"/>
            <a:ext cx="1204497" cy="2605265"/>
          </a:xfrm>
          <a:prstGeom prst="rect">
            <a:avLst/>
          </a:prstGeom>
          <a:noFill/>
        </p:spPr>
        <p:txBody>
          <a:bodyPr wrap="none">
            <a:spAutoFit/>
          </a:bodyPr>
          <a:lstStyle/>
          <a:p>
            <a:pP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5</a:t>
            </a:r>
          </a:p>
        </p:txBody>
      </p:sp>
      <p:sp>
        <p:nvSpPr>
          <p:cNvPr id="21" name="TextBox 20">
            <a:extLst>
              <a:ext uri="{FF2B5EF4-FFF2-40B4-BE49-F238E27FC236}">
                <a16:creationId xmlns:a16="http://schemas.microsoft.com/office/drawing/2014/main" id="{1A4521C0-A4B2-4D5D-AEFA-7AB22E9BDCCD}"/>
              </a:ext>
            </a:extLst>
          </p:cNvPr>
          <p:cNvSpPr txBox="1"/>
          <p:nvPr/>
        </p:nvSpPr>
        <p:spPr>
          <a:xfrm>
            <a:off x="16702505" y="1943100"/>
            <a:ext cx="1204497" cy="2605265"/>
          </a:xfrm>
          <a:prstGeom prst="rect">
            <a:avLst/>
          </a:prstGeom>
          <a:noFill/>
        </p:spPr>
        <p:txBody>
          <a:bodyPr wrap="none">
            <a:spAutoFit/>
          </a:bodyPr>
          <a:lstStyle/>
          <a:p>
            <a:pPr algn="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6</a:t>
            </a:r>
          </a:p>
        </p:txBody>
      </p:sp>
      <p:sp>
        <p:nvSpPr>
          <p:cNvPr id="13" name="TextBox 12">
            <a:extLst>
              <a:ext uri="{FF2B5EF4-FFF2-40B4-BE49-F238E27FC236}">
                <a16:creationId xmlns:a16="http://schemas.microsoft.com/office/drawing/2014/main" id="{1CF467CD-7CB0-4B47-AE26-67D5B909FC11}"/>
              </a:ext>
            </a:extLst>
          </p:cNvPr>
          <p:cNvSpPr txBox="1"/>
          <p:nvPr/>
        </p:nvSpPr>
        <p:spPr>
          <a:xfrm>
            <a:off x="10820402" y="4127711"/>
            <a:ext cx="7086600" cy="1468094"/>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r>
              <a:rPr lang="en-US"/>
              <a:t>Trao đổi trưc tiếp là cách truyền đạt thông tin hiệu quả nhất</a:t>
            </a:r>
          </a:p>
        </p:txBody>
      </p:sp>
    </p:spTree>
    <p:extLst>
      <p:ext uri="{BB962C8B-B14F-4D97-AF65-F5344CB8AC3E}">
        <p14:creationId xmlns:p14="http://schemas.microsoft.com/office/powerpoint/2010/main" val="405184989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5">
            <a:extLst>
              <a:ext uri="{FF2B5EF4-FFF2-40B4-BE49-F238E27FC236}">
                <a16:creationId xmlns:a16="http://schemas.microsoft.com/office/drawing/2014/main" id="{6CCAF775-C863-4640-B32C-A978A4B99A8C}"/>
              </a:ext>
            </a:extLst>
          </p:cNvPr>
          <p:cNvSpPr/>
          <p:nvPr/>
        </p:nvSpPr>
        <p:spPr>
          <a:xfrm>
            <a:off x="381002" y="2271151"/>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9" name="Freeform 15">
            <a:extLst>
              <a:ext uri="{FF2B5EF4-FFF2-40B4-BE49-F238E27FC236}">
                <a16:creationId xmlns:a16="http://schemas.microsoft.com/office/drawing/2014/main" id="{B09AD2DF-81CC-4493-B183-4133A1D3A24F}"/>
              </a:ext>
            </a:extLst>
          </p:cNvPr>
          <p:cNvSpPr/>
          <p:nvPr/>
        </p:nvSpPr>
        <p:spPr>
          <a:xfrm>
            <a:off x="16457326" y="2268028"/>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sp>
        <p:nvSpPr>
          <p:cNvPr id="17" name="TextBox 16">
            <a:extLst>
              <a:ext uri="{FF2B5EF4-FFF2-40B4-BE49-F238E27FC236}">
                <a16:creationId xmlns:a16="http://schemas.microsoft.com/office/drawing/2014/main" id="{5D70A7A0-C928-4A2A-90A6-525FB783564C}"/>
              </a:ext>
            </a:extLst>
          </p:cNvPr>
          <p:cNvSpPr txBox="1"/>
          <p:nvPr/>
        </p:nvSpPr>
        <p:spPr>
          <a:xfrm>
            <a:off x="381000" y="4127711"/>
            <a:ext cx="7086600" cy="1468094"/>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pPr algn="l"/>
            <a:r>
              <a:rPr lang="en-US"/>
              <a:t>Thước đo chính của tiến độ là phần mềm chạy tốt</a:t>
            </a:r>
          </a:p>
        </p:txBody>
      </p:sp>
      <p:sp>
        <p:nvSpPr>
          <p:cNvPr id="19" name="TextBox 18">
            <a:extLst>
              <a:ext uri="{FF2B5EF4-FFF2-40B4-BE49-F238E27FC236}">
                <a16:creationId xmlns:a16="http://schemas.microsoft.com/office/drawing/2014/main" id="{03038527-574D-454D-AB15-5F5678078618}"/>
              </a:ext>
            </a:extLst>
          </p:cNvPr>
          <p:cNvSpPr txBox="1"/>
          <p:nvPr/>
        </p:nvSpPr>
        <p:spPr>
          <a:xfrm>
            <a:off x="381000" y="1943100"/>
            <a:ext cx="1204497" cy="2605265"/>
          </a:xfrm>
          <a:prstGeom prst="rect">
            <a:avLst/>
          </a:prstGeom>
          <a:noFill/>
        </p:spPr>
        <p:txBody>
          <a:bodyPr wrap="none">
            <a:spAutoFit/>
          </a:bodyPr>
          <a:lstStyle/>
          <a:p>
            <a:pP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7</a:t>
            </a:r>
          </a:p>
        </p:txBody>
      </p:sp>
      <p:sp>
        <p:nvSpPr>
          <p:cNvPr id="21" name="TextBox 20">
            <a:extLst>
              <a:ext uri="{FF2B5EF4-FFF2-40B4-BE49-F238E27FC236}">
                <a16:creationId xmlns:a16="http://schemas.microsoft.com/office/drawing/2014/main" id="{1A4521C0-A4B2-4D5D-AEFA-7AB22E9BDCCD}"/>
              </a:ext>
            </a:extLst>
          </p:cNvPr>
          <p:cNvSpPr txBox="1"/>
          <p:nvPr/>
        </p:nvSpPr>
        <p:spPr>
          <a:xfrm>
            <a:off x="16702505" y="1943100"/>
            <a:ext cx="1204497" cy="2605265"/>
          </a:xfrm>
          <a:prstGeom prst="rect">
            <a:avLst/>
          </a:prstGeom>
          <a:noFill/>
        </p:spPr>
        <p:txBody>
          <a:bodyPr wrap="none">
            <a:spAutoFit/>
          </a:bodyPr>
          <a:lstStyle/>
          <a:p>
            <a:pPr algn="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8</a:t>
            </a:r>
          </a:p>
        </p:txBody>
      </p:sp>
      <p:sp>
        <p:nvSpPr>
          <p:cNvPr id="13" name="TextBox 12">
            <a:extLst>
              <a:ext uri="{FF2B5EF4-FFF2-40B4-BE49-F238E27FC236}">
                <a16:creationId xmlns:a16="http://schemas.microsoft.com/office/drawing/2014/main" id="{1CF467CD-7CB0-4B47-AE26-67D5B909FC11}"/>
              </a:ext>
            </a:extLst>
          </p:cNvPr>
          <p:cNvSpPr txBox="1"/>
          <p:nvPr/>
        </p:nvSpPr>
        <p:spPr>
          <a:xfrm>
            <a:off x="10820402" y="4127711"/>
            <a:ext cx="7086600" cy="747897"/>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r>
              <a:rPr lang="en-US"/>
              <a:t>Phát triển liên tục và bền vững</a:t>
            </a:r>
          </a:p>
        </p:txBody>
      </p:sp>
    </p:spTree>
    <p:extLst>
      <p:ext uri="{BB962C8B-B14F-4D97-AF65-F5344CB8AC3E}">
        <p14:creationId xmlns:p14="http://schemas.microsoft.com/office/powerpoint/2010/main" val="7201105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5">
            <a:extLst>
              <a:ext uri="{FF2B5EF4-FFF2-40B4-BE49-F238E27FC236}">
                <a16:creationId xmlns:a16="http://schemas.microsoft.com/office/drawing/2014/main" id="{F1F2C8A7-8C82-4B28-85CB-C9BAB038ADC0}"/>
              </a:ext>
            </a:extLst>
          </p:cNvPr>
          <p:cNvSpPr/>
          <p:nvPr/>
        </p:nvSpPr>
        <p:spPr>
          <a:xfrm>
            <a:off x="15682675" y="2268028"/>
            <a:ext cx="220674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21" name="TextBox 20">
            <a:extLst>
              <a:ext uri="{FF2B5EF4-FFF2-40B4-BE49-F238E27FC236}">
                <a16:creationId xmlns:a16="http://schemas.microsoft.com/office/drawing/2014/main" id="{1A4521C0-A4B2-4D5D-AEFA-7AB22E9BDCCD}"/>
              </a:ext>
            </a:extLst>
          </p:cNvPr>
          <p:cNvSpPr txBox="1"/>
          <p:nvPr/>
        </p:nvSpPr>
        <p:spPr>
          <a:xfrm>
            <a:off x="15682674" y="1943100"/>
            <a:ext cx="2224328" cy="2605265"/>
          </a:xfrm>
          <a:prstGeom prst="rect">
            <a:avLst/>
          </a:prstGeom>
          <a:noFill/>
        </p:spPr>
        <p:txBody>
          <a:bodyPr wrap="none">
            <a:spAutoFit/>
          </a:bodyPr>
          <a:lstStyle/>
          <a:p>
            <a:pPr algn="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10</a:t>
            </a:r>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grpSp>
        <p:nvGrpSpPr>
          <p:cNvPr id="2" name="Group 1">
            <a:extLst>
              <a:ext uri="{FF2B5EF4-FFF2-40B4-BE49-F238E27FC236}">
                <a16:creationId xmlns:a16="http://schemas.microsoft.com/office/drawing/2014/main" id="{57F494EA-312C-4C69-9009-195D0BABE569}"/>
              </a:ext>
            </a:extLst>
          </p:cNvPr>
          <p:cNvGrpSpPr/>
          <p:nvPr/>
        </p:nvGrpSpPr>
        <p:grpSpPr>
          <a:xfrm>
            <a:off x="363413" y="1943100"/>
            <a:ext cx="7104187" cy="4372902"/>
            <a:chOff x="363413" y="1943100"/>
            <a:chExt cx="7104187" cy="4372902"/>
          </a:xfrm>
        </p:grpSpPr>
        <p:sp>
          <p:nvSpPr>
            <p:cNvPr id="10" name="Freeform 15">
              <a:extLst>
                <a:ext uri="{FF2B5EF4-FFF2-40B4-BE49-F238E27FC236}">
                  <a16:creationId xmlns:a16="http://schemas.microsoft.com/office/drawing/2014/main" id="{F595D9BA-D6AA-4F13-92A2-79EF570DEEC3}"/>
                </a:ext>
              </a:extLst>
            </p:cNvPr>
            <p:cNvSpPr/>
            <p:nvPr/>
          </p:nvSpPr>
          <p:spPr>
            <a:xfrm>
              <a:off x="363413" y="2172304"/>
              <a:ext cx="144967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7" name="TextBox 16">
              <a:extLst>
                <a:ext uri="{FF2B5EF4-FFF2-40B4-BE49-F238E27FC236}">
                  <a16:creationId xmlns:a16="http://schemas.microsoft.com/office/drawing/2014/main" id="{5D70A7A0-C928-4A2A-90A6-525FB783564C}"/>
                </a:ext>
              </a:extLst>
            </p:cNvPr>
            <p:cNvSpPr txBox="1"/>
            <p:nvPr/>
          </p:nvSpPr>
          <p:spPr>
            <a:xfrm>
              <a:off x="381000" y="4127711"/>
              <a:ext cx="7086600" cy="2188291"/>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pPr algn="l"/>
              <a:r>
                <a:rPr lang="en-US"/>
                <a:t> Cải tiến sự kinh hoạt bằng cách quan tâm đến kỹ thuật và thiết kế</a:t>
              </a:r>
            </a:p>
          </p:txBody>
        </p:sp>
        <p:sp>
          <p:nvSpPr>
            <p:cNvPr id="19" name="TextBox 18">
              <a:extLst>
                <a:ext uri="{FF2B5EF4-FFF2-40B4-BE49-F238E27FC236}">
                  <a16:creationId xmlns:a16="http://schemas.microsoft.com/office/drawing/2014/main" id="{03038527-574D-454D-AB15-5F5678078618}"/>
                </a:ext>
              </a:extLst>
            </p:cNvPr>
            <p:cNvSpPr txBox="1"/>
            <p:nvPr/>
          </p:nvSpPr>
          <p:spPr>
            <a:xfrm>
              <a:off x="381000" y="1943100"/>
              <a:ext cx="1204497" cy="2605265"/>
            </a:xfrm>
            <a:prstGeom prst="rect">
              <a:avLst/>
            </a:prstGeom>
            <a:noFill/>
          </p:spPr>
          <p:txBody>
            <a:bodyPr wrap="none">
              <a:spAutoFit/>
            </a:bodyPr>
            <a:lstStyle/>
            <a:p>
              <a:pPr>
                <a:lnSpc>
                  <a:spcPct val="130000"/>
                </a:lnSpc>
              </a:pPr>
              <a:r>
                <a:rPr lang="en-US" sz="13800" spc="40">
                  <a:solidFill>
                    <a:schemeClr val="tx2"/>
                  </a:solidFill>
                  <a:latin typeface="#9Slide02 Tieu de dai" panose="02000000000000000000" pitchFamily="2" charset="0"/>
                  <a:ea typeface="#9Slide02 Tieu de dai" panose="02000000000000000000" pitchFamily="2" charset="0"/>
                </a:rPr>
                <a:t>9</a:t>
              </a:r>
            </a:p>
          </p:txBody>
        </p:sp>
      </p:grpSp>
      <p:sp>
        <p:nvSpPr>
          <p:cNvPr id="9" name="TextBox 8">
            <a:extLst>
              <a:ext uri="{FF2B5EF4-FFF2-40B4-BE49-F238E27FC236}">
                <a16:creationId xmlns:a16="http://schemas.microsoft.com/office/drawing/2014/main" id="{E5671943-7C6B-4089-838F-4FB775FFBE9B}"/>
              </a:ext>
            </a:extLst>
          </p:cNvPr>
          <p:cNvSpPr txBox="1"/>
          <p:nvPr/>
        </p:nvSpPr>
        <p:spPr>
          <a:xfrm>
            <a:off x="10802815" y="4127711"/>
            <a:ext cx="7086600" cy="2188291"/>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r>
              <a:rPr lang="en-US"/>
              <a:t>Nghệ thuật tối đa hóa lượng công việc chưa xong, sự đơn giản là cần thiết</a:t>
            </a:r>
          </a:p>
        </p:txBody>
      </p:sp>
    </p:spTree>
    <p:extLst>
      <p:ext uri="{BB962C8B-B14F-4D97-AF65-F5344CB8AC3E}">
        <p14:creationId xmlns:p14="http://schemas.microsoft.com/office/powerpoint/2010/main" val="23326536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5">
            <a:extLst>
              <a:ext uri="{FF2B5EF4-FFF2-40B4-BE49-F238E27FC236}">
                <a16:creationId xmlns:a16="http://schemas.microsoft.com/office/drawing/2014/main" id="{CF7049AD-002B-4222-B157-954CE7B663C6}"/>
              </a:ext>
            </a:extLst>
          </p:cNvPr>
          <p:cNvSpPr/>
          <p:nvPr/>
        </p:nvSpPr>
        <p:spPr>
          <a:xfrm>
            <a:off x="533400" y="2199161"/>
            <a:ext cx="2071928"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9" name="TextBox 18">
            <a:extLst>
              <a:ext uri="{FF2B5EF4-FFF2-40B4-BE49-F238E27FC236}">
                <a16:creationId xmlns:a16="http://schemas.microsoft.com/office/drawing/2014/main" id="{03038527-574D-454D-AB15-5F5678078618}"/>
              </a:ext>
            </a:extLst>
          </p:cNvPr>
          <p:cNvSpPr txBox="1"/>
          <p:nvPr/>
        </p:nvSpPr>
        <p:spPr>
          <a:xfrm>
            <a:off x="363414" y="1943100"/>
            <a:ext cx="2241914" cy="2605265"/>
          </a:xfrm>
          <a:prstGeom prst="rect">
            <a:avLst/>
          </a:prstGeom>
          <a:noFill/>
        </p:spPr>
        <p:txBody>
          <a:bodyPr wrap="square">
            <a:spAutoFit/>
          </a:bodyPr>
          <a:lstStyle/>
          <a:p>
            <a:pPr>
              <a:lnSpc>
                <a:spcPct val="130000"/>
              </a:lnSpc>
            </a:pPr>
            <a:r>
              <a:rPr lang="en-US" sz="13800">
                <a:solidFill>
                  <a:schemeClr val="tx2"/>
                </a:solidFill>
                <a:latin typeface="#9Slide02 Tieu de dai" panose="02000000000000000000" pitchFamily="2" charset="0"/>
                <a:ea typeface="#9Slide02 Tieu de dai" panose="02000000000000000000" pitchFamily="2" charset="0"/>
              </a:rPr>
              <a:t>11</a:t>
            </a:r>
          </a:p>
        </p:txBody>
      </p:sp>
      <p:sp>
        <p:nvSpPr>
          <p:cNvPr id="8" name="Freeform 15">
            <a:extLst>
              <a:ext uri="{FF2B5EF4-FFF2-40B4-BE49-F238E27FC236}">
                <a16:creationId xmlns:a16="http://schemas.microsoft.com/office/drawing/2014/main" id="{E853343A-3654-4B19-837C-600B27680F8D}"/>
              </a:ext>
            </a:extLst>
          </p:cNvPr>
          <p:cNvSpPr/>
          <p:nvPr/>
        </p:nvSpPr>
        <p:spPr>
          <a:xfrm>
            <a:off x="15849601" y="2268028"/>
            <a:ext cx="2039814"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8" name="Freeform 15">
            <a:extLst>
              <a:ext uri="{FF2B5EF4-FFF2-40B4-BE49-F238E27FC236}">
                <a16:creationId xmlns:a16="http://schemas.microsoft.com/office/drawing/2014/main" id="{8CCEF654-8144-4524-8138-6EDDE00CCBC7}"/>
              </a:ext>
            </a:extLst>
          </p:cNvPr>
          <p:cNvSpPr/>
          <p:nvPr/>
        </p:nvSpPr>
        <p:spPr>
          <a:xfrm>
            <a:off x="9144000" y="-26198"/>
            <a:ext cx="91440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15" name="TextBox 15"/>
          <p:cNvSpPr txBox="1"/>
          <p:nvPr/>
        </p:nvSpPr>
        <p:spPr>
          <a:xfrm>
            <a:off x="7543800" y="190500"/>
            <a:ext cx="10737081" cy="1718419"/>
          </a:xfrm>
          <a:prstGeom prst="rect">
            <a:avLst/>
          </a:prstGeom>
        </p:spPr>
        <p:txBody>
          <a:bodyPr wrap="square" lIns="0" tIns="0" rIns="0" bIns="0" rtlCol="0" anchor="t">
            <a:spAutoFit/>
          </a:bodyPr>
          <a:lstStyle/>
          <a:p>
            <a:pPr algn="r">
              <a:lnSpc>
                <a:spcPts val="6685"/>
              </a:lnSpc>
            </a:pPr>
            <a:r>
              <a:rPr lang="en-US" sz="5864">
                <a:solidFill>
                  <a:schemeClr val="tx2"/>
                </a:solidFill>
                <a:latin typeface="#9Slide01 Tieu de ngan" panose="00000800000000000000" pitchFamily="2" charset="-93"/>
              </a:rPr>
              <a:t>12 nguyên tắc phía sau tuyên ngôn</a:t>
            </a:r>
          </a:p>
        </p:txBody>
      </p:sp>
      <p:sp>
        <p:nvSpPr>
          <p:cNvPr id="17" name="TextBox 16">
            <a:extLst>
              <a:ext uri="{FF2B5EF4-FFF2-40B4-BE49-F238E27FC236}">
                <a16:creationId xmlns:a16="http://schemas.microsoft.com/office/drawing/2014/main" id="{5D70A7A0-C928-4A2A-90A6-525FB783564C}"/>
              </a:ext>
            </a:extLst>
          </p:cNvPr>
          <p:cNvSpPr txBox="1"/>
          <p:nvPr/>
        </p:nvSpPr>
        <p:spPr>
          <a:xfrm>
            <a:off x="363414" y="4847908"/>
            <a:ext cx="7086600" cy="747897"/>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pPr algn="l"/>
            <a:r>
              <a:rPr lang="en-US"/>
              <a:t>  Nhóm tự tổ chức</a:t>
            </a:r>
          </a:p>
        </p:txBody>
      </p:sp>
      <p:sp>
        <p:nvSpPr>
          <p:cNvPr id="21" name="TextBox 20">
            <a:extLst>
              <a:ext uri="{FF2B5EF4-FFF2-40B4-BE49-F238E27FC236}">
                <a16:creationId xmlns:a16="http://schemas.microsoft.com/office/drawing/2014/main" id="{1A4521C0-A4B2-4D5D-AEFA-7AB22E9BDCCD}"/>
              </a:ext>
            </a:extLst>
          </p:cNvPr>
          <p:cNvSpPr txBox="1"/>
          <p:nvPr/>
        </p:nvSpPr>
        <p:spPr>
          <a:xfrm>
            <a:off x="15682674" y="1943100"/>
            <a:ext cx="2224328" cy="2605265"/>
          </a:xfrm>
          <a:prstGeom prst="rect">
            <a:avLst/>
          </a:prstGeom>
          <a:noFill/>
        </p:spPr>
        <p:txBody>
          <a:bodyPr wrap="none">
            <a:spAutoFit/>
          </a:bodyPr>
          <a:lstStyle/>
          <a:p>
            <a:pPr algn="r">
              <a:lnSpc>
                <a:spcPct val="130000"/>
              </a:lnSpc>
            </a:pPr>
            <a:r>
              <a:rPr lang="en-US" sz="13800">
                <a:solidFill>
                  <a:schemeClr val="tx2"/>
                </a:solidFill>
                <a:latin typeface="#9Slide02 Tieu de dai" panose="02000000000000000000" pitchFamily="2" charset="0"/>
                <a:ea typeface="#9Slide02 Tieu de dai" panose="02000000000000000000" pitchFamily="2" charset="0"/>
              </a:rPr>
              <a:t>12</a:t>
            </a:r>
          </a:p>
        </p:txBody>
      </p:sp>
      <p:sp>
        <p:nvSpPr>
          <p:cNvPr id="9" name="TextBox 8">
            <a:extLst>
              <a:ext uri="{FF2B5EF4-FFF2-40B4-BE49-F238E27FC236}">
                <a16:creationId xmlns:a16="http://schemas.microsoft.com/office/drawing/2014/main" id="{E5671943-7C6B-4089-838F-4FB775FFBE9B}"/>
              </a:ext>
            </a:extLst>
          </p:cNvPr>
          <p:cNvSpPr txBox="1"/>
          <p:nvPr/>
        </p:nvSpPr>
        <p:spPr>
          <a:xfrm>
            <a:off x="10802815" y="4127711"/>
            <a:ext cx="7086600" cy="1468094"/>
          </a:xfrm>
          <a:prstGeom prst="rect">
            <a:avLst/>
          </a:prstGeom>
          <a:noFill/>
        </p:spPr>
        <p:txBody>
          <a:bodyPr wrap="square">
            <a:spAutoFit/>
          </a:bodyPr>
          <a:lstStyle>
            <a:defPPr>
              <a:defRPr lang="en-US"/>
            </a:defPPr>
            <a:lvl1pPr algn="r">
              <a:lnSpc>
                <a:spcPct val="130000"/>
              </a:lnSpc>
              <a:defRPr sz="3600" spc="40">
                <a:latin typeface="#9Slide02 Tieu de dai" panose="02000000000000000000" pitchFamily="2" charset="0"/>
                <a:ea typeface="#9Slide02 Tieu de dai" panose="02000000000000000000" pitchFamily="2" charset="0"/>
              </a:defRPr>
            </a:lvl1pPr>
          </a:lstStyle>
          <a:p>
            <a:r>
              <a:rPr lang="en-US"/>
              <a:t>Thích ứng thường xuyên với những thay đổi </a:t>
            </a:r>
          </a:p>
        </p:txBody>
      </p:sp>
    </p:spTree>
    <p:extLst>
      <p:ext uri="{BB962C8B-B14F-4D97-AF65-F5344CB8AC3E}">
        <p14:creationId xmlns:p14="http://schemas.microsoft.com/office/powerpoint/2010/main" val="322877025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4">
            <a:extLst>
              <a:ext uri="{FF2B5EF4-FFF2-40B4-BE49-F238E27FC236}">
                <a16:creationId xmlns:a16="http://schemas.microsoft.com/office/drawing/2014/main" id="{353D4E99-0749-43A8-86C8-1DCAF12C9A9D}"/>
              </a:ext>
            </a:extLst>
          </p:cNvPr>
          <p:cNvPicPr>
            <a:picLocks noChangeAspect="1"/>
          </p:cNvPicPr>
          <p:nvPr/>
        </p:nvPicPr>
        <p:blipFill>
          <a:blip r:embed="rId2"/>
          <a:srcRect/>
          <a:stretch>
            <a:fillRect/>
          </a:stretch>
        </p:blipFill>
        <p:spPr>
          <a:xfrm>
            <a:off x="1981200" y="0"/>
            <a:ext cx="14097000" cy="10287000"/>
          </a:xfrm>
          <a:prstGeom prst="rect">
            <a:avLst/>
          </a:prstGeom>
        </p:spPr>
      </p:pic>
    </p:spTree>
    <p:extLst>
      <p:ext uri="{BB962C8B-B14F-4D97-AF65-F5344CB8AC3E}">
        <p14:creationId xmlns:p14="http://schemas.microsoft.com/office/powerpoint/2010/main" val="17841077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5">
            <a:extLst>
              <a:ext uri="{FF2B5EF4-FFF2-40B4-BE49-F238E27FC236}">
                <a16:creationId xmlns:a16="http://schemas.microsoft.com/office/drawing/2014/main" id="{89C344B7-EAA0-442F-98AB-9BA8C4F2ED36}"/>
              </a:ext>
            </a:extLst>
          </p:cNvPr>
          <p:cNvSpPr/>
          <p:nvPr/>
        </p:nvSpPr>
        <p:spPr>
          <a:xfrm>
            <a:off x="-152400" y="-26198"/>
            <a:ext cx="184404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2" name="Tiêu đề 1">
            <a:extLst>
              <a:ext uri="{FF2B5EF4-FFF2-40B4-BE49-F238E27FC236}">
                <a16:creationId xmlns:a16="http://schemas.microsoft.com/office/drawing/2014/main" id="{C3A52FDC-3EA0-4A82-B2BE-07C49CF18E6F}"/>
              </a:ext>
            </a:extLst>
          </p:cNvPr>
          <p:cNvSpPr txBox="1">
            <a:spLocks/>
          </p:cNvSpPr>
          <p:nvPr/>
        </p:nvSpPr>
        <p:spPr>
          <a:xfrm>
            <a:off x="5028130" y="495300"/>
            <a:ext cx="8231741" cy="769441"/>
          </a:xfrm>
          <a:prstGeom prst="rect">
            <a:avLst/>
          </a:prstGeom>
        </p:spPr>
        <p:txBody>
          <a:bodyPr wrap="none">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chemeClr val="tx2"/>
                </a:solidFill>
                <a:latin typeface="#9Slide01 Tieu de ngan" panose="00000800000000000000" pitchFamily="2" charset="-93"/>
                <a:ea typeface="#9Slide02 Tieu de dai" panose="02000000000000000000" pitchFamily="2" charset="0"/>
              </a:rPr>
              <a:t>Ưu điểm, nh</a:t>
            </a:r>
            <a:r>
              <a:rPr lang="vi-VN" b="1">
                <a:solidFill>
                  <a:schemeClr val="tx2"/>
                </a:solidFill>
                <a:latin typeface="#9Slide01 Tieu de ngan" panose="00000800000000000000" pitchFamily="2" charset="-93"/>
                <a:ea typeface="#9Slide02 Tieu de dai" panose="02000000000000000000" pitchFamily="2" charset="0"/>
              </a:rPr>
              <a:t>ư</a:t>
            </a:r>
            <a:r>
              <a:rPr lang="en-US" b="1">
                <a:solidFill>
                  <a:schemeClr val="tx2"/>
                </a:solidFill>
                <a:latin typeface="#9Slide01 Tieu de ngan" panose="00000800000000000000" pitchFamily="2" charset="-93"/>
                <a:ea typeface="#9Slide02 Tieu de dai" panose="02000000000000000000" pitchFamily="2" charset="0"/>
              </a:rPr>
              <a:t>ợc điểm Agile</a:t>
            </a:r>
          </a:p>
        </p:txBody>
      </p:sp>
      <p:sp>
        <p:nvSpPr>
          <p:cNvPr id="3" name="Chỗ dành sẵn cho Nội dung 2">
            <a:extLst>
              <a:ext uri="{FF2B5EF4-FFF2-40B4-BE49-F238E27FC236}">
                <a16:creationId xmlns:a16="http://schemas.microsoft.com/office/drawing/2014/main" id="{88B8E34E-748B-45C6-A85F-7E2D95252EC1}"/>
              </a:ext>
            </a:extLst>
          </p:cNvPr>
          <p:cNvSpPr txBox="1">
            <a:spLocks noChangeAspect="1"/>
          </p:cNvSpPr>
          <p:nvPr>
            <p:custDataLst>
              <p:tags r:id="rId1"/>
            </p:custDataLst>
          </p:nvPr>
        </p:nvSpPr>
        <p:spPr>
          <a:xfrm>
            <a:off x="368777" y="2019300"/>
            <a:ext cx="18654466" cy="7178888"/>
          </a:xfrm>
          <a:prstGeom prst="rect">
            <a:avLst/>
          </a:prstGeom>
          <a:solidFill>
            <a:scrgbClr r="0" g="0" b="0">
              <a:alpha val="0"/>
            </a:scrgbClr>
          </a:solidFill>
        </p:spPr>
        <p:txBody>
          <a:bodyPr wrap="none">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70000"/>
              </a:lnSpc>
              <a:buNone/>
            </a:pPr>
            <a:r>
              <a:rPr lang="en-US" sz="4000" b="1" spc="20">
                <a:latin typeface="#9Slide01 Tieu de ngan" panose="00000800000000000000" pitchFamily="2" charset="-93"/>
                <a:ea typeface="#9Slide02 Noi dung dai" panose="02000000000000000000" pitchFamily="2" charset="0"/>
              </a:rPr>
              <a:t>Ưu điểm</a:t>
            </a:r>
          </a:p>
          <a:p>
            <a:pPr>
              <a:lnSpc>
                <a:spcPct val="170000"/>
              </a:lnSpc>
            </a:pPr>
            <a:r>
              <a:rPr lang="en-US" sz="3000" spc="20">
                <a:latin typeface="#9Slide02 Noi dung dai" panose="02000000000000000000" pitchFamily="2" charset="0"/>
                <a:ea typeface="#9Slide02 Noi dung dai" panose="02000000000000000000" pitchFamily="2" charset="0"/>
              </a:rPr>
              <a:t> Agile là sự lựa chọn tốt cho những dự án nhỏ bởi những dự án nhỏ thường có những yêu cầu </a:t>
            </a:r>
          </a:p>
          <a:p>
            <a:pPr marL="0" indent="0">
              <a:lnSpc>
                <a:spcPct val="170000"/>
              </a:lnSpc>
              <a:buNone/>
            </a:pPr>
            <a:r>
              <a:rPr lang="en-US" sz="3000" spc="20">
                <a:latin typeface="#9Slide02 Noi dung dai" panose="02000000000000000000" pitchFamily="2" charset="0"/>
                <a:ea typeface="#9Slide02 Noi dung dai" panose="02000000000000000000" pitchFamily="2" charset="0"/>
              </a:rPr>
              <a:t> không được xác định rõ ràng và có thể thay đổi thường xuyên</a:t>
            </a:r>
          </a:p>
          <a:p>
            <a:pPr>
              <a:lnSpc>
                <a:spcPct val="170000"/>
              </a:lnSpc>
            </a:pPr>
            <a:r>
              <a:rPr lang="en-US" sz="3000" spc="20">
                <a:latin typeface="#9Slide02 Noi dung dai" panose="02000000000000000000" pitchFamily="2" charset="0"/>
                <a:ea typeface="#9Slide02 Noi dung dai" panose="02000000000000000000" pitchFamily="2" charset="0"/>
              </a:rPr>
              <a:t>Khách hàng có thể được xem trước từng phần dự án trong suốt quá trình phát triển vì Agile phát triển </a:t>
            </a:r>
          </a:p>
          <a:p>
            <a:pPr marL="0" indent="0">
              <a:lnSpc>
                <a:spcPct val="170000"/>
              </a:lnSpc>
              <a:buNone/>
            </a:pPr>
            <a:r>
              <a:rPr lang="en-US" sz="3000" spc="20">
                <a:latin typeface="#9Slide02 Noi dung dai" panose="02000000000000000000" pitchFamily="2" charset="0"/>
                <a:ea typeface="#9Slide02 Noi dung dai" panose="02000000000000000000" pitchFamily="2" charset="0"/>
              </a:rPr>
              <a:t>    phần mềm theo hướng tang dần, có thể đưa khách hàng từng phần đã thực hiện hoàn thành</a:t>
            </a:r>
          </a:p>
          <a:p>
            <a:pPr>
              <a:lnSpc>
                <a:spcPct val="170000"/>
              </a:lnSpc>
            </a:pPr>
            <a:r>
              <a:rPr lang="en-US" sz="3000" spc="20">
                <a:latin typeface="#9Slide02 Noi dung dai" panose="02000000000000000000" pitchFamily="2" charset="0"/>
                <a:ea typeface="#9Slide02 Noi dung dai" panose="02000000000000000000" pitchFamily="2" charset="0"/>
              </a:rPr>
              <a:t>Khi dự án thành từng những phần nhỏ và giao cho mỗi người, hàng ngày tất cả phải họp với nhau </a:t>
            </a:r>
          </a:p>
          <a:p>
            <a:pPr marL="0" indent="0">
              <a:lnSpc>
                <a:spcPct val="170000"/>
              </a:lnSpc>
              <a:buNone/>
            </a:pPr>
            <a:r>
              <a:rPr lang="en-US" sz="3000" spc="20">
                <a:latin typeface="#9Slide02 Noi dung dai" panose="02000000000000000000" pitchFamily="2" charset="0"/>
                <a:ea typeface="#9Slide02 Noi dung dai" panose="02000000000000000000" pitchFamily="2" charset="0"/>
              </a:rPr>
              <a:t>   trong khoảng thời gian ngắn đẻ thảo luận về tiến độ và giải quyết những vấn đề nảy sinh nếu có nhằm </a:t>
            </a:r>
          </a:p>
          <a:p>
            <a:pPr marL="0" indent="0">
              <a:lnSpc>
                <a:spcPct val="170000"/>
              </a:lnSpc>
              <a:buNone/>
            </a:pPr>
            <a:r>
              <a:rPr lang="en-US" sz="3000" spc="20">
                <a:latin typeface="#9Slide02 Noi dung dai" panose="02000000000000000000" pitchFamily="2" charset="0"/>
                <a:ea typeface="#9Slide02 Noi dung dai" panose="02000000000000000000" pitchFamily="2" charset="0"/>
              </a:rPr>
              <a:t>    đảm bảo đúng quy trình phát triển dự án</a:t>
            </a:r>
          </a:p>
        </p:txBody>
      </p:sp>
    </p:spTree>
    <p:extLst>
      <p:ext uri="{BB962C8B-B14F-4D97-AF65-F5344CB8AC3E}">
        <p14:creationId xmlns:p14="http://schemas.microsoft.com/office/powerpoint/2010/main" val="35607879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 calcmode="lin" valueType="num">
                                      <p:cBhvr additive="base">
                                        <p:cTn id="4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14843F3-7A0F-40C6-B44E-A743D75AF55B}"/>
              </a:ext>
            </a:extLst>
          </p:cNvPr>
          <p:cNvSpPr/>
          <p:nvPr/>
        </p:nvSpPr>
        <p:spPr>
          <a:xfrm>
            <a:off x="-152400" y="-26198"/>
            <a:ext cx="184404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2" name="Tiêu đề 1">
            <a:extLst>
              <a:ext uri="{FF2B5EF4-FFF2-40B4-BE49-F238E27FC236}">
                <a16:creationId xmlns:a16="http://schemas.microsoft.com/office/drawing/2014/main" id="{C3A52FDC-3EA0-4A82-B2BE-07C49CF18E6F}"/>
              </a:ext>
            </a:extLst>
          </p:cNvPr>
          <p:cNvSpPr txBox="1">
            <a:spLocks/>
          </p:cNvSpPr>
          <p:nvPr/>
        </p:nvSpPr>
        <p:spPr>
          <a:xfrm>
            <a:off x="5028130" y="495300"/>
            <a:ext cx="8231741" cy="769441"/>
          </a:xfrm>
          <a:prstGeom prst="rect">
            <a:avLst/>
          </a:prstGeom>
        </p:spPr>
        <p:txBody>
          <a:bodyPr wrap="none">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chemeClr val="tx2"/>
                </a:solidFill>
                <a:latin typeface="#9Slide01 Tieu de ngan" panose="00000800000000000000" pitchFamily="2" charset="-93"/>
                <a:ea typeface="#9Slide02 Tieu de dai" panose="02000000000000000000" pitchFamily="2" charset="0"/>
              </a:rPr>
              <a:t>Ưu điểm, nh</a:t>
            </a:r>
            <a:r>
              <a:rPr lang="vi-VN" b="1">
                <a:solidFill>
                  <a:schemeClr val="tx2"/>
                </a:solidFill>
                <a:latin typeface="#9Slide01 Tieu de ngan" panose="00000800000000000000" pitchFamily="2" charset="-93"/>
                <a:ea typeface="#9Slide02 Tieu de dai" panose="02000000000000000000" pitchFamily="2" charset="0"/>
              </a:rPr>
              <a:t>ư</a:t>
            </a:r>
            <a:r>
              <a:rPr lang="en-US" b="1">
                <a:solidFill>
                  <a:schemeClr val="tx2"/>
                </a:solidFill>
                <a:latin typeface="#9Slide01 Tieu de ngan" panose="00000800000000000000" pitchFamily="2" charset="-93"/>
                <a:ea typeface="#9Slide02 Tieu de dai" panose="02000000000000000000" pitchFamily="2" charset="0"/>
              </a:rPr>
              <a:t>ợc điểm Agile</a:t>
            </a:r>
          </a:p>
        </p:txBody>
      </p:sp>
      <p:sp>
        <p:nvSpPr>
          <p:cNvPr id="3" name="Chỗ dành sẵn cho Nội dung 2">
            <a:extLst>
              <a:ext uri="{FF2B5EF4-FFF2-40B4-BE49-F238E27FC236}">
                <a16:creationId xmlns:a16="http://schemas.microsoft.com/office/drawing/2014/main" id="{88B8E34E-748B-45C6-A85F-7E2D95252EC1}"/>
              </a:ext>
            </a:extLst>
          </p:cNvPr>
          <p:cNvSpPr txBox="1">
            <a:spLocks noChangeAspect="1"/>
          </p:cNvSpPr>
          <p:nvPr>
            <p:custDataLst>
              <p:tags r:id="rId1"/>
            </p:custDataLst>
          </p:nvPr>
        </p:nvSpPr>
        <p:spPr>
          <a:xfrm>
            <a:off x="368777" y="1943100"/>
            <a:ext cx="17213045" cy="7681077"/>
          </a:xfrm>
          <a:prstGeom prst="rect">
            <a:avLst/>
          </a:prstGeom>
          <a:solidFill>
            <a:scrgbClr r="0" g="0" b="0">
              <a:alpha val="0"/>
            </a:scrgbClr>
          </a:solidFill>
        </p:spPr>
        <p:txBody>
          <a:bodyPr wrap="none">
            <a:spAutoFit/>
          </a:bodyPr>
          <a:lstStyle>
            <a:defPPr>
              <a:defRPr lang="en-US"/>
            </a:defPPr>
            <a:lvl1pPr marL="342900" indent="-342900">
              <a:lnSpc>
                <a:spcPct val="150000"/>
              </a:lnSpc>
              <a:spcBef>
                <a:spcPct val="20000"/>
              </a:spcBef>
              <a:buFont typeface="Arial" pitchFamily="34" charset="0"/>
              <a:buChar char="•"/>
              <a:defRPr sz="4000" b="1" spc="20">
                <a:latin typeface="#9Slide01 Tieu de ngan" panose="00000800000000000000" pitchFamily="2" charset="-93"/>
                <a:ea typeface="#9Slide02 Noi dung dai" panose="02000000000000000000" pitchFamily="2"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indent="0">
              <a:lnSpc>
                <a:spcPct val="269000"/>
              </a:lnSpc>
              <a:buNone/>
            </a:pPr>
            <a:r>
              <a:rPr lang="en-US"/>
              <a:t>Nhược điểm</a:t>
            </a:r>
          </a:p>
          <a:p>
            <a:pPr>
              <a:lnSpc>
                <a:spcPct val="269000"/>
              </a:lnSpc>
            </a:pPr>
            <a:r>
              <a:rPr lang="en-US" sz="3000" b="0">
                <a:latin typeface="#9Slide02 Noi dung dai" panose="02000000000000000000" pitchFamily="2" charset="0"/>
              </a:rPr>
              <a:t>Thiếu sự nhấn mạnh về thiết kế và tài liệu cần thiết</a:t>
            </a:r>
          </a:p>
          <a:p>
            <a:pPr>
              <a:lnSpc>
                <a:spcPct val="269000"/>
              </a:lnSpc>
            </a:pPr>
            <a:r>
              <a:rPr lang="en-US" sz="3000" b="0">
                <a:latin typeface="#9Slide02 Noi dung dai" panose="02000000000000000000" pitchFamily="2" charset="0"/>
              </a:rPr>
              <a:t>Dự án có thể dễ dàng off- track nếu đại diện khách hàng không rõ kết quả cuối cùng mà họ muốn</a:t>
            </a:r>
          </a:p>
          <a:p>
            <a:pPr>
              <a:lnSpc>
                <a:spcPct val="269000"/>
              </a:lnSpc>
            </a:pPr>
            <a:r>
              <a:rPr lang="en-US" sz="3000" b="0">
                <a:latin typeface="#9Slide02 Noi dung dai" panose="02000000000000000000" pitchFamily="2" charset="0"/>
              </a:rPr>
              <a:t>Rủi ro khi dự án không thể hoàn thành trong điều kiện sửa đổi hoặc thay đổi công nghệ định kỳ</a:t>
            </a:r>
            <a:r>
              <a:rPr lang="en-US" b="0">
                <a:latin typeface="#9Slide02 Noi dung dai" panose="02000000000000000000" pitchFamily="2" charset="0"/>
              </a:rPr>
              <a:t> </a:t>
            </a:r>
          </a:p>
          <a:p>
            <a:pPr>
              <a:lnSpc>
                <a:spcPct val="269000"/>
              </a:lnSpc>
            </a:pPr>
            <a:endParaRPr lang="en-US"/>
          </a:p>
        </p:txBody>
      </p:sp>
    </p:spTree>
    <p:extLst>
      <p:ext uri="{BB962C8B-B14F-4D97-AF65-F5344CB8AC3E}">
        <p14:creationId xmlns:p14="http://schemas.microsoft.com/office/powerpoint/2010/main" val="1242540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392117" y="8496300"/>
            <a:ext cx="3086100" cy="3086100"/>
            <a:chOff x="0" y="0"/>
            <a:chExt cx="812800" cy="812800"/>
          </a:xfrm>
        </p:grpSpPr>
        <p:sp>
          <p:nvSpPr>
            <p:cNvPr id="8" name="Freeform 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202B"/>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6013723" y="-924141"/>
            <a:ext cx="3086100" cy="3086100"/>
            <a:chOff x="0" y="0"/>
            <a:chExt cx="812800" cy="812800"/>
          </a:xfrm>
        </p:grpSpPr>
        <p:sp>
          <p:nvSpPr>
            <p:cNvPr id="11" name="Freeform 11"/>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0820400" y="3619500"/>
            <a:ext cx="7225880" cy="1699183"/>
          </a:xfrm>
          <a:prstGeom prst="rect">
            <a:avLst/>
          </a:prstGeom>
        </p:spPr>
        <p:txBody>
          <a:bodyPr wrap="square" lIns="0" tIns="0" rIns="0" bIns="0" rtlCol="0" anchor="t">
            <a:spAutoFit/>
          </a:bodyPr>
          <a:lstStyle/>
          <a:p>
            <a:pPr algn="r">
              <a:lnSpc>
                <a:spcPts val="6916"/>
              </a:lnSpc>
            </a:pPr>
            <a:r>
              <a:rPr lang="en-US" sz="5000">
                <a:solidFill>
                  <a:srgbClr val="F12711"/>
                </a:solidFill>
                <a:latin typeface="#9Slide01 Tieu de ngan" panose="00000800000000000000" pitchFamily="2" charset="-93"/>
              </a:rPr>
              <a:t>Các phương pháp phổ biến của Agile</a:t>
            </a:r>
          </a:p>
        </p:txBody>
      </p:sp>
      <p:pic>
        <p:nvPicPr>
          <p:cNvPr id="23" name="Graphic 22">
            <a:extLst>
              <a:ext uri="{FF2B5EF4-FFF2-40B4-BE49-F238E27FC236}">
                <a16:creationId xmlns:a16="http://schemas.microsoft.com/office/drawing/2014/main" id="{F6C62821-1407-48B8-A37D-8999055913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93983" y="1038121"/>
            <a:ext cx="7467602" cy="6325490"/>
          </a:xfrm>
          <a:prstGeom prst="rect">
            <a:avLst/>
          </a:prstGeom>
        </p:spPr>
      </p:pic>
      <p:sp>
        <p:nvSpPr>
          <p:cNvPr id="21" name="TextBox 21"/>
          <p:cNvSpPr txBox="1"/>
          <p:nvPr/>
        </p:nvSpPr>
        <p:spPr>
          <a:xfrm>
            <a:off x="3407793" y="2259353"/>
            <a:ext cx="4039982" cy="1005284"/>
          </a:xfrm>
          <a:prstGeom prst="rect">
            <a:avLst/>
          </a:prstGeom>
        </p:spPr>
        <p:txBody>
          <a:bodyPr lIns="0" tIns="0" rIns="0" bIns="0" rtlCol="0" anchor="t">
            <a:spAutoFit/>
          </a:bodyPr>
          <a:lstStyle/>
          <a:p>
            <a:pPr algn="ctr">
              <a:lnSpc>
                <a:spcPts val="7896"/>
              </a:lnSpc>
            </a:pPr>
            <a:r>
              <a:rPr lang="en-US" sz="6927" b="1">
                <a:solidFill>
                  <a:schemeClr val="tx1">
                    <a:lumMod val="50000"/>
                    <a:alpha val="66667"/>
                  </a:schemeClr>
                </a:solidFill>
                <a:latin typeface="Comic Sans"/>
              </a:rPr>
              <a:t>Agile </a:t>
            </a:r>
          </a:p>
        </p:txBody>
      </p:sp>
      <p:sp>
        <p:nvSpPr>
          <p:cNvPr id="24" name="TextBox 21">
            <a:extLst>
              <a:ext uri="{FF2B5EF4-FFF2-40B4-BE49-F238E27FC236}">
                <a16:creationId xmlns:a16="http://schemas.microsoft.com/office/drawing/2014/main" id="{019046E5-2063-4C1A-96BF-1EAFCEB90533}"/>
              </a:ext>
            </a:extLst>
          </p:cNvPr>
          <p:cNvSpPr txBox="1"/>
          <p:nvPr/>
        </p:nvSpPr>
        <p:spPr>
          <a:xfrm>
            <a:off x="3003116" y="4039045"/>
            <a:ext cx="1530868" cy="888577"/>
          </a:xfrm>
          <a:prstGeom prst="rect">
            <a:avLst/>
          </a:prstGeom>
        </p:spPr>
        <p:txBody>
          <a:bodyPr wrap="none" lIns="0" tIns="0" rIns="0" bIns="0" rtlCol="0" anchor="t">
            <a:spAutoFit/>
          </a:bodyPr>
          <a:lstStyle/>
          <a:p>
            <a:pPr algn="ctr">
              <a:lnSpc>
                <a:spcPts val="7896"/>
              </a:lnSpc>
            </a:pPr>
            <a:r>
              <a:rPr lang="en-US" sz="4000" b="1">
                <a:solidFill>
                  <a:srgbClr val="FF0000">
                    <a:alpha val="66667"/>
                  </a:srgbClr>
                </a:solidFill>
                <a:latin typeface="Comic Sans"/>
              </a:rPr>
              <a:t>Scrum</a:t>
            </a:r>
          </a:p>
        </p:txBody>
      </p:sp>
      <p:sp>
        <p:nvSpPr>
          <p:cNvPr id="25" name="TextBox 21">
            <a:extLst>
              <a:ext uri="{FF2B5EF4-FFF2-40B4-BE49-F238E27FC236}">
                <a16:creationId xmlns:a16="http://schemas.microsoft.com/office/drawing/2014/main" id="{25CD775C-CF06-42A7-A827-92F197BFA363}"/>
              </a:ext>
            </a:extLst>
          </p:cNvPr>
          <p:cNvSpPr txBox="1"/>
          <p:nvPr/>
        </p:nvSpPr>
        <p:spPr>
          <a:xfrm>
            <a:off x="3096891" y="5516842"/>
            <a:ext cx="1343316" cy="1875963"/>
          </a:xfrm>
          <a:prstGeom prst="rect">
            <a:avLst/>
          </a:prstGeom>
        </p:spPr>
        <p:txBody>
          <a:bodyPr wrap="none" lIns="0" tIns="0" rIns="0" bIns="0" rtlCol="0" anchor="t">
            <a:spAutoFit/>
          </a:bodyPr>
          <a:lstStyle/>
          <a:p>
            <a:pPr algn="ctr">
              <a:lnSpc>
                <a:spcPts val="7896"/>
              </a:lnSpc>
            </a:pPr>
            <a:r>
              <a:rPr lang="en-US" sz="3200" b="1">
                <a:solidFill>
                  <a:schemeClr val="tx1">
                    <a:lumMod val="50000"/>
                    <a:alpha val="66667"/>
                  </a:schemeClr>
                </a:solidFill>
                <a:latin typeface="Comic Sans"/>
              </a:rPr>
              <a:t>Kanban</a:t>
            </a:r>
          </a:p>
          <a:p>
            <a:pPr algn="ctr">
              <a:lnSpc>
                <a:spcPts val="7896"/>
              </a:lnSpc>
            </a:pPr>
            <a:endParaRPr lang="en-US" sz="3200" b="1">
              <a:solidFill>
                <a:schemeClr val="tx1">
                  <a:lumMod val="50000"/>
                  <a:alpha val="66667"/>
                </a:schemeClr>
              </a:solidFill>
              <a:latin typeface="Comic Sans"/>
            </a:endParaRPr>
          </a:p>
        </p:txBody>
      </p:sp>
      <p:sp>
        <p:nvSpPr>
          <p:cNvPr id="26" name="TextBox 21">
            <a:extLst>
              <a:ext uri="{FF2B5EF4-FFF2-40B4-BE49-F238E27FC236}">
                <a16:creationId xmlns:a16="http://schemas.microsoft.com/office/drawing/2014/main" id="{9D740843-2322-4F15-9084-D0FE232FB2BE}"/>
              </a:ext>
            </a:extLst>
          </p:cNvPr>
          <p:cNvSpPr txBox="1"/>
          <p:nvPr/>
        </p:nvSpPr>
        <p:spPr>
          <a:xfrm>
            <a:off x="6091879" y="5516842"/>
            <a:ext cx="1468352" cy="1875963"/>
          </a:xfrm>
          <a:prstGeom prst="rect">
            <a:avLst/>
          </a:prstGeom>
        </p:spPr>
        <p:txBody>
          <a:bodyPr wrap="none" lIns="0" tIns="0" rIns="0" bIns="0" rtlCol="0" anchor="t">
            <a:spAutoFit/>
          </a:bodyPr>
          <a:lstStyle/>
          <a:p>
            <a:pPr algn="ctr">
              <a:lnSpc>
                <a:spcPts val="7896"/>
              </a:lnSpc>
            </a:pPr>
            <a:r>
              <a:rPr lang="en-US" sz="3200" b="1">
                <a:solidFill>
                  <a:schemeClr val="tx1">
                    <a:lumMod val="50000"/>
                    <a:alpha val="66667"/>
                  </a:schemeClr>
                </a:solidFill>
                <a:latin typeface="Comic Sans"/>
              </a:rPr>
              <a:t>DevOps</a:t>
            </a:r>
          </a:p>
          <a:p>
            <a:pPr algn="ctr">
              <a:lnSpc>
                <a:spcPts val="7896"/>
              </a:lnSpc>
            </a:pPr>
            <a:endParaRPr lang="en-US" sz="3200" b="1">
              <a:solidFill>
                <a:schemeClr val="tx1">
                  <a:lumMod val="50000"/>
                  <a:alpha val="66667"/>
                </a:schemeClr>
              </a:solidFill>
              <a:latin typeface="Comic Sans"/>
            </a:endParaRPr>
          </a:p>
        </p:txBody>
      </p:sp>
      <p:sp>
        <p:nvSpPr>
          <p:cNvPr id="27" name="TextBox 21">
            <a:extLst>
              <a:ext uri="{FF2B5EF4-FFF2-40B4-BE49-F238E27FC236}">
                <a16:creationId xmlns:a16="http://schemas.microsoft.com/office/drawing/2014/main" id="{744FFE94-0AA5-4C55-8743-10E2D31AB034}"/>
              </a:ext>
            </a:extLst>
          </p:cNvPr>
          <p:cNvSpPr txBox="1"/>
          <p:nvPr/>
        </p:nvSpPr>
        <p:spPr>
          <a:xfrm>
            <a:off x="6388433" y="4200866"/>
            <a:ext cx="875240" cy="1875963"/>
          </a:xfrm>
          <a:prstGeom prst="rect">
            <a:avLst/>
          </a:prstGeom>
        </p:spPr>
        <p:txBody>
          <a:bodyPr wrap="none" lIns="0" tIns="0" rIns="0" bIns="0" rtlCol="0" anchor="t">
            <a:spAutoFit/>
          </a:bodyPr>
          <a:lstStyle/>
          <a:p>
            <a:pPr algn="ctr">
              <a:lnSpc>
                <a:spcPts val="7896"/>
              </a:lnSpc>
            </a:pPr>
            <a:r>
              <a:rPr lang="en-US" sz="3200" b="1">
                <a:solidFill>
                  <a:schemeClr val="tx1">
                    <a:lumMod val="50000"/>
                    <a:alpha val="66667"/>
                  </a:schemeClr>
                </a:solidFill>
                <a:latin typeface="Comic Sans"/>
              </a:rPr>
              <a:t>Lean</a:t>
            </a:r>
          </a:p>
          <a:p>
            <a:pPr algn="ctr">
              <a:lnSpc>
                <a:spcPts val="7896"/>
              </a:lnSpc>
            </a:pPr>
            <a:endParaRPr lang="en-US" sz="3200" b="1">
              <a:solidFill>
                <a:schemeClr val="tx1">
                  <a:lumMod val="50000"/>
                  <a:alpha val="66667"/>
                </a:schemeClr>
              </a:solidFill>
              <a:latin typeface="Comic Sans"/>
            </a:endParaRPr>
          </a:p>
        </p:txBody>
      </p:sp>
      <p:pic>
        <p:nvPicPr>
          <p:cNvPr id="28" name="Picture 29">
            <a:extLst>
              <a:ext uri="{FF2B5EF4-FFF2-40B4-BE49-F238E27FC236}">
                <a16:creationId xmlns:a16="http://schemas.microsoft.com/office/drawing/2014/main" id="{196EDBA0-49AF-4884-B698-7D196599C69F}"/>
              </a:ext>
            </a:extLst>
          </p:cNvPr>
          <p:cNvPicPr>
            <a:picLocks noChangeAspect="1"/>
          </p:cNvPicPr>
          <p:nvPr/>
        </p:nvPicPr>
        <p:blipFill>
          <a:blip r:embed="rId4"/>
          <a:srcRect/>
          <a:stretch>
            <a:fillRect/>
          </a:stretch>
        </p:blipFill>
        <p:spPr>
          <a:xfrm>
            <a:off x="2286000" y="3765154"/>
            <a:ext cx="3265092" cy="1975381"/>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73600" y="8743950"/>
            <a:ext cx="3086100" cy="3086100"/>
            <a:chOff x="0" y="0"/>
            <a:chExt cx="812800" cy="812800"/>
          </a:xfrm>
        </p:grpSpPr>
        <p:sp>
          <p:nvSpPr>
            <p:cNvPr id="3" name="Freeform 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91371" y="-1405255"/>
            <a:ext cx="3086100" cy="3086100"/>
            <a:chOff x="0" y="0"/>
            <a:chExt cx="812800" cy="812800"/>
          </a:xfrm>
          <a:solidFill>
            <a:schemeClr val="tx1"/>
          </a:solidFill>
        </p:grpSpPr>
        <p:sp>
          <p:nvSpPr>
            <p:cNvPr id="6" name="Freeform 6"/>
            <p:cNvSpPr/>
            <p:nvPr/>
          </p:nvSpPr>
          <p:spPr>
            <a:xfrm>
              <a:off x="1813" y="0"/>
              <a:ext cx="809173" cy="812800"/>
            </a:xfrm>
            <a:prstGeom prst="ellipse">
              <a:avLst/>
            </a:prstGeom>
            <a:grpFill/>
          </p:spPr>
        </p:sp>
        <p:sp>
          <p:nvSpPr>
            <p:cNvPr id="7" name="TextBox 7"/>
            <p:cNvSpPr txBox="1"/>
            <p:nvPr/>
          </p:nvSpPr>
          <p:spPr>
            <a:xfrm>
              <a:off x="76200" y="19050"/>
              <a:ext cx="660400" cy="717550"/>
            </a:xfrm>
            <a:prstGeom prst="ellipse">
              <a:avLst/>
            </a:prstGeom>
            <a:grpFill/>
          </p:spPr>
          <p:txBody>
            <a:bodyPr lIns="50800" tIns="50800" rIns="50800" bIns="50800" rtlCol="0" anchor="ctr"/>
            <a:lstStyle/>
            <a:p>
              <a:pPr algn="ctr">
                <a:lnSpc>
                  <a:spcPts val="2659"/>
                </a:lnSpc>
              </a:pPr>
              <a:endParaRPr>
                <a:solidFill>
                  <a:schemeClr val="tx2"/>
                </a:solidFill>
              </a:endParaRPr>
            </a:p>
          </p:txBody>
        </p:sp>
      </p:grpSp>
      <p:grpSp>
        <p:nvGrpSpPr>
          <p:cNvPr id="11" name="Group 11"/>
          <p:cNvGrpSpPr/>
          <p:nvPr/>
        </p:nvGrpSpPr>
        <p:grpSpPr>
          <a:xfrm>
            <a:off x="6990599" y="3952679"/>
            <a:ext cx="4306801" cy="4306801"/>
            <a:chOff x="0" y="0"/>
            <a:chExt cx="812800" cy="812800"/>
          </a:xfrm>
        </p:grpSpPr>
        <p:sp>
          <p:nvSpPr>
            <p:cNvPr id="12"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23604"/>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5132844" y="2094923"/>
            <a:ext cx="8022313" cy="8022313"/>
          </a:xfrm>
          <a:prstGeom prst="rect">
            <a:avLst/>
          </a:prstGeom>
        </p:spPr>
      </p:pic>
      <p:grpSp>
        <p:nvGrpSpPr>
          <p:cNvPr id="15" name="Group 15"/>
          <p:cNvGrpSpPr/>
          <p:nvPr/>
        </p:nvGrpSpPr>
        <p:grpSpPr>
          <a:xfrm>
            <a:off x="7896705" y="4794467"/>
            <a:ext cx="2494587" cy="2564497"/>
            <a:chOff x="1813" y="-19050"/>
            <a:chExt cx="809173" cy="831850"/>
          </a:xfrm>
          <a:solidFill>
            <a:schemeClr val="accent1"/>
          </a:solidFill>
        </p:grpSpPr>
        <p:sp>
          <p:nvSpPr>
            <p:cNvPr id="16" name="Freeform 16"/>
            <p:cNvSpPr/>
            <p:nvPr/>
          </p:nvSpPr>
          <p:spPr>
            <a:xfrm>
              <a:off x="1813" y="0"/>
              <a:ext cx="809173" cy="812800"/>
            </a:xfrm>
            <a:prstGeom prst="ellipse">
              <a:avLst/>
            </a:prstGeom>
            <a:grpFill/>
          </p:spPr>
        </p:sp>
        <p:sp>
          <p:nvSpPr>
            <p:cNvPr id="17" name="TextBox 17"/>
            <p:cNvSpPr txBox="1"/>
            <p:nvPr/>
          </p:nvSpPr>
          <p:spPr>
            <a:xfrm>
              <a:off x="76200" y="-19050"/>
              <a:ext cx="660400" cy="755650"/>
            </a:xfrm>
            <a:prstGeom prst="ellipse">
              <a:avLst/>
            </a:prstGeom>
            <a:grpFill/>
          </p:spPr>
          <p:txBody>
            <a:bodyPr lIns="50800" tIns="50800" rIns="50800" bIns="50800" rtlCol="0" anchor="ctr"/>
            <a:lstStyle/>
            <a:p>
              <a:pPr algn="ctr">
                <a:lnSpc>
                  <a:spcPts val="4619"/>
                </a:lnSpc>
              </a:pPr>
              <a:r>
                <a:rPr lang="en-US" sz="2800">
                  <a:solidFill>
                    <a:srgbClr val="FFFFFF"/>
                  </a:solidFill>
                  <a:latin typeface="#9Slide01 Tieu de ngan" panose="00000800000000000000" pitchFamily="2" charset="-93"/>
                </a:rPr>
                <a:t>Scrum</a:t>
              </a:r>
            </a:p>
          </p:txBody>
        </p:sp>
      </p:grpSp>
      <p:grpSp>
        <p:nvGrpSpPr>
          <p:cNvPr id="18" name="Group 18"/>
          <p:cNvGrpSpPr/>
          <p:nvPr/>
        </p:nvGrpSpPr>
        <p:grpSpPr>
          <a:xfrm>
            <a:off x="7896709" y="1017397"/>
            <a:ext cx="2494584" cy="2494582"/>
            <a:chOff x="0" y="0"/>
            <a:chExt cx="812800" cy="812800"/>
          </a:xfrm>
          <a:solidFill>
            <a:schemeClr val="accent1"/>
          </a:solidFill>
        </p:grpSpPr>
        <p:sp>
          <p:nvSpPr>
            <p:cNvPr id="19" name="Freeform 19"/>
            <p:cNvSpPr/>
            <p:nvPr/>
          </p:nvSpPr>
          <p:spPr>
            <a:xfrm>
              <a:off x="1813" y="0"/>
              <a:ext cx="809173" cy="812800"/>
            </a:xfrm>
            <a:prstGeom prst="ellipse">
              <a:avLst/>
            </a:prstGeom>
            <a:grpFill/>
          </p:spPr>
        </p:sp>
        <p:sp>
          <p:nvSpPr>
            <p:cNvPr id="20" name="TextBox 20"/>
            <p:cNvSpPr txBox="1"/>
            <p:nvPr/>
          </p:nvSpPr>
          <p:spPr>
            <a:xfrm>
              <a:off x="76200" y="9525"/>
              <a:ext cx="660400" cy="727075"/>
            </a:xfrm>
            <a:prstGeom prst="ellipse">
              <a:avLst/>
            </a:prstGeom>
            <a:grpFill/>
          </p:spPr>
          <p:txBody>
            <a:bodyPr lIns="50800" tIns="50800" rIns="50800" bIns="50800" rtlCol="0" anchor="ctr"/>
            <a:lstStyle/>
            <a:p>
              <a:pPr algn="ctr">
                <a:lnSpc>
                  <a:spcPts val="3499"/>
                </a:lnSpc>
              </a:pPr>
              <a:r>
                <a:rPr lang="en-US">
                  <a:solidFill>
                    <a:srgbClr val="FFFFFF"/>
                  </a:solidFill>
                  <a:latin typeface="#9Slide01 Tieu de ngan" panose="00000800000000000000" pitchFamily="2" charset="-93"/>
                </a:rPr>
                <a:t>Đội hình Scrum</a:t>
              </a:r>
            </a:p>
          </p:txBody>
        </p:sp>
      </p:grpSp>
      <p:grpSp>
        <p:nvGrpSpPr>
          <p:cNvPr id="21" name="Group 21"/>
          <p:cNvGrpSpPr/>
          <p:nvPr/>
        </p:nvGrpSpPr>
        <p:grpSpPr>
          <a:xfrm>
            <a:off x="4051527" y="5337970"/>
            <a:ext cx="1723181" cy="1723181"/>
            <a:chOff x="0" y="0"/>
            <a:chExt cx="812800" cy="812800"/>
          </a:xfrm>
          <a:solidFill>
            <a:schemeClr val="accent1"/>
          </a:solidFill>
        </p:grpSpPr>
        <p:sp>
          <p:nvSpPr>
            <p:cNvPr id="22" name="Freeform 22"/>
            <p:cNvSpPr/>
            <p:nvPr/>
          </p:nvSpPr>
          <p:spPr>
            <a:xfrm>
              <a:off x="1813" y="0"/>
              <a:ext cx="809173" cy="812800"/>
            </a:xfrm>
            <a:prstGeom prst="ellipse">
              <a:avLst/>
            </a:prstGeom>
            <a:grpFill/>
          </p:spPr>
        </p:sp>
        <p:sp>
          <p:nvSpPr>
            <p:cNvPr id="23" name="TextBox 23"/>
            <p:cNvSpPr txBox="1"/>
            <p:nvPr/>
          </p:nvSpPr>
          <p:spPr>
            <a:xfrm>
              <a:off x="76200" y="9525"/>
              <a:ext cx="660400" cy="727075"/>
            </a:xfrm>
            <a:prstGeom prst="ellipse">
              <a:avLst/>
            </a:prstGeom>
            <a:grpFill/>
          </p:spPr>
          <p:txBody>
            <a:bodyPr lIns="50800" tIns="50800" rIns="50800" bIns="50800" rtlCol="0" anchor="ctr"/>
            <a:lstStyle/>
            <a:p>
              <a:pPr algn="ctr">
                <a:lnSpc>
                  <a:spcPts val="3499"/>
                </a:lnSpc>
              </a:pPr>
              <a:r>
                <a:rPr lang="en-US" sz="2499">
                  <a:solidFill>
                    <a:srgbClr val="FFFFFF"/>
                  </a:solidFill>
                  <a:latin typeface="#9Slide01 Tieu de ngan" panose="00000800000000000000" pitchFamily="2" charset="-93"/>
                </a:rPr>
                <a:t>Đồ nghề</a:t>
              </a:r>
            </a:p>
          </p:txBody>
        </p:sp>
      </p:grpSp>
      <p:grpSp>
        <p:nvGrpSpPr>
          <p:cNvPr id="24" name="Group 24"/>
          <p:cNvGrpSpPr/>
          <p:nvPr/>
        </p:nvGrpSpPr>
        <p:grpSpPr>
          <a:xfrm>
            <a:off x="12564492" y="5329501"/>
            <a:ext cx="1774592" cy="1774592"/>
            <a:chOff x="0" y="0"/>
            <a:chExt cx="812800" cy="812800"/>
          </a:xfrm>
          <a:solidFill>
            <a:schemeClr val="accent1"/>
          </a:solidFill>
        </p:grpSpPr>
        <p:sp>
          <p:nvSpPr>
            <p:cNvPr id="25" name="Freeform 25"/>
            <p:cNvSpPr/>
            <p:nvPr/>
          </p:nvSpPr>
          <p:spPr>
            <a:xfrm>
              <a:off x="1813" y="0"/>
              <a:ext cx="809173" cy="812800"/>
            </a:xfrm>
            <a:prstGeom prst="ellipse">
              <a:avLst/>
            </a:prstGeom>
            <a:grpFill/>
          </p:spPr>
        </p:sp>
        <p:sp>
          <p:nvSpPr>
            <p:cNvPr id="26" name="TextBox 26"/>
            <p:cNvSpPr txBox="1"/>
            <p:nvPr/>
          </p:nvSpPr>
          <p:spPr>
            <a:xfrm>
              <a:off x="76200" y="9525"/>
              <a:ext cx="660400" cy="727075"/>
            </a:xfrm>
            <a:prstGeom prst="ellipse">
              <a:avLst/>
            </a:prstGeom>
            <a:grpFill/>
          </p:spPr>
          <p:txBody>
            <a:bodyPr lIns="50800" tIns="50800" rIns="50800" bIns="50800" rtlCol="0" anchor="ctr"/>
            <a:lstStyle/>
            <a:p>
              <a:pPr algn="ctr">
                <a:lnSpc>
                  <a:spcPts val="3499"/>
                </a:lnSpc>
              </a:pPr>
              <a:r>
                <a:rPr lang="en-US" sz="2499">
                  <a:solidFill>
                    <a:srgbClr val="FFFFFF"/>
                  </a:solidFill>
                  <a:latin typeface="#9Slide01 Tieu de ngan" panose="00000800000000000000" pitchFamily="2" charset="-93"/>
                </a:rPr>
                <a:t>Hộp thời gian</a:t>
              </a:r>
            </a:p>
          </p:txBody>
        </p:sp>
      </p:grpSp>
      <p:pic>
        <p:nvPicPr>
          <p:cNvPr id="27" name="Picture 27"/>
          <p:cNvPicPr>
            <a:picLocks noChangeAspect="1"/>
          </p:cNvPicPr>
          <p:nvPr/>
        </p:nvPicPr>
        <p:blipFill>
          <a:blip r:embed="rId4"/>
          <a:srcRect/>
          <a:stretch>
            <a:fillRect/>
          </a:stretch>
        </p:blipFill>
        <p:spPr>
          <a:xfrm rot="-5400000">
            <a:off x="8855800" y="3454303"/>
            <a:ext cx="595450" cy="267952"/>
          </a:xfrm>
          <a:prstGeom prst="rect">
            <a:avLst/>
          </a:prstGeom>
        </p:spPr>
      </p:pic>
      <p:sp>
        <p:nvSpPr>
          <p:cNvPr id="28" name="TextBox 28"/>
          <p:cNvSpPr txBox="1"/>
          <p:nvPr/>
        </p:nvSpPr>
        <p:spPr>
          <a:xfrm>
            <a:off x="3191249" y="38100"/>
            <a:ext cx="11905503" cy="930960"/>
          </a:xfrm>
          <a:prstGeom prst="rect">
            <a:avLst/>
          </a:prstGeom>
        </p:spPr>
        <p:txBody>
          <a:bodyPr wrap="none" lIns="0" tIns="0" rIns="0" bIns="0" rtlCol="0" anchor="t">
            <a:spAutoFit/>
          </a:bodyPr>
          <a:lstStyle/>
          <a:p>
            <a:pPr>
              <a:lnSpc>
                <a:spcPts val="7758"/>
              </a:lnSpc>
            </a:pPr>
            <a:r>
              <a:rPr lang="en-US" sz="6000">
                <a:solidFill>
                  <a:srgbClr val="F12711"/>
                </a:solidFill>
                <a:latin typeface="#9Slide01 Tieu de ngan" panose="00000800000000000000" pitchFamily="2" charset="-93"/>
              </a:rPr>
              <a:t>Tổng quan về mô hình Scrum</a:t>
            </a:r>
          </a:p>
        </p:txBody>
      </p:sp>
      <p:sp>
        <p:nvSpPr>
          <p:cNvPr id="29" name="TextBox 29"/>
          <p:cNvSpPr txBox="1"/>
          <p:nvPr/>
        </p:nvSpPr>
        <p:spPr>
          <a:xfrm rot="4166800">
            <a:off x="9793676" y="5436070"/>
            <a:ext cx="2012386" cy="411908"/>
          </a:xfrm>
          <a:prstGeom prst="rect">
            <a:avLst/>
          </a:prstGeom>
        </p:spPr>
        <p:txBody>
          <a:bodyPr lIns="0" tIns="0" rIns="0" bIns="0" rtlCol="0" anchor="t">
            <a:spAutoFit/>
          </a:bodyPr>
          <a:lstStyle/>
          <a:p>
            <a:pPr algn="ctr">
              <a:lnSpc>
                <a:spcPts val="3499"/>
              </a:lnSpc>
              <a:spcBef>
                <a:spcPct val="0"/>
              </a:spcBef>
            </a:pPr>
            <a:r>
              <a:rPr lang="en-US" sz="2499">
                <a:solidFill>
                  <a:srgbClr val="FDFEFD"/>
                </a:solidFill>
                <a:latin typeface="#9Slide01 Tieu de ngan" panose="00000800000000000000" pitchFamily="2" charset="-93"/>
              </a:rPr>
              <a:t>Minh Bạch</a:t>
            </a:r>
          </a:p>
        </p:txBody>
      </p:sp>
      <p:sp>
        <p:nvSpPr>
          <p:cNvPr id="30" name="TextBox 30"/>
          <p:cNvSpPr txBox="1"/>
          <p:nvPr/>
        </p:nvSpPr>
        <p:spPr>
          <a:xfrm>
            <a:off x="8252781" y="7585795"/>
            <a:ext cx="2012386" cy="411908"/>
          </a:xfrm>
          <a:prstGeom prst="rect">
            <a:avLst/>
          </a:prstGeom>
        </p:spPr>
        <p:txBody>
          <a:bodyPr lIns="0" tIns="0" rIns="0" bIns="0" rtlCol="0" anchor="t">
            <a:spAutoFit/>
          </a:bodyPr>
          <a:lstStyle/>
          <a:p>
            <a:pPr algn="ctr">
              <a:lnSpc>
                <a:spcPts val="3499"/>
              </a:lnSpc>
              <a:spcBef>
                <a:spcPct val="0"/>
              </a:spcBef>
            </a:pPr>
            <a:r>
              <a:rPr lang="en-US" sz="2499">
                <a:solidFill>
                  <a:srgbClr val="FDFEFD"/>
                </a:solidFill>
                <a:latin typeface="#9Slide01 Tieu de ngan" panose="00000800000000000000" pitchFamily="2" charset="-93"/>
              </a:rPr>
              <a:t>Thích nghi</a:t>
            </a:r>
          </a:p>
        </p:txBody>
      </p:sp>
      <p:sp>
        <p:nvSpPr>
          <p:cNvPr id="31" name="TextBox 31"/>
          <p:cNvSpPr txBox="1"/>
          <p:nvPr/>
        </p:nvSpPr>
        <p:spPr>
          <a:xfrm rot="-4431748">
            <a:off x="6847815" y="5276080"/>
            <a:ext cx="2012386" cy="879475"/>
          </a:xfrm>
          <a:prstGeom prst="rect">
            <a:avLst/>
          </a:prstGeom>
        </p:spPr>
        <p:txBody>
          <a:bodyPr lIns="0" tIns="0" rIns="0" bIns="0" rtlCol="0" anchor="t">
            <a:spAutoFit/>
          </a:bodyPr>
          <a:lstStyle/>
          <a:p>
            <a:pPr algn="ctr">
              <a:lnSpc>
                <a:spcPts val="3499"/>
              </a:lnSpc>
            </a:pPr>
            <a:r>
              <a:rPr lang="en-US" sz="2499">
                <a:solidFill>
                  <a:srgbClr val="FDFEFD"/>
                </a:solidFill>
                <a:latin typeface="#9Slide01 Tieu de ngan" panose="00000800000000000000" pitchFamily="2" charset="-93"/>
              </a:rPr>
              <a:t>Thanh tra</a:t>
            </a:r>
          </a:p>
          <a:p>
            <a:pPr algn="ctr">
              <a:lnSpc>
                <a:spcPts val="3499"/>
              </a:lnSpc>
              <a:spcBef>
                <a:spcPct val="0"/>
              </a:spcBef>
            </a:pPr>
            <a:endParaRPr lang="en-US" sz="2499">
              <a:solidFill>
                <a:srgbClr val="FDFEFD"/>
              </a:solidFill>
              <a:latin typeface="#9Slide01 Tieu de ngan" panose="00000800000000000000" pitchFamily="2" charset="-93"/>
            </a:endParaRPr>
          </a:p>
        </p:txBody>
      </p:sp>
      <p:pic>
        <p:nvPicPr>
          <p:cNvPr id="32" name="Picture 32"/>
          <p:cNvPicPr>
            <a:picLocks noChangeAspect="1"/>
          </p:cNvPicPr>
          <p:nvPr/>
        </p:nvPicPr>
        <p:blipFill>
          <a:blip r:embed="rId4"/>
          <a:srcRect/>
          <a:stretch>
            <a:fillRect/>
          </a:stretch>
        </p:blipFill>
        <p:spPr>
          <a:xfrm rot="-10800000">
            <a:off x="6101678" y="6179322"/>
            <a:ext cx="618657" cy="278396"/>
          </a:xfrm>
          <a:prstGeom prst="rect">
            <a:avLst/>
          </a:prstGeom>
        </p:spPr>
      </p:pic>
      <p:pic>
        <p:nvPicPr>
          <p:cNvPr id="33" name="Picture 33"/>
          <p:cNvPicPr>
            <a:picLocks noChangeAspect="1"/>
          </p:cNvPicPr>
          <p:nvPr/>
        </p:nvPicPr>
        <p:blipFill>
          <a:blip r:embed="rId4"/>
          <a:srcRect/>
          <a:stretch>
            <a:fillRect/>
          </a:stretch>
        </p:blipFill>
        <p:spPr>
          <a:xfrm rot="-10800000" flipH="1">
            <a:off x="11564101" y="6051717"/>
            <a:ext cx="733692" cy="3301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7566" y="109220"/>
            <a:ext cx="10712869" cy="912942"/>
          </a:xfrm>
          <a:prstGeom prst="rect">
            <a:avLst/>
          </a:prstGeom>
        </p:spPr>
        <p:txBody>
          <a:bodyPr wrap="none" lIns="0" tIns="0" rIns="0" bIns="0" rtlCol="0" anchor="t">
            <a:spAutoFit/>
          </a:bodyPr>
          <a:lstStyle/>
          <a:p>
            <a:pPr>
              <a:lnSpc>
                <a:spcPts val="7758"/>
              </a:lnSpc>
            </a:pPr>
            <a:r>
              <a:rPr lang="en-US" sz="5400">
                <a:solidFill>
                  <a:srgbClr val="F12711"/>
                </a:solidFill>
                <a:latin typeface="#9Slide01 Tieu de ngan" panose="00000800000000000000" pitchFamily="2" charset="-93"/>
              </a:rPr>
              <a:t>Tổng quan về mô hình Scrum</a:t>
            </a:r>
          </a:p>
        </p:txBody>
      </p:sp>
      <p:grpSp>
        <p:nvGrpSpPr>
          <p:cNvPr id="3" name="Group 3"/>
          <p:cNvGrpSpPr/>
          <p:nvPr/>
        </p:nvGrpSpPr>
        <p:grpSpPr>
          <a:xfrm>
            <a:off x="16744950" y="8833004"/>
            <a:ext cx="3086100" cy="3086100"/>
            <a:chOff x="0" y="0"/>
            <a:chExt cx="812800" cy="812800"/>
          </a:xfrm>
          <a:solidFill>
            <a:schemeClr val="tx1"/>
          </a:solidFill>
        </p:grpSpPr>
        <p:sp>
          <p:nvSpPr>
            <p:cNvPr id="4" name="Freeform 4"/>
            <p:cNvSpPr/>
            <p:nvPr/>
          </p:nvSpPr>
          <p:spPr>
            <a:xfrm>
              <a:off x="1813" y="0"/>
              <a:ext cx="809173" cy="812800"/>
            </a:xfrm>
            <a:prstGeom prst="ellipse">
              <a:avLst/>
            </a:prstGeom>
            <a:grpFill/>
          </p:spPr>
        </p:sp>
        <p:sp>
          <p:nvSpPr>
            <p:cNvPr id="5" name="TextBox 5"/>
            <p:cNvSpPr txBox="1"/>
            <p:nvPr/>
          </p:nvSpPr>
          <p:spPr>
            <a:xfrm>
              <a:off x="76200" y="19050"/>
              <a:ext cx="660400" cy="717550"/>
            </a:xfrm>
            <a:prstGeom prst="ellipse">
              <a:avLst/>
            </a:prstGeom>
            <a:grpFill/>
          </p:spPr>
          <p:txBody>
            <a:bodyPr lIns="50800" tIns="50800" rIns="50800" bIns="50800" rtlCol="0" anchor="ctr"/>
            <a:lstStyle/>
            <a:p>
              <a:pPr algn="ctr">
                <a:lnSpc>
                  <a:spcPts val="2659"/>
                </a:lnSpc>
              </a:pPr>
              <a:endParaRPr/>
            </a:p>
          </p:txBody>
        </p:sp>
      </p:grpSp>
      <p:grpSp>
        <p:nvGrpSpPr>
          <p:cNvPr id="6" name="Group 6"/>
          <p:cNvGrpSpPr/>
          <p:nvPr/>
        </p:nvGrpSpPr>
        <p:grpSpPr>
          <a:xfrm>
            <a:off x="-1147751" y="-821413"/>
            <a:ext cx="3086100" cy="3086100"/>
            <a:chOff x="0" y="0"/>
            <a:chExt cx="812800" cy="812800"/>
          </a:xfrm>
        </p:grpSpPr>
        <p:sp>
          <p:nvSpPr>
            <p:cNvPr id="7" name="Freeform 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763973" y="1401077"/>
            <a:ext cx="6760055" cy="6760055"/>
            <a:chOff x="0" y="0"/>
            <a:chExt cx="9013407" cy="9013407"/>
          </a:xfrm>
        </p:grpSpPr>
        <p:grpSp>
          <p:nvGrpSpPr>
            <p:cNvPr id="13" name="Group 13"/>
            <p:cNvGrpSpPr/>
            <p:nvPr/>
          </p:nvGrpSpPr>
          <p:grpSpPr>
            <a:xfrm>
              <a:off x="0" y="0"/>
              <a:ext cx="9013407" cy="9013407"/>
              <a:chOff x="0" y="0"/>
              <a:chExt cx="812800" cy="812800"/>
            </a:xfrm>
          </p:grpSpPr>
          <p:sp>
            <p:nvSpPr>
              <p:cNvPr id="14" name="Freeform 14"/>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23604"/>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grpSp>
          <p:nvGrpSpPr>
            <p:cNvPr id="16" name="Group 16"/>
            <p:cNvGrpSpPr/>
            <p:nvPr/>
          </p:nvGrpSpPr>
          <p:grpSpPr>
            <a:xfrm>
              <a:off x="1884629" y="1884629"/>
              <a:ext cx="5244149" cy="5244149"/>
              <a:chOff x="0" y="0"/>
              <a:chExt cx="812800" cy="812800"/>
            </a:xfrm>
          </p:grpSpPr>
          <p:sp>
            <p:nvSpPr>
              <p:cNvPr id="17" name="Freeform 1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chemeClr val="accent1"/>
              </a:solidFill>
            </p:spPr>
            <p:txBody>
              <a:bodyPr/>
              <a:lstStyle/>
              <a:p>
                <a:endParaRPr lang="en-US">
                  <a:solidFill>
                    <a:schemeClr val="accent3"/>
                  </a:solidFill>
                </a:endParaRPr>
              </a:p>
            </p:txBody>
          </p:sp>
          <p:sp>
            <p:nvSpPr>
              <p:cNvPr id="18" name="TextBox 18"/>
              <p:cNvSpPr txBox="1"/>
              <p:nvPr/>
            </p:nvSpPr>
            <p:spPr>
              <a:xfrm>
                <a:off x="76200" y="-19050"/>
                <a:ext cx="660400" cy="755650"/>
              </a:xfrm>
              <a:prstGeom prst="rect">
                <a:avLst/>
              </a:prstGeom>
            </p:spPr>
            <p:txBody>
              <a:bodyPr lIns="50800" tIns="50800" rIns="50800" bIns="50800" rtlCol="0" anchor="ctr"/>
              <a:lstStyle/>
              <a:p>
                <a:pPr algn="ctr">
                  <a:lnSpc>
                    <a:spcPts val="4619"/>
                  </a:lnSpc>
                </a:pPr>
                <a:r>
                  <a:rPr lang="en-US" sz="3299">
                    <a:solidFill>
                      <a:srgbClr val="FFFFFF"/>
                    </a:solidFill>
                    <a:latin typeface="Poppins Bold"/>
                  </a:rPr>
                  <a:t>Scrum</a:t>
                </a:r>
              </a:p>
            </p:txBody>
          </p:sp>
        </p:grpSp>
        <p:sp>
          <p:nvSpPr>
            <p:cNvPr id="19" name="TextBox 19"/>
            <p:cNvSpPr txBox="1"/>
            <p:nvPr/>
          </p:nvSpPr>
          <p:spPr>
            <a:xfrm rot="4166800">
              <a:off x="5659614" y="3149285"/>
              <a:ext cx="4211583" cy="888855"/>
            </a:xfrm>
            <a:prstGeom prst="rect">
              <a:avLst/>
            </a:prstGeom>
          </p:spPr>
          <p:txBody>
            <a:bodyPr lIns="0" tIns="0" rIns="0" bIns="0" rtlCol="0" anchor="t">
              <a:spAutoFit/>
            </a:bodyPr>
            <a:lstStyle/>
            <a:p>
              <a:pPr algn="ctr">
                <a:lnSpc>
                  <a:spcPts val="5493"/>
                </a:lnSpc>
                <a:spcBef>
                  <a:spcPct val="0"/>
                </a:spcBef>
              </a:pPr>
              <a:r>
                <a:rPr lang="en-US" sz="3924">
                  <a:solidFill>
                    <a:srgbClr val="FDFEFD"/>
                  </a:solidFill>
                  <a:latin typeface="#9Slide01 Tieu de ngan" panose="00000800000000000000" pitchFamily="2" charset="-93"/>
                </a:rPr>
                <a:t>Minh Bạch</a:t>
              </a:r>
            </a:p>
          </p:txBody>
        </p:sp>
        <p:sp>
          <p:nvSpPr>
            <p:cNvPr id="20" name="TextBox 20"/>
            <p:cNvSpPr txBox="1"/>
            <p:nvPr/>
          </p:nvSpPr>
          <p:spPr>
            <a:xfrm>
              <a:off x="2425556" y="7519279"/>
              <a:ext cx="4211583" cy="888855"/>
            </a:xfrm>
            <a:prstGeom prst="rect">
              <a:avLst/>
            </a:prstGeom>
          </p:spPr>
          <p:txBody>
            <a:bodyPr lIns="0" tIns="0" rIns="0" bIns="0" rtlCol="0" anchor="t">
              <a:spAutoFit/>
            </a:bodyPr>
            <a:lstStyle/>
            <a:p>
              <a:pPr algn="ctr">
                <a:lnSpc>
                  <a:spcPts val="5493"/>
                </a:lnSpc>
                <a:spcBef>
                  <a:spcPct val="0"/>
                </a:spcBef>
              </a:pPr>
              <a:r>
                <a:rPr lang="en-US" sz="3924">
                  <a:solidFill>
                    <a:srgbClr val="FDFEFD"/>
                  </a:solidFill>
                  <a:latin typeface="#9Slide01 Tieu de ngan" panose="00000800000000000000" pitchFamily="2" charset="-93"/>
                </a:rPr>
                <a:t>Thích Nghi</a:t>
              </a:r>
            </a:p>
          </p:txBody>
        </p:sp>
        <p:sp>
          <p:nvSpPr>
            <p:cNvPr id="21" name="TextBox 21"/>
            <p:cNvSpPr txBox="1"/>
            <p:nvPr/>
          </p:nvSpPr>
          <p:spPr>
            <a:xfrm rot="-4431748">
              <a:off x="-282200" y="2792119"/>
              <a:ext cx="4211583" cy="1805829"/>
            </a:xfrm>
            <a:prstGeom prst="rect">
              <a:avLst/>
            </a:prstGeom>
          </p:spPr>
          <p:txBody>
            <a:bodyPr lIns="0" tIns="0" rIns="0" bIns="0" rtlCol="0" anchor="t">
              <a:spAutoFit/>
            </a:bodyPr>
            <a:lstStyle/>
            <a:p>
              <a:pPr algn="ctr">
                <a:lnSpc>
                  <a:spcPts val="5493"/>
                </a:lnSpc>
              </a:pPr>
              <a:r>
                <a:rPr lang="en-US" sz="3924">
                  <a:solidFill>
                    <a:srgbClr val="FDFEFD"/>
                  </a:solidFill>
                  <a:latin typeface="#9Slide01 Tieu de ngan" panose="00000800000000000000" pitchFamily="2" charset="-93"/>
                </a:rPr>
                <a:t>Thanh Tra</a:t>
              </a:r>
            </a:p>
            <a:p>
              <a:pPr algn="ctr">
                <a:lnSpc>
                  <a:spcPts val="5493"/>
                </a:lnSpc>
                <a:spcBef>
                  <a:spcPct val="0"/>
                </a:spcBef>
              </a:pPr>
              <a:endParaRPr lang="en-US" sz="3924">
                <a:solidFill>
                  <a:srgbClr val="FDFEFD"/>
                </a:solidFill>
                <a:latin typeface="#9Slide01 Tieu de ngan" panose="00000800000000000000" pitchFamily="2" charset="-93"/>
              </a:endParaRPr>
            </a:p>
          </p:txBody>
        </p:sp>
      </p:grpSp>
      <p:sp>
        <p:nvSpPr>
          <p:cNvPr id="22" name="TextBox 22"/>
          <p:cNvSpPr txBox="1"/>
          <p:nvPr/>
        </p:nvSpPr>
        <p:spPr>
          <a:xfrm>
            <a:off x="4592273" y="8720525"/>
            <a:ext cx="9103454" cy="1013098"/>
          </a:xfrm>
          <a:prstGeom prst="rect">
            <a:avLst/>
          </a:prstGeom>
        </p:spPr>
        <p:txBody>
          <a:bodyPr wrap="none" lIns="0" tIns="0" rIns="0" bIns="0" rtlCol="0" anchor="t">
            <a:spAutoFit/>
          </a:bodyPr>
          <a:lstStyle/>
          <a:p>
            <a:pPr>
              <a:lnSpc>
                <a:spcPts val="7894"/>
              </a:lnSpc>
            </a:pPr>
            <a:r>
              <a:rPr lang="en-US" sz="6924">
                <a:latin typeface="#9Slide01 Tieu de ngan" panose="00000800000000000000" pitchFamily="2" charset="-93"/>
              </a:rPr>
              <a:t>3 trụ cột của Scrum</a:t>
            </a:r>
          </a:p>
        </p:txBody>
      </p:sp>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15">
            <a:extLst>
              <a:ext uri="{FF2B5EF4-FFF2-40B4-BE49-F238E27FC236}">
                <a16:creationId xmlns:a16="http://schemas.microsoft.com/office/drawing/2014/main" id="{E966B18F-7384-4D59-96FF-8C84A62C96E9}"/>
              </a:ext>
            </a:extLst>
          </p:cNvPr>
          <p:cNvSpPr/>
          <p:nvPr/>
        </p:nvSpPr>
        <p:spPr>
          <a:xfrm>
            <a:off x="-152400" y="-26198"/>
            <a:ext cx="184404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pic>
        <p:nvPicPr>
          <p:cNvPr id="8" name="Picture 8"/>
          <p:cNvPicPr>
            <a:picLocks noChangeAspect="1"/>
          </p:cNvPicPr>
          <p:nvPr/>
        </p:nvPicPr>
        <p:blipFill>
          <a:blip r:embed="rId2"/>
          <a:srcRect/>
          <a:stretch>
            <a:fillRect/>
          </a:stretch>
        </p:blipFill>
        <p:spPr>
          <a:xfrm>
            <a:off x="1981200" y="2360711"/>
            <a:ext cx="13050819" cy="7917497"/>
          </a:xfrm>
          <a:prstGeom prst="rect">
            <a:avLst/>
          </a:prstGeom>
        </p:spPr>
      </p:pic>
      <p:sp>
        <p:nvSpPr>
          <p:cNvPr id="9" name="TextBox 9"/>
          <p:cNvSpPr txBox="1"/>
          <p:nvPr/>
        </p:nvSpPr>
        <p:spPr>
          <a:xfrm>
            <a:off x="6328325" y="418243"/>
            <a:ext cx="5631350" cy="922560"/>
          </a:xfrm>
          <a:prstGeom prst="rect">
            <a:avLst/>
          </a:prstGeom>
        </p:spPr>
        <p:txBody>
          <a:bodyPr wrap="none" lIns="0" tIns="0" rIns="0" bIns="0" rtlCol="0" anchor="t">
            <a:spAutoFit/>
          </a:bodyPr>
          <a:lstStyle/>
          <a:p>
            <a:pPr>
              <a:lnSpc>
                <a:spcPts val="7894"/>
              </a:lnSpc>
            </a:pPr>
            <a:r>
              <a:rPr lang="en-US" sz="5400">
                <a:solidFill>
                  <a:srgbClr val="F12711"/>
                </a:solidFill>
                <a:latin typeface="#9Slide01 Tieu de ngan" panose="00000800000000000000" pitchFamily="2" charset="-93"/>
              </a:rPr>
              <a:t>Đội hình Scrum</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5">
            <a:extLst>
              <a:ext uri="{FF2B5EF4-FFF2-40B4-BE49-F238E27FC236}">
                <a16:creationId xmlns:a16="http://schemas.microsoft.com/office/drawing/2014/main" id="{D3E73876-23DD-43D9-84E3-5CF3D884864F}"/>
              </a:ext>
            </a:extLst>
          </p:cNvPr>
          <p:cNvSpPr/>
          <p:nvPr/>
        </p:nvSpPr>
        <p:spPr>
          <a:xfrm>
            <a:off x="-152400" y="-26198"/>
            <a:ext cx="9296400" cy="1955407"/>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3" name="TextBox 9">
            <a:extLst>
              <a:ext uri="{FF2B5EF4-FFF2-40B4-BE49-F238E27FC236}">
                <a16:creationId xmlns:a16="http://schemas.microsoft.com/office/drawing/2014/main" id="{57DD3F1A-A847-4071-AEA1-26A16F61FC96}"/>
              </a:ext>
            </a:extLst>
          </p:cNvPr>
          <p:cNvSpPr txBox="1"/>
          <p:nvPr/>
        </p:nvSpPr>
        <p:spPr>
          <a:xfrm>
            <a:off x="1975077" y="490225"/>
            <a:ext cx="5041445" cy="922560"/>
          </a:xfrm>
          <a:prstGeom prst="rect">
            <a:avLst/>
          </a:prstGeom>
        </p:spPr>
        <p:txBody>
          <a:bodyPr wrap="none" lIns="0" tIns="0" rIns="0" bIns="0" rtlCol="0" anchor="t">
            <a:spAutoFit/>
          </a:bodyPr>
          <a:lstStyle/>
          <a:p>
            <a:pPr>
              <a:lnSpc>
                <a:spcPts val="7894"/>
              </a:lnSpc>
            </a:pPr>
            <a:r>
              <a:rPr lang="en-US" sz="5400">
                <a:solidFill>
                  <a:srgbClr val="F12711"/>
                </a:solidFill>
                <a:latin typeface="#9Slide01 Tieu de ngan" panose="00000800000000000000" pitchFamily="2" charset="-93"/>
              </a:rPr>
              <a:t>Scrum Master</a:t>
            </a:r>
          </a:p>
        </p:txBody>
      </p:sp>
      <p:sp>
        <p:nvSpPr>
          <p:cNvPr id="4" name="Rectangle 3">
            <a:extLst>
              <a:ext uri="{FF2B5EF4-FFF2-40B4-BE49-F238E27FC236}">
                <a16:creationId xmlns:a16="http://schemas.microsoft.com/office/drawing/2014/main" id="{6B2D0239-36D1-45A1-BEDA-EE38734D9525}"/>
              </a:ext>
            </a:extLst>
          </p:cNvPr>
          <p:cNvSpPr>
            <a:spLocks noChangeAspect="1"/>
          </p:cNvSpPr>
          <p:nvPr>
            <p:custDataLst>
              <p:tags r:id="rId1"/>
            </p:custDataLst>
          </p:nvPr>
        </p:nvSpPr>
        <p:spPr>
          <a:xfrm>
            <a:off x="9220200" y="0"/>
            <a:ext cx="9144000" cy="10287000"/>
          </a:xfrm>
          <a:prstGeom prst="rect">
            <a:avLst/>
          </a:prstGeom>
          <a:blipFill dpi="0" rotWithShape="0">
            <a:blip r:embed="rId3">
              <a:alphaModFix/>
              <a:extLst>
                <a:ext uri="{28A0092B-C50C-407E-A947-70E740481C1C}">
                  <a14:useLocalDpi xmlns:a14="http://schemas.microsoft.com/office/drawing/2010/main" val="0"/>
                </a:ext>
              </a:extLst>
            </a:blip>
            <a:srcRect/>
            <a:stretch>
              <a:fillRect l="-30205" r="-3020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636209-84D5-473E-A39E-EC82CF1207AD}"/>
              </a:ext>
            </a:extLst>
          </p:cNvPr>
          <p:cNvSpPr txBox="1"/>
          <p:nvPr/>
        </p:nvSpPr>
        <p:spPr>
          <a:xfrm>
            <a:off x="515815" y="3695700"/>
            <a:ext cx="7772400" cy="2282676"/>
          </a:xfrm>
          <a:prstGeom prst="rect">
            <a:avLst/>
          </a:prstGeom>
          <a:noFill/>
        </p:spPr>
        <p:txBody>
          <a:bodyPr wrap="square" rtlCol="0">
            <a:spAutoFit/>
          </a:bodyPr>
          <a:lstStyle/>
          <a:p>
            <a:pPr>
              <a:lnSpc>
                <a:spcPct val="130000"/>
              </a:lnSpc>
            </a:pPr>
            <a:r>
              <a:rPr lang="vi-VN" sz="2800" b="0" i="0" spc="20">
                <a:effectLst/>
                <a:latin typeface="#9Slide02 Noi dung dai" panose="02000000000000000000" pitchFamily="2" charset="0"/>
                <a:ea typeface="#9Slide02 Noi dung dai" panose="02000000000000000000" pitchFamily="2" charset="0"/>
              </a:rPr>
              <a:t>Chịu trách nhiệm đảm bảo toàn bộ nhóm Scrum tuân thủ và được hưởng lợi từ các giá trị của Scrum, các kĩ thuật cũng như các quy tắc của Scrum</a:t>
            </a:r>
            <a:endParaRPr lang="en-US" sz="2800" spc="20">
              <a:latin typeface="#9Slide02 Noi dung dai" panose="02000000000000000000" pitchFamily="2" charset="0"/>
              <a:ea typeface="#9Slide02 Noi dung dai" panose="02000000000000000000" pitchFamily="2" charset="0"/>
            </a:endParaRPr>
          </a:p>
        </p:txBody>
      </p:sp>
      <p:sp>
        <p:nvSpPr>
          <p:cNvPr id="6" name="TextBox 5">
            <a:extLst>
              <a:ext uri="{FF2B5EF4-FFF2-40B4-BE49-F238E27FC236}">
                <a16:creationId xmlns:a16="http://schemas.microsoft.com/office/drawing/2014/main" id="{8E360B17-EE76-4EA8-8DDC-B418C371A1EE}"/>
              </a:ext>
            </a:extLst>
          </p:cNvPr>
          <p:cNvSpPr txBox="1"/>
          <p:nvPr/>
        </p:nvSpPr>
        <p:spPr>
          <a:xfrm>
            <a:off x="515815" y="2577633"/>
            <a:ext cx="2693045" cy="740972"/>
          </a:xfrm>
          <a:prstGeom prst="rect">
            <a:avLst/>
          </a:prstGeom>
          <a:noFill/>
        </p:spPr>
        <p:txBody>
          <a:bodyPr wrap="none" rtlCol="0">
            <a:spAutoFit/>
          </a:bodyPr>
          <a:lstStyle/>
          <a:p>
            <a:pPr>
              <a:lnSpc>
                <a:spcPct val="130000"/>
              </a:lnSpc>
            </a:pPr>
            <a:r>
              <a:rPr lang="en-US" sz="3600" spc="20">
                <a:latin typeface="#9Slide01 Tieu de ngan" panose="00000800000000000000" pitchFamily="2" charset="-93"/>
                <a:ea typeface="#9Slide02 Noi dung dai" panose="02000000000000000000" pitchFamily="2" charset="0"/>
              </a:rPr>
              <a:t>NHIỆM VỤ</a:t>
            </a:r>
          </a:p>
        </p:txBody>
      </p:sp>
      <p:sp>
        <p:nvSpPr>
          <p:cNvPr id="7" name="TextBox 6">
            <a:extLst>
              <a:ext uri="{FF2B5EF4-FFF2-40B4-BE49-F238E27FC236}">
                <a16:creationId xmlns:a16="http://schemas.microsoft.com/office/drawing/2014/main" id="{24F62A6E-2B3B-47B0-9C40-13CA1D9D0DF1}"/>
              </a:ext>
            </a:extLst>
          </p:cNvPr>
          <p:cNvSpPr txBox="1"/>
          <p:nvPr/>
        </p:nvSpPr>
        <p:spPr>
          <a:xfrm>
            <a:off x="515815" y="8039100"/>
            <a:ext cx="7772400" cy="1313180"/>
          </a:xfrm>
          <a:prstGeom prst="rect">
            <a:avLst/>
          </a:prstGeom>
          <a:noFill/>
        </p:spPr>
        <p:txBody>
          <a:bodyPr wrap="square" rtlCol="0">
            <a:spAutoFit/>
          </a:bodyPr>
          <a:lstStyle/>
          <a:p>
            <a:pPr>
              <a:lnSpc>
                <a:spcPct val="150000"/>
              </a:lnSpc>
            </a:pPr>
            <a:r>
              <a:rPr lang="en-US" sz="2800" spc="20">
                <a:latin typeface="#9Slide02 Noi dung dai" panose="02000000000000000000" pitchFamily="2" charset="0"/>
                <a:ea typeface="#9Slide02 Noi dung dai" panose="02000000000000000000" pitchFamily="2" charset="0"/>
              </a:rPr>
              <a:t>Dẫn cả nhóm đi đúng hướng </a:t>
            </a:r>
          </a:p>
          <a:p>
            <a:pPr>
              <a:lnSpc>
                <a:spcPct val="150000"/>
              </a:lnSpc>
            </a:pPr>
            <a:r>
              <a:rPr lang="en-US" sz="2800" spc="20">
                <a:latin typeface="#9Slide02 Noi dung dai" panose="02000000000000000000" pitchFamily="2" charset="0"/>
                <a:ea typeface="#9Slide02 Noi dung dai" panose="02000000000000000000" pitchFamily="2" charset="0"/>
              </a:rPr>
              <a:t>Vừa là lãnh đạo, vừa là đầy tớ</a:t>
            </a:r>
          </a:p>
        </p:txBody>
      </p:sp>
      <p:sp>
        <p:nvSpPr>
          <p:cNvPr id="8" name="TextBox 7">
            <a:extLst>
              <a:ext uri="{FF2B5EF4-FFF2-40B4-BE49-F238E27FC236}">
                <a16:creationId xmlns:a16="http://schemas.microsoft.com/office/drawing/2014/main" id="{5289A76B-A0BB-4947-999C-1BD74AF5382A}"/>
              </a:ext>
            </a:extLst>
          </p:cNvPr>
          <p:cNvSpPr txBox="1"/>
          <p:nvPr/>
        </p:nvSpPr>
        <p:spPr>
          <a:xfrm>
            <a:off x="533400" y="7077686"/>
            <a:ext cx="5325817" cy="740972"/>
          </a:xfrm>
          <a:prstGeom prst="rect">
            <a:avLst/>
          </a:prstGeom>
          <a:noFill/>
        </p:spPr>
        <p:txBody>
          <a:bodyPr wrap="none" rtlCol="0">
            <a:spAutoFit/>
          </a:bodyPr>
          <a:lstStyle/>
          <a:p>
            <a:pPr>
              <a:lnSpc>
                <a:spcPct val="130000"/>
              </a:lnSpc>
            </a:pPr>
            <a:r>
              <a:rPr lang="en-US" sz="3600" spc="20">
                <a:latin typeface="#9Slide01 Tieu de ngan" panose="00000800000000000000" pitchFamily="2" charset="-93"/>
                <a:ea typeface="#9Slide02 Noi dung dai" panose="02000000000000000000" pitchFamily="2" charset="0"/>
              </a:rPr>
              <a:t>CÔNG VIỆC ĐẶC THÙ</a:t>
            </a:r>
          </a:p>
        </p:txBody>
      </p:sp>
    </p:spTree>
    <p:extLst>
      <p:ext uri="{BB962C8B-B14F-4D97-AF65-F5344CB8AC3E}">
        <p14:creationId xmlns:p14="http://schemas.microsoft.com/office/powerpoint/2010/main" val="31950826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818588" y="764833"/>
            <a:ext cx="16866635" cy="8812817"/>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535182" y="797390"/>
            <a:ext cx="17217637" cy="8692219"/>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49D57C-5090-46E8-8725-2D977C06C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89" y="2971800"/>
            <a:ext cx="18062222" cy="7315200"/>
          </a:xfrm>
          <a:prstGeom prst="rect">
            <a:avLst/>
          </a:prstGeom>
        </p:spPr>
      </p:pic>
      <p:sp>
        <p:nvSpPr>
          <p:cNvPr id="6" name="TextBox 9">
            <a:extLst>
              <a:ext uri="{FF2B5EF4-FFF2-40B4-BE49-F238E27FC236}">
                <a16:creationId xmlns:a16="http://schemas.microsoft.com/office/drawing/2014/main" id="{7631ED15-96E8-4BE5-9FB5-492A61A457C7}"/>
              </a:ext>
            </a:extLst>
          </p:cNvPr>
          <p:cNvSpPr txBox="1"/>
          <p:nvPr/>
        </p:nvSpPr>
        <p:spPr>
          <a:xfrm>
            <a:off x="2979652" y="418243"/>
            <a:ext cx="12328696" cy="1935658"/>
          </a:xfrm>
          <a:prstGeom prst="rect">
            <a:avLst/>
          </a:prstGeom>
        </p:spPr>
        <p:txBody>
          <a:bodyPr wrap="none" lIns="0" tIns="0" rIns="0" bIns="0" rtlCol="0" anchor="t">
            <a:spAutoFit/>
          </a:bodyPr>
          <a:lstStyle/>
          <a:p>
            <a:pPr>
              <a:lnSpc>
                <a:spcPts val="7894"/>
              </a:lnSpc>
            </a:pPr>
            <a:r>
              <a:rPr lang="en-US" sz="5400">
                <a:solidFill>
                  <a:srgbClr val="F12711"/>
                </a:solidFill>
                <a:latin typeface="#9Slide01 Tieu de ngan" panose="00000800000000000000" pitchFamily="2" charset="-93"/>
              </a:rPr>
              <a:t>Đặc điểm của Development Team</a:t>
            </a:r>
          </a:p>
          <a:p>
            <a:pPr>
              <a:lnSpc>
                <a:spcPts val="7894"/>
              </a:lnSpc>
            </a:pPr>
            <a:endParaRPr lang="en-US" sz="5400">
              <a:solidFill>
                <a:srgbClr val="F12711"/>
              </a:solidFill>
              <a:latin typeface="#9Slide01 Tieu de ngan" panose="00000800000000000000" pitchFamily="2" charset="-93"/>
            </a:endParaRPr>
          </a:p>
        </p:txBody>
      </p:sp>
    </p:spTree>
    <p:extLst>
      <p:ext uri="{BB962C8B-B14F-4D97-AF65-F5344CB8AC3E}">
        <p14:creationId xmlns:p14="http://schemas.microsoft.com/office/powerpoint/2010/main" val="229817493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15">
            <a:extLst>
              <a:ext uri="{FF2B5EF4-FFF2-40B4-BE49-F238E27FC236}">
                <a16:creationId xmlns:a16="http://schemas.microsoft.com/office/drawing/2014/main" id="{18961E01-C9E1-4411-9454-18E83DB183B4}"/>
              </a:ext>
            </a:extLst>
          </p:cNvPr>
          <p:cNvSpPr/>
          <p:nvPr/>
        </p:nvSpPr>
        <p:spPr>
          <a:xfrm>
            <a:off x="-152400" y="-26197"/>
            <a:ext cx="18440400" cy="1123248"/>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4" name="TextBox 4"/>
          <p:cNvSpPr txBox="1"/>
          <p:nvPr/>
        </p:nvSpPr>
        <p:spPr>
          <a:xfrm>
            <a:off x="6705600" y="117462"/>
            <a:ext cx="4239943" cy="816890"/>
          </a:xfrm>
          <a:prstGeom prst="rect">
            <a:avLst/>
          </a:prstGeom>
        </p:spPr>
        <p:txBody>
          <a:bodyPr wrap="none" lIns="0" tIns="0" rIns="0" bIns="0" rtlCol="0" anchor="t">
            <a:spAutoFit/>
          </a:bodyPr>
          <a:lstStyle/>
          <a:p>
            <a:pPr>
              <a:lnSpc>
                <a:spcPts val="7027"/>
              </a:lnSpc>
            </a:pPr>
            <a:r>
              <a:rPr lang="en-US" sz="4000">
                <a:solidFill>
                  <a:srgbClr val="F12711"/>
                </a:solidFill>
                <a:latin typeface="DVN-Poppins 1"/>
              </a:rPr>
              <a:t>Khung thời gian</a:t>
            </a:r>
          </a:p>
        </p:txBody>
      </p:sp>
      <p:sp>
        <p:nvSpPr>
          <p:cNvPr id="9" name="Rectangle 8">
            <a:extLst>
              <a:ext uri="{FF2B5EF4-FFF2-40B4-BE49-F238E27FC236}">
                <a16:creationId xmlns:a16="http://schemas.microsoft.com/office/drawing/2014/main" id="{02735481-A37C-4481-B292-EC73A538C757}"/>
              </a:ext>
            </a:extLst>
          </p:cNvPr>
          <p:cNvSpPr>
            <a:spLocks noChangeAspect="1"/>
          </p:cNvSpPr>
          <p:nvPr>
            <p:custDataLst>
              <p:tags r:id="rId1"/>
            </p:custDataLst>
          </p:nvPr>
        </p:nvSpPr>
        <p:spPr>
          <a:xfrm>
            <a:off x="0" y="1097051"/>
            <a:ext cx="18288000" cy="9189949"/>
          </a:xfrm>
          <a:prstGeom prst="rect">
            <a:avLst/>
          </a:prstGeom>
          <a:blipFill dpi="0" rotWithShape="0">
            <a:blip r:embed="rId3">
              <a:alphaModFix/>
              <a:extLst>
                <a:ext uri="{28A0092B-C50C-407E-A947-70E740481C1C}">
                  <a14:useLocalDpi xmlns:a14="http://schemas.microsoft.com/office/drawing/2010/main" val="0"/>
                </a:ext>
              </a:extLst>
            </a:blip>
            <a:srcRect/>
            <a:stretch>
              <a:fillRect t="-5969" b="-59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A74F23C-0F09-4DCE-B2C0-6BFBC08D9D75}"/>
              </a:ext>
            </a:extLst>
          </p:cNvPr>
          <p:cNvSpPr/>
          <p:nvPr/>
        </p:nvSpPr>
        <p:spPr>
          <a:xfrm>
            <a:off x="9138138" y="3543300"/>
            <a:ext cx="2514600" cy="2301125"/>
          </a:xfrm>
          <a:prstGeom prst="ellipse">
            <a:avLst/>
          </a:prstGeom>
          <a:solidFill>
            <a:schemeClr val="tx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14D5343-C1C6-478B-BA83-718BACF9A3BB}"/>
              </a:ext>
            </a:extLst>
          </p:cNvPr>
          <p:cNvSpPr/>
          <p:nvPr/>
        </p:nvSpPr>
        <p:spPr>
          <a:xfrm>
            <a:off x="12902653" y="2506641"/>
            <a:ext cx="2067716" cy="1881628"/>
          </a:xfrm>
          <a:prstGeom prst="ellipse">
            <a:avLst/>
          </a:prstGeom>
          <a:solidFill>
            <a:schemeClr val="tx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CFCDC77-D0EE-45CC-8403-6052A0C4ADD0}"/>
              </a:ext>
            </a:extLst>
          </p:cNvPr>
          <p:cNvSpPr/>
          <p:nvPr/>
        </p:nvSpPr>
        <p:spPr>
          <a:xfrm>
            <a:off x="13421516" y="8424473"/>
            <a:ext cx="1894684" cy="1724168"/>
          </a:xfrm>
          <a:prstGeom prst="ellipse">
            <a:avLst/>
          </a:prstGeom>
          <a:solidFill>
            <a:schemeClr val="tx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D86C7CB-C0C4-4F41-B9C6-D1A43B250E9C}"/>
              </a:ext>
            </a:extLst>
          </p:cNvPr>
          <p:cNvSpPr/>
          <p:nvPr/>
        </p:nvSpPr>
        <p:spPr>
          <a:xfrm>
            <a:off x="9758054" y="8424473"/>
            <a:ext cx="1894684" cy="1724168"/>
          </a:xfrm>
          <a:prstGeom prst="ellipse">
            <a:avLst/>
          </a:prstGeom>
          <a:solidFill>
            <a:schemeClr val="tx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874061C-42DF-401B-AEC9-A39D7B5FAD91}"/>
              </a:ext>
            </a:extLst>
          </p:cNvPr>
          <p:cNvSpPr/>
          <p:nvPr/>
        </p:nvSpPr>
        <p:spPr>
          <a:xfrm>
            <a:off x="2971800" y="7886700"/>
            <a:ext cx="2067716" cy="1881628"/>
          </a:xfrm>
          <a:prstGeom prst="ellipse">
            <a:avLst/>
          </a:prstGeom>
          <a:solidFill>
            <a:schemeClr val="tx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15">
            <a:extLst>
              <a:ext uri="{FF2B5EF4-FFF2-40B4-BE49-F238E27FC236}">
                <a16:creationId xmlns:a16="http://schemas.microsoft.com/office/drawing/2014/main" id="{18961E01-C9E1-4411-9454-18E83DB183B4}"/>
              </a:ext>
            </a:extLst>
          </p:cNvPr>
          <p:cNvSpPr/>
          <p:nvPr/>
        </p:nvSpPr>
        <p:spPr>
          <a:xfrm>
            <a:off x="-152400" y="-26197"/>
            <a:ext cx="18440400" cy="1123248"/>
          </a:xfrm>
          <a:custGeom>
            <a:avLst/>
            <a:gdLst/>
            <a:ahLst/>
            <a:cxnLst/>
            <a:rect l="l" t="t" r="r" b="b"/>
            <a:pathLst>
              <a:path w="5263182" h="278810">
                <a:moveTo>
                  <a:pt x="0" y="0"/>
                </a:moveTo>
                <a:lnTo>
                  <a:pt x="5263182" y="0"/>
                </a:lnTo>
                <a:lnTo>
                  <a:pt x="5263182" y="278810"/>
                </a:lnTo>
                <a:lnTo>
                  <a:pt x="0" y="278810"/>
                </a:lnTo>
                <a:close/>
              </a:path>
            </a:pathLst>
          </a:custGeom>
          <a:solidFill>
            <a:schemeClr val="bg2"/>
          </a:solidFill>
        </p:spPr>
        <p:txBody>
          <a:bodyPr/>
          <a:lstStyle/>
          <a:p>
            <a:endParaRPr lang="en-US"/>
          </a:p>
        </p:txBody>
      </p:sp>
      <p:sp>
        <p:nvSpPr>
          <p:cNvPr id="4" name="TextBox 4"/>
          <p:cNvSpPr txBox="1"/>
          <p:nvPr/>
        </p:nvSpPr>
        <p:spPr>
          <a:xfrm>
            <a:off x="6705600" y="117462"/>
            <a:ext cx="4239943" cy="816890"/>
          </a:xfrm>
          <a:prstGeom prst="rect">
            <a:avLst/>
          </a:prstGeom>
        </p:spPr>
        <p:txBody>
          <a:bodyPr wrap="none" lIns="0" tIns="0" rIns="0" bIns="0" rtlCol="0" anchor="t">
            <a:spAutoFit/>
          </a:bodyPr>
          <a:lstStyle/>
          <a:p>
            <a:pPr>
              <a:lnSpc>
                <a:spcPts val="7027"/>
              </a:lnSpc>
            </a:pPr>
            <a:r>
              <a:rPr lang="en-US" sz="4000">
                <a:solidFill>
                  <a:srgbClr val="F12711"/>
                </a:solidFill>
                <a:latin typeface="DVN-Poppins 1"/>
              </a:rPr>
              <a:t>Khung thời gian</a:t>
            </a:r>
          </a:p>
        </p:txBody>
      </p:sp>
      <p:sp>
        <p:nvSpPr>
          <p:cNvPr id="9" name="Rectangle 8">
            <a:extLst>
              <a:ext uri="{FF2B5EF4-FFF2-40B4-BE49-F238E27FC236}">
                <a16:creationId xmlns:a16="http://schemas.microsoft.com/office/drawing/2014/main" id="{02735481-A37C-4481-B292-EC73A538C757}"/>
              </a:ext>
            </a:extLst>
          </p:cNvPr>
          <p:cNvSpPr>
            <a:spLocks noChangeAspect="1"/>
          </p:cNvSpPr>
          <p:nvPr>
            <p:custDataLst>
              <p:tags r:id="rId1"/>
            </p:custDataLst>
          </p:nvPr>
        </p:nvSpPr>
        <p:spPr>
          <a:xfrm>
            <a:off x="0" y="1097051"/>
            <a:ext cx="18288000" cy="9189949"/>
          </a:xfrm>
          <a:prstGeom prst="rect">
            <a:avLst/>
          </a:prstGeom>
          <a:blipFill dpi="0" rotWithShape="0">
            <a:blip r:embed="rId3">
              <a:alphaModFix/>
              <a:extLst>
                <a:ext uri="{28A0092B-C50C-407E-A947-70E740481C1C}">
                  <a14:useLocalDpi xmlns:a14="http://schemas.microsoft.com/office/drawing/2010/main" val="0"/>
                </a:ext>
              </a:extLst>
            </a:blip>
            <a:srcRect/>
            <a:stretch>
              <a:fillRect t="-5969" b="-59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A74F23C-0F09-4DCE-B2C0-6BFBC08D9D75}"/>
              </a:ext>
            </a:extLst>
          </p:cNvPr>
          <p:cNvSpPr/>
          <p:nvPr/>
        </p:nvSpPr>
        <p:spPr>
          <a:xfrm>
            <a:off x="914400" y="6362700"/>
            <a:ext cx="2514600" cy="2301125"/>
          </a:xfrm>
          <a:prstGeom prst="ellipse">
            <a:avLst/>
          </a:prstGeom>
          <a:solidFill>
            <a:srgbClr val="F9D94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14D5343-C1C6-478B-BA83-718BACF9A3BB}"/>
              </a:ext>
            </a:extLst>
          </p:cNvPr>
          <p:cNvSpPr/>
          <p:nvPr/>
        </p:nvSpPr>
        <p:spPr>
          <a:xfrm>
            <a:off x="5181600" y="1961257"/>
            <a:ext cx="2067716" cy="1881628"/>
          </a:xfrm>
          <a:prstGeom prst="ellipse">
            <a:avLst/>
          </a:prstGeom>
          <a:solidFill>
            <a:srgbClr val="F9D94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CFCDC77-D0EE-45CC-8403-6052A0C4ADD0}"/>
              </a:ext>
            </a:extLst>
          </p:cNvPr>
          <p:cNvSpPr/>
          <p:nvPr/>
        </p:nvSpPr>
        <p:spPr>
          <a:xfrm>
            <a:off x="13421516" y="8424473"/>
            <a:ext cx="1894684" cy="1724168"/>
          </a:xfrm>
          <a:prstGeom prst="ellipse">
            <a:avLst/>
          </a:prstGeom>
          <a:solidFill>
            <a:srgbClr val="F9D94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D86C7CB-C0C4-4F41-B9C6-D1A43B250E9C}"/>
              </a:ext>
            </a:extLst>
          </p:cNvPr>
          <p:cNvSpPr/>
          <p:nvPr/>
        </p:nvSpPr>
        <p:spPr>
          <a:xfrm>
            <a:off x="15265497" y="5692025"/>
            <a:ext cx="1894684" cy="1724168"/>
          </a:xfrm>
          <a:prstGeom prst="ellipse">
            <a:avLst/>
          </a:prstGeom>
          <a:solidFill>
            <a:srgbClr val="F9D94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682488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3493371" y="3771900"/>
            <a:ext cx="11301259" cy="4492250"/>
          </a:xfrm>
          <a:prstGeom prst="rect">
            <a:avLst/>
          </a:prstGeom>
        </p:spPr>
      </p:pic>
      <p:sp>
        <p:nvSpPr>
          <p:cNvPr id="4" name="TextBox 4"/>
          <p:cNvSpPr txBox="1"/>
          <p:nvPr/>
        </p:nvSpPr>
        <p:spPr>
          <a:xfrm>
            <a:off x="3341130" y="1028700"/>
            <a:ext cx="11605741" cy="897682"/>
          </a:xfrm>
          <a:prstGeom prst="rect">
            <a:avLst/>
          </a:prstGeom>
        </p:spPr>
        <p:txBody>
          <a:bodyPr wrap="none" lIns="0" tIns="0" rIns="0" bIns="0" rtlCol="0" anchor="t">
            <a:spAutoFit/>
          </a:bodyPr>
          <a:lstStyle/>
          <a:p>
            <a:pPr>
              <a:lnSpc>
                <a:spcPts val="7027"/>
              </a:lnSpc>
            </a:pPr>
            <a:r>
              <a:rPr lang="en-US" sz="6164" u="sng">
                <a:solidFill>
                  <a:schemeClr val="tx2"/>
                </a:solidFill>
                <a:latin typeface="#9Slide01 Tieu de ngan" panose="00000800000000000000" pitchFamily="2" charset="-93"/>
              </a:rPr>
              <a:t>Đồ nghề:</a:t>
            </a:r>
            <a:r>
              <a:rPr lang="en-US" sz="6164" u="sng">
                <a:solidFill>
                  <a:srgbClr val="F12711"/>
                </a:solidFill>
                <a:latin typeface="#9Slide01 Tieu de ngan" panose="00000800000000000000" pitchFamily="2" charset="-93"/>
              </a:rPr>
              <a:t> </a:t>
            </a:r>
            <a:r>
              <a:rPr lang="en-US" sz="6164">
                <a:solidFill>
                  <a:srgbClr val="F12711"/>
                </a:solidFill>
                <a:latin typeface="#9Slide01 Tieu de ngan" panose="00000800000000000000" pitchFamily="2" charset="-93"/>
              </a:rPr>
              <a:t>   </a:t>
            </a:r>
            <a:r>
              <a:rPr lang="en-US" sz="6164">
                <a:latin typeface="#9Slide01 Tieu de ngan" panose="00000800000000000000" pitchFamily="2" charset="-93"/>
              </a:rPr>
              <a:t>Product Backlog</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312213" y="3057702"/>
            <a:ext cx="9439687" cy="5734787"/>
          </a:xfrm>
          <a:prstGeom prst="rect">
            <a:avLst/>
          </a:prstGeom>
        </p:spPr>
      </p:pic>
      <p:pic>
        <p:nvPicPr>
          <p:cNvPr id="3" name="Picture 3"/>
          <p:cNvPicPr>
            <a:picLocks noChangeAspect="1"/>
          </p:cNvPicPr>
          <p:nvPr/>
        </p:nvPicPr>
        <p:blipFill>
          <a:blip r:embed="rId3"/>
          <a:srcRect/>
          <a:stretch>
            <a:fillRect/>
          </a:stretch>
        </p:blipFill>
        <p:spPr>
          <a:xfrm>
            <a:off x="9968361" y="1906090"/>
            <a:ext cx="7803893" cy="8038010"/>
          </a:xfrm>
          <a:prstGeom prst="rect">
            <a:avLst/>
          </a:prstGeom>
        </p:spPr>
      </p:pic>
      <p:sp>
        <p:nvSpPr>
          <p:cNvPr id="4" name="TextBox 4"/>
          <p:cNvSpPr txBox="1"/>
          <p:nvPr/>
        </p:nvSpPr>
        <p:spPr>
          <a:xfrm>
            <a:off x="3240160" y="296299"/>
            <a:ext cx="11009240" cy="897682"/>
          </a:xfrm>
          <a:prstGeom prst="rect">
            <a:avLst/>
          </a:prstGeom>
        </p:spPr>
        <p:txBody>
          <a:bodyPr lIns="0" tIns="0" rIns="0" bIns="0" rtlCol="0" anchor="t">
            <a:spAutoFit/>
          </a:bodyPr>
          <a:lstStyle/>
          <a:p>
            <a:pPr>
              <a:lnSpc>
                <a:spcPts val="7027"/>
              </a:lnSpc>
            </a:pPr>
            <a:r>
              <a:rPr lang="en-US" sz="6164" u="sng">
                <a:solidFill>
                  <a:schemeClr val="tx2"/>
                </a:solidFill>
                <a:latin typeface="#9Slide01 Tieu de ngan" panose="00000800000000000000" pitchFamily="2" charset="-93"/>
              </a:rPr>
              <a:t>Đồ nghề: </a:t>
            </a:r>
            <a:r>
              <a:rPr lang="en-US" sz="6164">
                <a:solidFill>
                  <a:srgbClr val="F12711"/>
                </a:solidFill>
                <a:latin typeface="#9Slide01 Tieu de ngan" panose="00000800000000000000" pitchFamily="2" charset="-93"/>
              </a:rPr>
              <a:t>   </a:t>
            </a:r>
            <a:r>
              <a:rPr lang="en-US" sz="6164">
                <a:latin typeface="#9Slide01 Tieu de ngan" panose="00000800000000000000" pitchFamily="2" charset="-93"/>
              </a:rPr>
              <a:t>Sprint Backlog</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3581399" y="1744980"/>
            <a:ext cx="11125202" cy="6675120"/>
          </a:xfrm>
          <a:prstGeom prst="rect">
            <a:avLst/>
          </a:prstGeom>
        </p:spPr>
      </p:pic>
      <p:sp>
        <p:nvSpPr>
          <p:cNvPr id="3" name="TextBox 3"/>
          <p:cNvSpPr txBox="1"/>
          <p:nvPr/>
        </p:nvSpPr>
        <p:spPr>
          <a:xfrm>
            <a:off x="2869820" y="296299"/>
            <a:ext cx="12548360" cy="897682"/>
          </a:xfrm>
          <a:prstGeom prst="rect">
            <a:avLst/>
          </a:prstGeom>
        </p:spPr>
        <p:txBody>
          <a:bodyPr lIns="0" tIns="0" rIns="0" bIns="0" rtlCol="0" anchor="t">
            <a:spAutoFit/>
          </a:bodyPr>
          <a:lstStyle/>
          <a:p>
            <a:pPr>
              <a:lnSpc>
                <a:spcPts val="7027"/>
              </a:lnSpc>
            </a:pPr>
            <a:r>
              <a:rPr lang="en-US" sz="6164" u="sng">
                <a:solidFill>
                  <a:schemeClr val="tx2"/>
                </a:solidFill>
                <a:latin typeface="#9Slide01 Tieu de ngan" panose="00000800000000000000" pitchFamily="2" charset="-93"/>
              </a:rPr>
              <a:t>Đồ nghề:</a:t>
            </a:r>
            <a:r>
              <a:rPr lang="en-US" sz="6164" u="sng">
                <a:solidFill>
                  <a:srgbClr val="F12711"/>
                </a:solidFill>
                <a:latin typeface="#9Slide01 Tieu de ngan" panose="00000800000000000000" pitchFamily="2" charset="-93"/>
              </a:rPr>
              <a:t> </a:t>
            </a:r>
            <a:r>
              <a:rPr lang="en-US" sz="6164">
                <a:solidFill>
                  <a:srgbClr val="F12711"/>
                </a:solidFill>
                <a:latin typeface="#9Slide01 Tieu de ngan" panose="00000800000000000000" pitchFamily="2" charset="-93"/>
              </a:rPr>
              <a:t>  </a:t>
            </a:r>
            <a:r>
              <a:rPr lang="en-US" sz="6164">
                <a:latin typeface="#9Slide01 Tieu de ngan" panose="00000800000000000000" pitchFamily="2" charset="-93"/>
              </a:rPr>
              <a:t> Biểu đồ Burndown</a:t>
            </a:r>
          </a:p>
        </p:txBody>
      </p:sp>
      <p:sp>
        <p:nvSpPr>
          <p:cNvPr id="4" name="TextBox 4"/>
          <p:cNvSpPr txBox="1"/>
          <p:nvPr/>
        </p:nvSpPr>
        <p:spPr>
          <a:xfrm>
            <a:off x="1175335" y="9021956"/>
            <a:ext cx="15937330" cy="971676"/>
          </a:xfrm>
          <a:prstGeom prst="rect">
            <a:avLst/>
          </a:prstGeom>
        </p:spPr>
        <p:txBody>
          <a:bodyPr lIns="0" tIns="0" rIns="0" bIns="0" rtlCol="0" anchor="t">
            <a:spAutoFit/>
          </a:bodyPr>
          <a:lstStyle/>
          <a:p>
            <a:pPr algn="ctr">
              <a:lnSpc>
                <a:spcPts val="3886"/>
              </a:lnSpc>
            </a:pPr>
            <a:r>
              <a:rPr lang="en-US" sz="3200">
                <a:solidFill>
                  <a:schemeClr val="tx2"/>
                </a:solidFill>
                <a:latin typeface="#9Slide01 Tieu de ngan" panose="00000800000000000000" pitchFamily="2" charset="-93"/>
              </a:rPr>
              <a:t>Biểu đồ này dùng cho cả product(gọi là Release Burndown)</a:t>
            </a:r>
          </a:p>
          <a:p>
            <a:pPr algn="ctr">
              <a:lnSpc>
                <a:spcPts val="3886"/>
              </a:lnSpc>
            </a:pPr>
            <a:r>
              <a:rPr lang="en-US" sz="3200">
                <a:solidFill>
                  <a:schemeClr val="tx2"/>
                </a:solidFill>
                <a:latin typeface="#9Slide01 Tieu de ngan" panose="00000800000000000000" pitchFamily="2" charset="-93"/>
              </a:rPr>
              <a:t> và Sprint (gọi là Sprint Burndown)</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2193903" y="3344697"/>
            <a:ext cx="10379097" cy="5432809"/>
          </a:xfrm>
          <a:prstGeom prst="rect">
            <a:avLst/>
          </a:prstGeom>
        </p:spPr>
      </p:pic>
      <p:pic>
        <p:nvPicPr>
          <p:cNvPr id="3" name="Picture 3"/>
          <p:cNvPicPr>
            <a:picLocks noChangeAspect="1"/>
          </p:cNvPicPr>
          <p:nvPr/>
        </p:nvPicPr>
        <p:blipFill>
          <a:blip r:embed="rId3"/>
          <a:srcRect/>
          <a:stretch>
            <a:fillRect/>
          </a:stretch>
        </p:blipFill>
        <p:spPr>
          <a:xfrm>
            <a:off x="13185690" y="257739"/>
            <a:ext cx="4804905" cy="6230704"/>
          </a:xfrm>
          <a:prstGeom prst="rect">
            <a:avLst/>
          </a:prstGeom>
        </p:spPr>
      </p:pic>
      <p:sp>
        <p:nvSpPr>
          <p:cNvPr id="4" name="TextBox 4"/>
          <p:cNvSpPr txBox="1"/>
          <p:nvPr/>
        </p:nvSpPr>
        <p:spPr>
          <a:xfrm>
            <a:off x="297405" y="257739"/>
            <a:ext cx="7643118" cy="897682"/>
          </a:xfrm>
          <a:prstGeom prst="rect">
            <a:avLst/>
          </a:prstGeom>
        </p:spPr>
        <p:txBody>
          <a:bodyPr wrap="none" lIns="0" tIns="0" rIns="0" bIns="0" rtlCol="0" anchor="t">
            <a:spAutoFit/>
          </a:bodyPr>
          <a:lstStyle/>
          <a:p>
            <a:pPr>
              <a:lnSpc>
                <a:spcPts val="7027"/>
              </a:lnSpc>
            </a:pPr>
            <a:r>
              <a:rPr lang="en-US" sz="6164" spc="20">
                <a:solidFill>
                  <a:schemeClr val="tx2"/>
                </a:solidFill>
                <a:latin typeface="#9Slide01 Tieu de ngan" panose="00000800000000000000" pitchFamily="2" charset="-93"/>
              </a:rPr>
              <a:t>Các đồ nghề khác:</a:t>
            </a:r>
          </a:p>
        </p:txBody>
      </p:sp>
      <p:sp>
        <p:nvSpPr>
          <p:cNvPr id="5" name="TextBox 5"/>
          <p:cNvSpPr txBox="1"/>
          <p:nvPr/>
        </p:nvSpPr>
        <p:spPr>
          <a:xfrm>
            <a:off x="619238" y="9138207"/>
            <a:ext cx="15937330" cy="1016580"/>
          </a:xfrm>
          <a:prstGeom prst="rect">
            <a:avLst/>
          </a:prstGeom>
        </p:spPr>
        <p:txBody>
          <a:bodyPr lIns="0" tIns="0" rIns="0" bIns="0" rtlCol="0" anchor="t">
            <a:spAutoFit/>
          </a:bodyPr>
          <a:lstStyle/>
          <a:p>
            <a:pPr>
              <a:lnSpc>
                <a:spcPts val="3886"/>
              </a:lnSpc>
            </a:pPr>
            <a:r>
              <a:rPr lang="en-US" sz="3409">
                <a:solidFill>
                  <a:srgbClr val="A21203"/>
                </a:solidFill>
                <a:latin typeface="DVN-Poppins 1"/>
              </a:rPr>
              <a:t>Agile Project Management Systems:</a:t>
            </a:r>
            <a:r>
              <a:rPr lang="en-US" sz="3409">
                <a:solidFill>
                  <a:srgbClr val="000000"/>
                </a:solidFill>
                <a:latin typeface="DVN-Poppins 1"/>
              </a:rPr>
              <a:t> VersionOne, Redmine, Assembla, ScrumSprintMonitor...</a:t>
            </a:r>
          </a:p>
        </p:txBody>
      </p:sp>
      <p:sp>
        <p:nvSpPr>
          <p:cNvPr id="6" name="TextBox 6"/>
          <p:cNvSpPr txBox="1"/>
          <p:nvPr/>
        </p:nvSpPr>
        <p:spPr>
          <a:xfrm>
            <a:off x="8103712" y="1999991"/>
            <a:ext cx="4486806" cy="500137"/>
          </a:xfrm>
          <a:prstGeom prst="rect">
            <a:avLst/>
          </a:prstGeom>
        </p:spPr>
        <p:txBody>
          <a:bodyPr wrap="none" lIns="0" tIns="0" rIns="0" bIns="0" rtlCol="0" anchor="t">
            <a:spAutoFit/>
          </a:bodyPr>
          <a:lstStyle/>
          <a:p>
            <a:pPr>
              <a:lnSpc>
                <a:spcPts val="3886"/>
              </a:lnSpc>
            </a:pPr>
            <a:r>
              <a:rPr lang="en-US" sz="3409">
                <a:solidFill>
                  <a:srgbClr val="A21203"/>
                </a:solidFill>
                <a:latin typeface="DVN-Poppins 1"/>
              </a:rPr>
              <a:t>Scrum poker Cards:</a:t>
            </a:r>
          </a:p>
        </p:txBody>
      </p:sp>
      <p:sp>
        <p:nvSpPr>
          <p:cNvPr id="7" name="TextBox 7"/>
          <p:cNvSpPr txBox="1"/>
          <p:nvPr/>
        </p:nvSpPr>
        <p:spPr>
          <a:xfrm>
            <a:off x="157286" y="5811032"/>
            <a:ext cx="2322752" cy="500137"/>
          </a:xfrm>
          <a:prstGeom prst="rect">
            <a:avLst/>
          </a:prstGeom>
        </p:spPr>
        <p:txBody>
          <a:bodyPr wrap="none" lIns="0" tIns="0" rIns="0" bIns="0" rtlCol="0" anchor="t">
            <a:spAutoFit/>
          </a:bodyPr>
          <a:lstStyle/>
          <a:p>
            <a:pPr>
              <a:lnSpc>
                <a:spcPts val="3886"/>
              </a:lnSpc>
            </a:pPr>
            <a:r>
              <a:rPr lang="en-US" sz="3409">
                <a:solidFill>
                  <a:srgbClr val="A21203"/>
                </a:solidFill>
                <a:latin typeface="DVN-Poppins 1"/>
              </a:rPr>
              <a:t>User Story</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B193A9A-3339-48E7-B3F1-61F096AC4BC5}"/>
              </a:ext>
            </a:extLst>
          </p:cNvPr>
          <p:cNvSpPr/>
          <p:nvPr/>
        </p:nvSpPr>
        <p:spPr>
          <a:xfrm>
            <a:off x="9120433" y="945630"/>
            <a:ext cx="5668108" cy="15696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12" name="Rectangle 11">
            <a:extLst>
              <a:ext uri="{FF2B5EF4-FFF2-40B4-BE49-F238E27FC236}">
                <a16:creationId xmlns:a16="http://schemas.microsoft.com/office/drawing/2014/main" id="{1743F537-64B3-4819-A58B-6963496FB1E8}"/>
              </a:ext>
            </a:extLst>
          </p:cNvPr>
          <p:cNvSpPr>
            <a:spLocks noChangeAspect="1"/>
          </p:cNvSpPr>
          <p:nvPr>
            <p:custDataLst>
              <p:tags r:id="rId1"/>
            </p:custDataLst>
          </p:nvPr>
        </p:nvSpPr>
        <p:spPr>
          <a:xfrm>
            <a:off x="-152400" y="0"/>
            <a:ext cx="9067801" cy="10287000"/>
          </a:xfrm>
          <a:prstGeom prst="rect">
            <a:avLst/>
          </a:prstGeom>
          <a:blipFill dpi="0" rotWithShape="0">
            <a:blip r:embed="rId3">
              <a:alphaModFix/>
              <a:extLst>
                <a:ext uri="{28A0092B-C50C-407E-A947-70E740481C1C}">
                  <a14:useLocalDpi xmlns:a14="http://schemas.microsoft.com/office/drawing/2010/main" val="0"/>
                </a:ext>
              </a:extLst>
            </a:blip>
            <a:srcRect/>
            <a:stretch>
              <a:fillRect l="-84034" r="-175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948EB1-01AE-4E1F-8692-C8BDCDD57A95}"/>
              </a:ext>
            </a:extLst>
          </p:cNvPr>
          <p:cNvSpPr txBox="1"/>
          <p:nvPr/>
        </p:nvSpPr>
        <p:spPr>
          <a:xfrm>
            <a:off x="9120433" y="976860"/>
            <a:ext cx="7338767" cy="1569660"/>
          </a:xfrm>
          <a:prstGeom prst="rect">
            <a:avLst/>
          </a:prstGeom>
          <a:noFill/>
        </p:spPr>
        <p:txBody>
          <a:bodyPr wrap="square" rtlCol="0">
            <a:spAutoFit/>
          </a:bodyPr>
          <a:lstStyle/>
          <a:p>
            <a:r>
              <a:rPr lang="en-US" sz="4800">
                <a:solidFill>
                  <a:schemeClr val="tx2"/>
                </a:solidFill>
                <a:latin typeface="#9Slide01 Tieu de ngan" panose="00000800000000000000" pitchFamily="2" charset="-93"/>
              </a:rPr>
              <a:t>ƯU ĐIỂM KHI SỬ DỤNG SCRUM </a:t>
            </a:r>
          </a:p>
        </p:txBody>
      </p:sp>
      <p:sp>
        <p:nvSpPr>
          <p:cNvPr id="9" name="TextBox 9"/>
          <p:cNvSpPr txBox="1"/>
          <p:nvPr/>
        </p:nvSpPr>
        <p:spPr>
          <a:xfrm>
            <a:off x="9120433" y="2933700"/>
            <a:ext cx="10767767" cy="5746060"/>
          </a:xfrm>
          <a:prstGeom prst="rect">
            <a:avLst/>
          </a:prstGeom>
        </p:spPr>
        <p:txBody>
          <a:bodyPr lIns="0" tIns="0" rIns="0" bIns="0" rtlCol="0" anchor="t">
            <a:spAutoFit/>
          </a:bodyPr>
          <a:lstStyle/>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Cải thiện chất lượng sản phẩm</a:t>
            </a:r>
          </a:p>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Rút ngắn thời gian phát hành phần mềm, </a:t>
            </a:r>
          </a:p>
          <a:p>
            <a:pPr lvl="0">
              <a:lnSpc>
                <a:spcPct val="150000"/>
              </a:lnSpc>
            </a:pPr>
            <a:r>
              <a:rPr lang="en-US" sz="3200" spc="40">
                <a:latin typeface="#9Slide02 Noi dung dai" panose="02000000000000000000" pitchFamily="2" charset="0"/>
                <a:ea typeface="#9Slide02 Noi dung dai" panose="02000000000000000000" pitchFamily="2" charset="0"/>
              </a:rPr>
              <a:t>   sản phẩm sẽ nhanh đến với tay khách hàng hơn</a:t>
            </a:r>
          </a:p>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Nâng cao tinh thần làm việc nhóm </a:t>
            </a:r>
          </a:p>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Tăng mức độ hài lòng của khách hàng</a:t>
            </a:r>
          </a:p>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Kiểm soát dự án tốt hơn</a:t>
            </a:r>
          </a:p>
          <a:p>
            <a:pPr marL="571500" lvl="0" indent="-571500">
              <a:lnSpc>
                <a:spcPct val="150000"/>
              </a:lnSpc>
              <a:buFont typeface="Wingdings" panose="05000000000000000000" pitchFamily="2" charset="2"/>
              <a:buChar char="§"/>
            </a:pPr>
            <a:r>
              <a:rPr lang="en-US" sz="3200" spc="40">
                <a:latin typeface="#9Slide02 Noi dung dai" panose="02000000000000000000" pitchFamily="2" charset="0"/>
                <a:ea typeface="#9Slide02 Noi dung dai" panose="02000000000000000000" pitchFamily="2" charset="0"/>
              </a:rPr>
              <a:t> Giảm thiểu rủi ro</a:t>
            </a:r>
          </a:p>
          <a:p>
            <a:pPr marL="457200" indent="-457200">
              <a:lnSpc>
                <a:spcPct val="150000"/>
              </a:lnSpc>
              <a:buFont typeface="Wingdings" panose="05000000000000000000" pitchFamily="2" charset="2"/>
              <a:buChar char="§"/>
            </a:pPr>
            <a:endParaRPr lang="en-US" sz="2800" spc="40">
              <a:solidFill>
                <a:srgbClr val="000000"/>
              </a:solidFill>
              <a:latin typeface="#9Slide02 Noi dung dai" panose="02000000000000000000" pitchFamily="2" charset="0"/>
              <a:ea typeface="#9Slide02 Noi dung dai" panose="02000000000000000000" pitchFamily="2" charset="0"/>
            </a:endParaRPr>
          </a:p>
        </p:txBody>
      </p:sp>
      <p:grpSp>
        <p:nvGrpSpPr>
          <p:cNvPr id="6" name="Group 5">
            <a:extLst>
              <a:ext uri="{FF2B5EF4-FFF2-40B4-BE49-F238E27FC236}">
                <a16:creationId xmlns:a16="http://schemas.microsoft.com/office/drawing/2014/main" id="{BC938B27-567C-416E-BA54-6D8531EE84D7}"/>
              </a:ext>
            </a:extLst>
          </p:cNvPr>
          <p:cNvGrpSpPr/>
          <p:nvPr/>
        </p:nvGrpSpPr>
        <p:grpSpPr>
          <a:xfrm>
            <a:off x="17259300" y="7994938"/>
            <a:ext cx="3086100" cy="3086100"/>
            <a:chOff x="0" y="0"/>
            <a:chExt cx="812800" cy="812800"/>
          </a:xfrm>
          <a:solidFill>
            <a:schemeClr val="tx1"/>
          </a:solidFill>
        </p:grpSpPr>
        <p:sp>
          <p:nvSpPr>
            <p:cNvPr id="7" name="Freeform 6">
              <a:extLst>
                <a:ext uri="{FF2B5EF4-FFF2-40B4-BE49-F238E27FC236}">
                  <a16:creationId xmlns:a16="http://schemas.microsoft.com/office/drawing/2014/main" id="{B99E9216-5D9F-4639-9CEC-EEE4C4B1C866}"/>
                </a:ext>
              </a:extLst>
            </p:cNvPr>
            <p:cNvSpPr/>
            <p:nvPr/>
          </p:nvSpPr>
          <p:spPr>
            <a:xfrm>
              <a:off x="1813" y="0"/>
              <a:ext cx="809173" cy="812800"/>
            </a:xfrm>
            <a:prstGeom prst="ellipse">
              <a:avLst/>
            </a:prstGeom>
            <a:grpFill/>
          </p:spPr>
        </p:sp>
        <p:sp>
          <p:nvSpPr>
            <p:cNvPr id="8" name="TextBox 7">
              <a:extLst>
                <a:ext uri="{FF2B5EF4-FFF2-40B4-BE49-F238E27FC236}">
                  <a16:creationId xmlns:a16="http://schemas.microsoft.com/office/drawing/2014/main" id="{F72E26EC-E0A8-46F5-80F6-3A05BD0E0876}"/>
                </a:ext>
              </a:extLst>
            </p:cNvPr>
            <p:cNvSpPr txBox="1"/>
            <p:nvPr/>
          </p:nvSpPr>
          <p:spPr>
            <a:xfrm>
              <a:off x="76200" y="19050"/>
              <a:ext cx="660400" cy="717550"/>
            </a:xfrm>
            <a:prstGeom prst="ellipse">
              <a:avLst/>
            </a:prstGeom>
            <a:grpFill/>
          </p:spPr>
          <p:txBody>
            <a:bodyPr lIns="50800" tIns="50800" rIns="50800" bIns="50800" rtlCol="0" anchor="ctr"/>
            <a:lstStyle/>
            <a:p>
              <a:pPr algn="ctr">
                <a:lnSpc>
                  <a:spcPts val="2659"/>
                </a:lnSpc>
              </a:pPr>
              <a:endParaRPr/>
            </a:p>
          </p:txBody>
        </p:sp>
      </p:gr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84A3D84-C1A9-4E33-A9C7-CA2007EA163D}"/>
              </a:ext>
            </a:extLst>
          </p:cNvPr>
          <p:cNvSpPr/>
          <p:nvPr/>
        </p:nvSpPr>
        <p:spPr>
          <a:xfrm>
            <a:off x="-609600" y="0"/>
            <a:ext cx="19126200" cy="23370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2"/>
          <p:cNvGrpSpPr/>
          <p:nvPr/>
        </p:nvGrpSpPr>
        <p:grpSpPr>
          <a:xfrm>
            <a:off x="-2057400" y="7994938"/>
            <a:ext cx="3086100" cy="3086100"/>
            <a:chOff x="0" y="0"/>
            <a:chExt cx="812800" cy="812800"/>
          </a:xfrm>
          <a:solidFill>
            <a:schemeClr val="tx1"/>
          </a:solidFill>
        </p:grpSpPr>
        <p:sp>
          <p:nvSpPr>
            <p:cNvPr id="3" name="Freeform 3"/>
            <p:cNvSpPr/>
            <p:nvPr/>
          </p:nvSpPr>
          <p:spPr>
            <a:xfrm>
              <a:off x="1813" y="0"/>
              <a:ext cx="809173" cy="812800"/>
            </a:xfrm>
            <a:prstGeom prst="ellipse">
              <a:avLst/>
            </a:prstGeom>
            <a:grpFill/>
          </p:spPr>
        </p:sp>
        <p:sp>
          <p:nvSpPr>
            <p:cNvPr id="4" name="TextBox 4"/>
            <p:cNvSpPr txBox="1"/>
            <p:nvPr/>
          </p:nvSpPr>
          <p:spPr>
            <a:xfrm>
              <a:off x="76200" y="19050"/>
              <a:ext cx="660400" cy="717550"/>
            </a:xfrm>
            <a:prstGeom prst="ellipse">
              <a:avLst/>
            </a:prstGeom>
            <a:grpFill/>
          </p:spPr>
          <p:txBody>
            <a:bodyPr lIns="50800" tIns="50800" rIns="50800" bIns="50800" rtlCol="0" anchor="ctr"/>
            <a:lstStyle/>
            <a:p>
              <a:pPr algn="ctr">
                <a:lnSpc>
                  <a:spcPts val="2659"/>
                </a:lnSpc>
              </a:pPr>
              <a:endParaRPr/>
            </a:p>
          </p:txBody>
        </p:sp>
      </p:grpSp>
      <p:grpSp>
        <p:nvGrpSpPr>
          <p:cNvPr id="5" name="Group 5"/>
          <p:cNvGrpSpPr/>
          <p:nvPr/>
        </p:nvGrpSpPr>
        <p:grpSpPr>
          <a:xfrm>
            <a:off x="17259300" y="7994938"/>
            <a:ext cx="3086100" cy="3086100"/>
            <a:chOff x="0" y="0"/>
            <a:chExt cx="812800" cy="812800"/>
          </a:xfrm>
          <a:solidFill>
            <a:schemeClr val="tx1"/>
          </a:solidFill>
        </p:grpSpPr>
        <p:sp>
          <p:nvSpPr>
            <p:cNvPr id="6" name="Freeform 6"/>
            <p:cNvSpPr/>
            <p:nvPr/>
          </p:nvSpPr>
          <p:spPr>
            <a:xfrm>
              <a:off x="1813" y="0"/>
              <a:ext cx="809173" cy="812800"/>
            </a:xfrm>
            <a:prstGeom prst="ellipse">
              <a:avLst/>
            </a:prstGeom>
            <a:grpFill/>
          </p:spPr>
        </p:sp>
        <p:sp>
          <p:nvSpPr>
            <p:cNvPr id="7" name="TextBox 7"/>
            <p:cNvSpPr txBox="1"/>
            <p:nvPr/>
          </p:nvSpPr>
          <p:spPr>
            <a:xfrm>
              <a:off x="76200" y="19050"/>
              <a:ext cx="660400" cy="717550"/>
            </a:xfrm>
            <a:prstGeom prst="ellipse">
              <a:avLst/>
            </a:prstGeom>
            <a:grpFill/>
          </p:spPr>
          <p:txBody>
            <a:bodyPr lIns="50800" tIns="50800" rIns="50800" bIns="50800" rtlCol="0" anchor="ctr"/>
            <a:lstStyle/>
            <a:p>
              <a:pPr algn="ctr">
                <a:lnSpc>
                  <a:spcPts val="2659"/>
                </a:lnSpc>
              </a:pPr>
              <a:endParaRPr/>
            </a:p>
          </p:txBody>
        </p:sp>
      </p:grpSp>
      <p:grpSp>
        <p:nvGrpSpPr>
          <p:cNvPr id="8" name="Group 8"/>
          <p:cNvGrpSpPr/>
          <p:nvPr/>
        </p:nvGrpSpPr>
        <p:grpSpPr>
          <a:xfrm>
            <a:off x="16233178" y="-941262"/>
            <a:ext cx="3086100" cy="3086100"/>
            <a:chOff x="0" y="0"/>
            <a:chExt cx="812800" cy="812800"/>
          </a:xfrm>
        </p:grpSpPr>
        <p:sp>
          <p:nvSpPr>
            <p:cNvPr id="9" name="Freeform 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solidFill>
                  <a:schemeClr val="tx2"/>
                </a:solidFill>
                <a:latin typeface="#9Slide01 Tieu de ngan" panose="00000800000000000000" pitchFamily="2" charset="-93"/>
              </a:endParaRPr>
            </a:p>
          </p:txBody>
        </p:sp>
      </p:grpSp>
      <p:grpSp>
        <p:nvGrpSpPr>
          <p:cNvPr id="11" name="Group 11"/>
          <p:cNvGrpSpPr/>
          <p:nvPr/>
        </p:nvGrpSpPr>
        <p:grpSpPr>
          <a:xfrm>
            <a:off x="-1147751" y="-821413"/>
            <a:ext cx="3086100" cy="3086100"/>
            <a:chOff x="0" y="0"/>
            <a:chExt cx="812800" cy="812800"/>
          </a:xfrm>
        </p:grpSpPr>
        <p:sp>
          <p:nvSpPr>
            <p:cNvPr id="12"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solidFill>
                  <a:schemeClr val="tx2"/>
                </a:solidFill>
              </a:endParaRPr>
            </a:p>
          </p:txBody>
        </p:sp>
      </p:grpSp>
      <p:pic>
        <p:nvPicPr>
          <p:cNvPr id="26" name="Picture 26"/>
          <p:cNvPicPr>
            <a:picLocks noChangeAspect="1"/>
          </p:cNvPicPr>
          <p:nvPr/>
        </p:nvPicPr>
        <p:blipFill>
          <a:blip r:embed="rId2"/>
          <a:srcRect b="5564"/>
          <a:stretch>
            <a:fillRect/>
          </a:stretch>
        </p:blipFill>
        <p:spPr>
          <a:xfrm>
            <a:off x="11631820" y="2993898"/>
            <a:ext cx="8500731" cy="4816602"/>
          </a:xfrm>
          <a:prstGeom prst="rect">
            <a:avLst/>
          </a:prstGeom>
        </p:spPr>
      </p:pic>
      <p:sp>
        <p:nvSpPr>
          <p:cNvPr id="28" name="TextBox 28"/>
          <p:cNvSpPr txBox="1"/>
          <p:nvPr/>
        </p:nvSpPr>
        <p:spPr>
          <a:xfrm>
            <a:off x="4306099" y="249830"/>
            <a:ext cx="9675803" cy="1851657"/>
          </a:xfrm>
          <a:prstGeom prst="rect">
            <a:avLst/>
          </a:prstGeom>
        </p:spPr>
        <p:txBody>
          <a:bodyPr lIns="0" tIns="0" rIns="0" bIns="0" rtlCol="0" anchor="t">
            <a:spAutoFit/>
          </a:bodyPr>
          <a:lstStyle/>
          <a:p>
            <a:pPr algn="ctr">
              <a:lnSpc>
                <a:spcPts val="7003"/>
              </a:lnSpc>
            </a:pPr>
            <a:r>
              <a:rPr lang="en-US" sz="6000">
                <a:solidFill>
                  <a:schemeClr val="tx2"/>
                </a:solidFill>
                <a:latin typeface="#9Slide01 Tieu de ngan" panose="00000800000000000000" pitchFamily="2" charset="-93"/>
              </a:rPr>
              <a:t>Khó khăn khi tiếp cận Scrum</a:t>
            </a:r>
          </a:p>
        </p:txBody>
      </p:sp>
      <p:sp>
        <p:nvSpPr>
          <p:cNvPr id="31" name="TextBox 30">
            <a:extLst>
              <a:ext uri="{FF2B5EF4-FFF2-40B4-BE49-F238E27FC236}">
                <a16:creationId xmlns:a16="http://schemas.microsoft.com/office/drawing/2014/main" id="{80966A40-A5B9-4894-B0EC-AEFB9F2E9875}"/>
              </a:ext>
            </a:extLst>
          </p:cNvPr>
          <p:cNvSpPr txBox="1"/>
          <p:nvPr/>
        </p:nvSpPr>
        <p:spPr>
          <a:xfrm>
            <a:off x="685800" y="3913554"/>
            <a:ext cx="11183814" cy="3697422"/>
          </a:xfrm>
          <a:prstGeom prst="rect">
            <a:avLst/>
          </a:prstGeom>
          <a:noFill/>
        </p:spPr>
        <p:txBody>
          <a:bodyPr wrap="square">
            <a:spAutoFit/>
          </a:bodyPr>
          <a:lstStyle/>
          <a:p>
            <a:pPr marL="457200" lvl="0" indent="-457200">
              <a:lnSpc>
                <a:spcPct val="190000"/>
              </a:lnSpc>
              <a:buFont typeface="Wingdings" panose="05000000000000000000" pitchFamily="2" charset="2"/>
              <a:buChar char="§"/>
            </a:pPr>
            <a:r>
              <a:rPr lang="en-US" sz="3200" spc="20">
                <a:latin typeface="#9Slide01 Noi dung ngan" panose="00000600000000000000" pitchFamily="2" charset="-93"/>
              </a:rPr>
              <a:t>Phải có sự hiểu biết về mô hình agile.</a:t>
            </a:r>
          </a:p>
          <a:p>
            <a:pPr marL="457200" lvl="0" indent="-457200">
              <a:lnSpc>
                <a:spcPct val="190000"/>
              </a:lnSpc>
              <a:buFont typeface="Wingdings" panose="05000000000000000000" pitchFamily="2" charset="2"/>
              <a:buChar char="§"/>
            </a:pPr>
            <a:r>
              <a:rPr lang="en-US" sz="3200" spc="20">
                <a:latin typeface="#9Slide01 Noi dung ngan" panose="00000600000000000000" pitchFamily="2" charset="-93"/>
              </a:rPr>
              <a:t>Luôn nghe ý kiến phản hồi từ khách hàng và thay đổi theo nên thời gian sẽ kéo dài khi có quá nhiều sự thay đổi từ khách hàng</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57400" y="7994938"/>
            <a:ext cx="3086100" cy="3086100"/>
            <a:chOff x="0" y="0"/>
            <a:chExt cx="812800" cy="812800"/>
          </a:xfrm>
        </p:grpSpPr>
        <p:sp>
          <p:nvSpPr>
            <p:cNvPr id="3" name="Freeform 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202B"/>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259300" y="7994938"/>
            <a:ext cx="3086100" cy="3086100"/>
            <a:chOff x="0" y="0"/>
            <a:chExt cx="812800" cy="812800"/>
          </a:xfrm>
        </p:grpSpPr>
        <p:sp>
          <p:nvSpPr>
            <p:cNvPr id="6" name="Freeform 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202B"/>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pic>
        <p:nvPicPr>
          <p:cNvPr id="8" name="Picture 8"/>
          <p:cNvPicPr>
            <a:picLocks noChangeAspect="1"/>
          </p:cNvPicPr>
          <p:nvPr/>
        </p:nvPicPr>
        <p:blipFill>
          <a:blip r:embed="rId2"/>
          <a:srcRect/>
          <a:stretch>
            <a:fillRect/>
          </a:stretch>
        </p:blipFill>
        <p:spPr>
          <a:xfrm>
            <a:off x="1359553" y="1028700"/>
            <a:ext cx="15568894" cy="8147721"/>
          </a:xfrm>
          <a:prstGeom prst="rect">
            <a:avLst/>
          </a:prstGeom>
        </p:spPr>
      </p:pic>
      <p:grpSp>
        <p:nvGrpSpPr>
          <p:cNvPr id="9" name="Group 9"/>
          <p:cNvGrpSpPr/>
          <p:nvPr/>
        </p:nvGrpSpPr>
        <p:grpSpPr>
          <a:xfrm>
            <a:off x="16233178" y="-941262"/>
            <a:ext cx="3086100" cy="3086100"/>
            <a:chOff x="0" y="0"/>
            <a:chExt cx="812800" cy="812800"/>
          </a:xfrm>
        </p:grpSpPr>
        <p:sp>
          <p:nvSpPr>
            <p:cNvPr id="10" name="Freeform 10"/>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147751" y="-821413"/>
            <a:ext cx="3086100" cy="3086100"/>
            <a:chOff x="0" y="0"/>
            <a:chExt cx="812800" cy="812800"/>
          </a:xfrm>
        </p:grpSpPr>
        <p:sp>
          <p:nvSpPr>
            <p:cNvPr id="13" name="Freeform 1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38775" y="2333647"/>
            <a:ext cx="1103261" cy="1103261"/>
            <a:chOff x="0" y="0"/>
            <a:chExt cx="812800" cy="812800"/>
          </a:xfrm>
        </p:grpSpPr>
        <p:sp>
          <p:nvSpPr>
            <p:cNvPr id="16" name="Freeform 1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202B"/>
            </a:solidFill>
          </p:spPr>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6045964" y="2466072"/>
            <a:ext cx="1103261" cy="1103261"/>
            <a:chOff x="0" y="0"/>
            <a:chExt cx="812800" cy="812800"/>
          </a:xfrm>
        </p:grpSpPr>
        <p:sp>
          <p:nvSpPr>
            <p:cNvPr id="19" name="Freeform 1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202B"/>
            </a:solidFill>
          </p:spPr>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38775" y="9537988"/>
            <a:ext cx="2781157" cy="2781157"/>
            <a:chOff x="0" y="0"/>
            <a:chExt cx="812800" cy="812800"/>
          </a:xfrm>
        </p:grpSpPr>
        <p:sp>
          <p:nvSpPr>
            <p:cNvPr id="22" name="Freeform 2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4400659" y="9537988"/>
            <a:ext cx="2781157" cy="2781157"/>
            <a:chOff x="0" y="0"/>
            <a:chExt cx="812800" cy="812800"/>
          </a:xfrm>
        </p:grpSpPr>
        <p:sp>
          <p:nvSpPr>
            <p:cNvPr id="25" name="Freeform 25"/>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12711"/>
            </a:solidFill>
          </p:spPr>
        </p:sp>
        <p:sp>
          <p:nvSpPr>
            <p:cNvPr id="26" name="TextBox 2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371390">
            <a:off x="12258711" y="-6023358"/>
            <a:ext cx="3773803" cy="20910103"/>
            <a:chOff x="0" y="0"/>
            <a:chExt cx="993923" cy="5507188"/>
          </a:xfrm>
        </p:grpSpPr>
        <p:sp>
          <p:nvSpPr>
            <p:cNvPr id="5" name="Freeform 5"/>
            <p:cNvSpPr/>
            <p:nvPr/>
          </p:nvSpPr>
          <p:spPr>
            <a:xfrm>
              <a:off x="0" y="0"/>
              <a:ext cx="993923" cy="5507187"/>
            </a:xfrm>
            <a:custGeom>
              <a:avLst/>
              <a:gdLst/>
              <a:ahLst/>
              <a:cxnLst/>
              <a:rect l="l" t="t" r="r" b="b"/>
              <a:pathLst>
                <a:path w="993923" h="5507187">
                  <a:moveTo>
                    <a:pt x="0" y="0"/>
                  </a:moveTo>
                  <a:lnTo>
                    <a:pt x="993923" y="0"/>
                  </a:lnTo>
                  <a:lnTo>
                    <a:pt x="993923" y="5507187"/>
                  </a:lnTo>
                  <a:lnTo>
                    <a:pt x="0" y="5507187"/>
                  </a:lnTo>
                  <a:close/>
                </a:path>
              </a:pathLst>
            </a:custGeom>
            <a:solidFill>
              <a:srgbClr val="F12711"/>
            </a:solidFill>
          </p:spPr>
        </p:sp>
        <p:sp>
          <p:nvSpPr>
            <p:cNvPr id="6" name="TextBox 6"/>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2371390">
            <a:off x="14243670" y="-4774694"/>
            <a:ext cx="680143" cy="20910103"/>
            <a:chOff x="0" y="0"/>
            <a:chExt cx="179132" cy="5507188"/>
          </a:xfrm>
        </p:grpSpPr>
        <p:sp>
          <p:nvSpPr>
            <p:cNvPr id="8" name="Freeform 8"/>
            <p:cNvSpPr/>
            <p:nvPr/>
          </p:nvSpPr>
          <p:spPr>
            <a:xfrm>
              <a:off x="0" y="0"/>
              <a:ext cx="179132" cy="5507187"/>
            </a:xfrm>
            <a:custGeom>
              <a:avLst/>
              <a:gdLst/>
              <a:ahLst/>
              <a:cxnLst/>
              <a:rect l="l" t="t" r="r" b="b"/>
              <a:pathLst>
                <a:path w="179132" h="5507187">
                  <a:moveTo>
                    <a:pt x="0" y="0"/>
                  </a:moveTo>
                  <a:lnTo>
                    <a:pt x="179132" y="0"/>
                  </a:lnTo>
                  <a:lnTo>
                    <a:pt x="179132" y="5507187"/>
                  </a:lnTo>
                  <a:lnTo>
                    <a:pt x="0" y="5507187"/>
                  </a:lnTo>
                  <a:close/>
                </a:path>
              </a:pathLst>
            </a:custGeom>
            <a:solidFill>
              <a:srgbClr val="19202B"/>
            </a:solidFill>
          </p:spPr>
        </p:sp>
        <p:sp>
          <p:nvSpPr>
            <p:cNvPr id="9" name="TextBox 9"/>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326132" y="2075807"/>
            <a:ext cx="6817181" cy="6817181"/>
            <a:chOff x="0" y="0"/>
            <a:chExt cx="837653" cy="837653"/>
          </a:xfrm>
        </p:grpSpPr>
        <p:sp>
          <p:nvSpPr>
            <p:cNvPr id="11" name="Freeform 11"/>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19202B"/>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857067" y="2717986"/>
            <a:ext cx="5805876" cy="5532824"/>
            <a:chOff x="0" y="0"/>
            <a:chExt cx="852913" cy="812800"/>
          </a:xfrm>
        </p:grpSpPr>
        <p:sp>
          <p:nvSpPr>
            <p:cNvPr id="14" name="Freeform 14"/>
            <p:cNvSpPr/>
            <p:nvPr/>
          </p:nvSpPr>
          <p:spPr>
            <a:xfrm>
              <a:off x="21870" y="0"/>
              <a:ext cx="809173" cy="812800"/>
            </a:xfrm>
            <a:custGeom>
              <a:avLst/>
              <a:gdLst/>
              <a:ahLst/>
              <a:cxnLst/>
              <a:rect l="l" t="t" r="r" b="b"/>
              <a:pathLst>
                <a:path w="809173" h="812800">
                  <a:moveTo>
                    <a:pt x="404586" y="0"/>
                  </a:moveTo>
                  <a:cubicBezTo>
                    <a:pt x="628325" y="1001"/>
                    <a:pt x="809173" y="182659"/>
                    <a:pt x="809173" y="406400"/>
                  </a:cubicBezTo>
                  <a:cubicBezTo>
                    <a:pt x="809173" y="630141"/>
                    <a:pt x="628325" y="811799"/>
                    <a:pt x="404586" y="812800"/>
                  </a:cubicBezTo>
                  <a:cubicBezTo>
                    <a:pt x="180847" y="811799"/>
                    <a:pt x="0" y="630141"/>
                    <a:pt x="0" y="406400"/>
                  </a:cubicBezTo>
                  <a:cubicBezTo>
                    <a:pt x="0" y="182659"/>
                    <a:pt x="180847" y="1001"/>
                    <a:pt x="404586" y="0"/>
                  </a:cubicBezTo>
                  <a:close/>
                </a:path>
              </a:pathLst>
            </a:custGeom>
            <a:solidFill>
              <a:srgbClr val="F12711"/>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6" name="Group 16"/>
          <p:cNvGrpSpPr>
            <a:grpSpLocks noChangeAspect="1"/>
          </p:cNvGrpSpPr>
          <p:nvPr/>
        </p:nvGrpSpPr>
        <p:grpSpPr>
          <a:xfrm>
            <a:off x="11160384" y="2910069"/>
            <a:ext cx="5148678" cy="5148657"/>
            <a:chOff x="0" y="0"/>
            <a:chExt cx="6350000" cy="6349975"/>
          </a:xfrm>
        </p:grpSpPr>
        <p:sp>
          <p:nvSpPr>
            <p:cNvPr id="17" name="Freeform 1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16666" r="-16666"/>
              </a:stretch>
            </a:blipFill>
          </p:spPr>
        </p:sp>
      </p:grpSp>
      <p:grpSp>
        <p:nvGrpSpPr>
          <p:cNvPr id="18" name="Group 18"/>
          <p:cNvGrpSpPr/>
          <p:nvPr/>
        </p:nvGrpSpPr>
        <p:grpSpPr>
          <a:xfrm rot="-10800000">
            <a:off x="-1709241" y="5460749"/>
            <a:ext cx="9377169" cy="976421"/>
            <a:chOff x="0" y="0"/>
            <a:chExt cx="2638028" cy="274691"/>
          </a:xfrm>
        </p:grpSpPr>
        <p:sp>
          <p:nvSpPr>
            <p:cNvPr id="19" name="Freeform 19"/>
            <p:cNvSpPr/>
            <p:nvPr/>
          </p:nvSpPr>
          <p:spPr>
            <a:xfrm>
              <a:off x="10730" y="0"/>
              <a:ext cx="2616568" cy="274691"/>
            </a:xfrm>
            <a:custGeom>
              <a:avLst/>
              <a:gdLst/>
              <a:ahLst/>
              <a:cxnLst/>
              <a:rect l="l" t="t" r="r" b="b"/>
              <a:pathLst>
                <a:path w="2616568" h="274691">
                  <a:moveTo>
                    <a:pt x="215587" y="0"/>
                  </a:moveTo>
                  <a:lnTo>
                    <a:pt x="2604180" y="0"/>
                  </a:lnTo>
                  <a:cubicBezTo>
                    <a:pt x="2608581" y="0"/>
                    <a:pt x="2612606" y="2479"/>
                    <a:pt x="2614587" y="6408"/>
                  </a:cubicBezTo>
                  <a:cubicBezTo>
                    <a:pt x="2616568" y="10337"/>
                    <a:pt x="2616166" y="15047"/>
                    <a:pt x="2613550" y="18585"/>
                  </a:cubicBezTo>
                  <a:lnTo>
                    <a:pt x="2437846" y="256106"/>
                  </a:lnTo>
                  <a:cubicBezTo>
                    <a:pt x="2429199" y="267795"/>
                    <a:pt x="2415520" y="274691"/>
                    <a:pt x="2400980" y="274691"/>
                  </a:cubicBezTo>
                  <a:lnTo>
                    <a:pt x="12387" y="274691"/>
                  </a:lnTo>
                  <a:cubicBezTo>
                    <a:pt x="7987" y="274691"/>
                    <a:pt x="3962" y="272213"/>
                    <a:pt x="1981" y="268283"/>
                  </a:cubicBezTo>
                  <a:cubicBezTo>
                    <a:pt x="0" y="264354"/>
                    <a:pt x="401" y="259644"/>
                    <a:pt x="3018" y="256106"/>
                  </a:cubicBezTo>
                  <a:lnTo>
                    <a:pt x="178722" y="18585"/>
                  </a:lnTo>
                  <a:cubicBezTo>
                    <a:pt x="187369" y="6896"/>
                    <a:pt x="201047" y="0"/>
                    <a:pt x="215587" y="0"/>
                  </a:cubicBezTo>
                  <a:close/>
                </a:path>
              </a:pathLst>
            </a:custGeom>
            <a:solidFill>
              <a:srgbClr val="F12711"/>
            </a:solidFill>
          </p:spPr>
        </p:sp>
        <p:sp>
          <p:nvSpPr>
            <p:cNvPr id="20" name="TextBox 20"/>
            <p:cNvSpPr txBox="1"/>
            <p:nvPr/>
          </p:nvSpPr>
          <p:spPr>
            <a:xfrm>
              <a:off x="101600" y="-57150"/>
              <a:ext cx="609600" cy="66675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028700" y="3589982"/>
            <a:ext cx="7412188" cy="1553518"/>
          </a:xfrm>
          <a:prstGeom prst="rect">
            <a:avLst/>
          </a:prstGeom>
        </p:spPr>
        <p:txBody>
          <a:bodyPr lIns="0" tIns="0" rIns="0" bIns="0" rtlCol="0" anchor="t">
            <a:spAutoFit/>
          </a:bodyPr>
          <a:lstStyle/>
          <a:p>
            <a:pPr>
              <a:lnSpc>
                <a:spcPts val="11352"/>
              </a:lnSpc>
            </a:pPr>
            <a:r>
              <a:rPr lang="en-US" sz="9958">
                <a:solidFill>
                  <a:srgbClr val="000000"/>
                </a:solidFill>
                <a:latin typeface="Poppins Bold"/>
              </a:rPr>
              <a:t>Thank You</a:t>
            </a:r>
          </a:p>
        </p:txBody>
      </p:sp>
      <p:sp>
        <p:nvSpPr>
          <p:cNvPr id="22" name="TextBox 22"/>
          <p:cNvSpPr txBox="1"/>
          <p:nvPr/>
        </p:nvSpPr>
        <p:spPr>
          <a:xfrm>
            <a:off x="1028700" y="5573189"/>
            <a:ext cx="5939471" cy="650975"/>
          </a:xfrm>
          <a:prstGeom prst="rect">
            <a:avLst/>
          </a:prstGeom>
        </p:spPr>
        <p:txBody>
          <a:bodyPr lIns="0" tIns="0" rIns="0" bIns="0" rtlCol="0" anchor="t">
            <a:spAutoFit/>
          </a:bodyPr>
          <a:lstStyle/>
          <a:p>
            <a:pPr>
              <a:lnSpc>
                <a:spcPts val="4765"/>
              </a:lnSpc>
            </a:pPr>
            <a:r>
              <a:rPr lang="en-US" sz="4179">
                <a:solidFill>
                  <a:srgbClr val="FFFFFF"/>
                </a:solidFill>
                <a:latin typeface="Poppins Medium Bold"/>
              </a:rPr>
              <a:t>For Your Attention</a:t>
            </a:r>
          </a:p>
        </p:txBody>
      </p:sp>
      <p:grpSp>
        <p:nvGrpSpPr>
          <p:cNvPr id="23" name="Group 23"/>
          <p:cNvGrpSpPr/>
          <p:nvPr/>
        </p:nvGrpSpPr>
        <p:grpSpPr>
          <a:xfrm>
            <a:off x="17543363" y="4092674"/>
            <a:ext cx="2101652" cy="2101652"/>
            <a:chOff x="0" y="0"/>
            <a:chExt cx="837653" cy="837653"/>
          </a:xfrm>
        </p:grpSpPr>
        <p:sp>
          <p:nvSpPr>
            <p:cNvPr id="24" name="Freeform 24"/>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19202B"/>
            </a:solidFill>
          </p:spPr>
        </p:sp>
        <p:sp>
          <p:nvSpPr>
            <p:cNvPr id="25" name="TextBox 2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5319631" y="7889223"/>
            <a:ext cx="5446373" cy="5446373"/>
            <a:chOff x="0" y="0"/>
            <a:chExt cx="837653" cy="837653"/>
          </a:xfrm>
        </p:grpSpPr>
        <p:sp>
          <p:nvSpPr>
            <p:cNvPr id="27" name="Freeform 27"/>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F12711"/>
            </a:solidFill>
            <a:ln w="533400">
              <a:solidFill>
                <a:srgbClr val="19202B"/>
              </a:solidFill>
            </a:ln>
          </p:spPr>
        </p:sp>
        <p:sp>
          <p:nvSpPr>
            <p:cNvPr id="28" name="TextBox 28"/>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9366590" y="-1793794"/>
            <a:ext cx="3587587" cy="3587587"/>
            <a:chOff x="0" y="0"/>
            <a:chExt cx="837653" cy="837653"/>
          </a:xfrm>
        </p:grpSpPr>
        <p:sp>
          <p:nvSpPr>
            <p:cNvPr id="30" name="Freeform 30"/>
            <p:cNvSpPr/>
            <p:nvPr/>
          </p:nvSpPr>
          <p:spPr>
            <a:xfrm>
              <a:off x="1869" y="0"/>
              <a:ext cx="833915" cy="837653"/>
            </a:xfrm>
            <a:custGeom>
              <a:avLst/>
              <a:gdLst/>
              <a:ahLst/>
              <a:cxnLst/>
              <a:rect l="l" t="t" r="r" b="b"/>
              <a:pathLst>
                <a:path w="833915" h="837653">
                  <a:moveTo>
                    <a:pt x="416957" y="0"/>
                  </a:moveTo>
                  <a:cubicBezTo>
                    <a:pt x="647538" y="1031"/>
                    <a:pt x="833915" y="188244"/>
                    <a:pt x="833915" y="418826"/>
                  </a:cubicBezTo>
                  <a:cubicBezTo>
                    <a:pt x="833915" y="649409"/>
                    <a:pt x="647538" y="836621"/>
                    <a:pt x="416957" y="837653"/>
                  </a:cubicBezTo>
                  <a:cubicBezTo>
                    <a:pt x="186377" y="836621"/>
                    <a:pt x="0" y="649409"/>
                    <a:pt x="0" y="418826"/>
                  </a:cubicBezTo>
                  <a:cubicBezTo>
                    <a:pt x="0" y="188244"/>
                    <a:pt x="186377" y="1031"/>
                    <a:pt x="416957" y="0"/>
                  </a:cubicBezTo>
                  <a:close/>
                </a:path>
              </a:pathLst>
            </a:custGeom>
            <a:solidFill>
              <a:srgbClr val="F12711"/>
            </a:solidFill>
            <a:ln w="504825">
              <a:solidFill>
                <a:srgbClr val="19202B"/>
              </a:solidFill>
            </a:ln>
          </p:spPr>
        </p:sp>
        <p:sp>
          <p:nvSpPr>
            <p:cNvPr id="31" name="TextBox 31"/>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FILL" val="a1"/>
</p:tagLst>
</file>

<file path=ppt/tags/tag2.xml><?xml version="1.0" encoding="utf-8"?>
<p:tagLst xmlns:a="http://schemas.openxmlformats.org/drawingml/2006/main" xmlns:r="http://schemas.openxmlformats.org/officeDocument/2006/relationships" xmlns:p="http://schemas.openxmlformats.org/presentationml/2006/main">
  <p:tag name="FILL" val="a1"/>
</p:tagLst>
</file>

<file path=ppt/tags/tag3.xml><?xml version="1.0" encoding="utf-8"?>
<p:tagLst xmlns:a="http://schemas.openxmlformats.org/drawingml/2006/main" xmlns:r="http://schemas.openxmlformats.org/officeDocument/2006/relationships" xmlns:p="http://schemas.openxmlformats.org/presentationml/2006/main">
  <p:tag name="FILL" val="a1"/>
</p:tagLst>
</file>

<file path=ppt/tags/tag4.xml><?xml version="1.0" encoding="utf-8"?>
<p:tagLst xmlns:a="http://schemas.openxmlformats.org/drawingml/2006/main" xmlns:r="http://schemas.openxmlformats.org/officeDocument/2006/relationships" xmlns:p="http://schemas.openxmlformats.org/presentationml/2006/main">
  <p:tag name="FILL" val="a1"/>
</p:tagLst>
</file>

<file path=ppt/tags/tag5.xml><?xml version="1.0" encoding="utf-8"?>
<p:tagLst xmlns:a="http://schemas.openxmlformats.org/drawingml/2006/main" xmlns:r="http://schemas.openxmlformats.org/officeDocument/2006/relationships" xmlns:p="http://schemas.openxmlformats.org/presentationml/2006/main">
  <p:tag name="FILL" val="a1"/>
</p:tagLst>
</file>

<file path=ppt/tags/tag6.xml><?xml version="1.0" encoding="utf-8"?>
<p:tagLst xmlns:a="http://schemas.openxmlformats.org/drawingml/2006/main" xmlns:r="http://schemas.openxmlformats.org/officeDocument/2006/relationships" xmlns:p="http://schemas.openxmlformats.org/presentationml/2006/main">
  <p:tag name="FILL" val="a1"/>
</p:tagLst>
</file>

<file path=ppt/tags/tag7.xml><?xml version="1.0" encoding="utf-8"?>
<p:tagLst xmlns:a="http://schemas.openxmlformats.org/drawingml/2006/main" xmlns:r="http://schemas.openxmlformats.org/officeDocument/2006/relationships" xmlns:p="http://schemas.openxmlformats.org/presentationml/2006/main">
  <p:tag name="FILL" val="a1"/>
</p:tagLst>
</file>

<file path=ppt/theme/theme1.xml><?xml version="1.0" encoding="utf-8"?>
<a:theme xmlns:a="http://schemas.openxmlformats.org/drawingml/2006/main" name="Office Theme">
  <a:themeElements>
    <a:clrScheme name="Agile/Scrum">
      <a:dk1>
        <a:srgbClr val="3C486B"/>
      </a:dk1>
      <a:lt1>
        <a:srgbClr val="F0F0F0"/>
      </a:lt1>
      <a:dk2>
        <a:srgbClr val="F45050"/>
      </a:dk2>
      <a:lt2>
        <a:srgbClr val="F9D949"/>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0</TotalTime>
  <Words>943</Words>
  <Application>Microsoft Office PowerPoint</Application>
  <PresentationFormat>Custom</PresentationFormat>
  <Paragraphs>137</Paragraphs>
  <Slides>33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#9Slide01 Tieu de ngan</vt:lpstr>
      <vt:lpstr>Poppins Bold Italics</vt:lpstr>
      <vt:lpstr>Comic Sans</vt:lpstr>
      <vt:lpstr>#9Slide02 Noi dung dai</vt:lpstr>
      <vt:lpstr>Calibri</vt:lpstr>
      <vt:lpstr>#9Slide01 Noi dung ngan</vt:lpstr>
      <vt:lpstr>Arial</vt:lpstr>
      <vt:lpstr>Wingdings</vt:lpstr>
      <vt:lpstr>#9Slide02 Tieu de dai</vt:lpstr>
      <vt:lpstr>Poppins Medium Bold</vt:lpstr>
      <vt:lpstr>DVN-Poppins 1</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and Scrum</dc:title>
  <dc:subject>9Slide.vn</dc:subject>
  <dc:creator>pnlh</dc:creator>
  <dc:description>9Slide.vn</dc:description>
  <cp:lastModifiedBy>Phan Nguyễn Lâm Hà</cp:lastModifiedBy>
  <cp:revision>2</cp:revision>
  <dcterms:created xsi:type="dcterms:W3CDTF">2006-08-16T00:00:00Z</dcterms:created>
  <dcterms:modified xsi:type="dcterms:W3CDTF">2023-06-14T13:20:30Z</dcterms:modified>
  <cp:category>9Slide.vn</cp:category>
  <dc:identifier>DAFfEMxH6G4</dc:identifier>
</cp:coreProperties>
</file>