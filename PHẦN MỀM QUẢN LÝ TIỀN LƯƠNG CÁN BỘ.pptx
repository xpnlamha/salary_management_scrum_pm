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x="18288000" cy="10287000"/>
  <p:notesSz cx="6858000" cy="9144000"/>
  <p:embeddedFontLst>
    <p:embeddedFont>
      <p:font typeface="Muli Bold" charset="1" panose="00000800000000000000"/>
      <p:regular r:id="rId30"/>
    </p:embeddedFont>
    <p:embeddedFont>
      <p:font typeface="Muli Black" charset="1" panose="00000A00000000000000"/>
      <p:regular r:id="rId31"/>
    </p:embeddedFont>
    <p:embeddedFont>
      <p:font typeface="Muli Regular" charset="1" panose="00000500000000000000"/>
      <p:regular r:id="rId32"/>
    </p:embeddedFont>
    <p:embeddedFont>
      <p:font typeface="Muli Bold Bold" charset="1" panose="00000900000000000000"/>
      <p:regular r:id="rId33"/>
    </p:embeddedFont>
    <p:embeddedFont>
      <p:font typeface="Muli Regular Bold" charset="1" panose="00000700000000000000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svg" Type="http://schemas.openxmlformats.org/officeDocument/2006/relationships/image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7.pn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jpeg" Type="http://schemas.openxmlformats.org/officeDocument/2006/relationships/image"/><Relationship Id="rId3" Target="../media/image17.png" Type="http://schemas.openxmlformats.org/officeDocument/2006/relationships/image"/><Relationship Id="rId4" Target="../media/image18.svg" Type="http://schemas.openxmlformats.org/officeDocument/2006/relationships/image"/><Relationship Id="rId5" Target="../media/image19.png" Type="http://schemas.openxmlformats.org/officeDocument/2006/relationships/image"/><Relationship Id="rId6" Target="../media/image20.svg" Type="http://schemas.openxmlformats.org/officeDocument/2006/relationships/image"/><Relationship Id="rId7" Target="../media/image21.png" Type="http://schemas.openxmlformats.org/officeDocument/2006/relationships/image"/><Relationship Id="rId8" Target="../media/image22.svg" Type="http://schemas.openxmlformats.org/officeDocument/2006/relationships/image"/><Relationship Id="rId9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Relationship Id="rId6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svg" Type="http://schemas.openxmlformats.org/officeDocument/2006/relationships/image"/><Relationship Id="rId4" Target="../media/image27.jpeg" Type="http://schemas.openxmlformats.org/officeDocument/2006/relationships/image"/><Relationship Id="rId5" Target="../media/image28.jpeg" Type="http://schemas.openxmlformats.org/officeDocument/2006/relationships/image"/><Relationship Id="rId6" Target="../media/image29.jpeg" Type="http://schemas.openxmlformats.org/officeDocument/2006/relationships/image"/><Relationship Id="rId7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7.png" Type="http://schemas.openxmlformats.org/officeDocument/2006/relationships/image"/><Relationship Id="rId11" Target="../media/image38.svg" Type="http://schemas.openxmlformats.org/officeDocument/2006/relationships/image"/><Relationship Id="rId2" Target="../media/image30.png" Type="http://schemas.openxmlformats.org/officeDocument/2006/relationships/image"/><Relationship Id="rId3" Target="../media/image31.svg" Type="http://schemas.openxmlformats.org/officeDocument/2006/relationships/image"/><Relationship Id="rId4" Target="../media/image32.jpeg" Type="http://schemas.openxmlformats.org/officeDocument/2006/relationships/image"/><Relationship Id="rId5" Target="../media/image33.png" Type="http://schemas.openxmlformats.org/officeDocument/2006/relationships/image"/><Relationship Id="rId6" Target="../media/image34.svg" Type="http://schemas.openxmlformats.org/officeDocument/2006/relationships/image"/><Relationship Id="rId7" Target="../media/image7.png" Type="http://schemas.openxmlformats.org/officeDocument/2006/relationships/image"/><Relationship Id="rId8" Target="../media/image35.png" Type="http://schemas.openxmlformats.org/officeDocument/2006/relationships/image"/><Relationship Id="rId9" Target="../media/image3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png" Type="http://schemas.openxmlformats.org/officeDocument/2006/relationships/image"/><Relationship Id="rId3" Target="../media/image40.svg" Type="http://schemas.openxmlformats.org/officeDocument/2006/relationships/image"/><Relationship Id="rId4" Target="../media/image7.png" Type="http://schemas.openxmlformats.org/officeDocument/2006/relationships/image"/><Relationship Id="rId5" Target="../media/image4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2.png" Type="http://schemas.openxmlformats.org/officeDocument/2006/relationships/image"/><Relationship Id="rId3" Target="../media/image43.svg" Type="http://schemas.openxmlformats.org/officeDocument/2006/relationships/image"/><Relationship Id="rId4" Target="../media/image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5.png" Type="http://schemas.openxmlformats.org/officeDocument/2006/relationships/image"/><Relationship Id="rId11" Target="../media/image36.svg" Type="http://schemas.openxmlformats.org/officeDocument/2006/relationships/image"/><Relationship Id="rId12" Target="../media/image51.png" Type="http://schemas.openxmlformats.org/officeDocument/2006/relationships/image"/><Relationship Id="rId13" Target="../media/image52.svg" Type="http://schemas.openxmlformats.org/officeDocument/2006/relationships/image"/><Relationship Id="rId14" Target="../media/image53.png" Type="http://schemas.openxmlformats.org/officeDocument/2006/relationships/image"/><Relationship Id="rId15" Target="../media/image54.svg" Type="http://schemas.openxmlformats.org/officeDocument/2006/relationships/image"/><Relationship Id="rId2" Target="../media/image7.png" Type="http://schemas.openxmlformats.org/officeDocument/2006/relationships/image"/><Relationship Id="rId3" Target="../media/image44.png" Type="http://schemas.openxmlformats.org/officeDocument/2006/relationships/image"/><Relationship Id="rId4" Target="../media/image45.svg" Type="http://schemas.openxmlformats.org/officeDocument/2006/relationships/image"/><Relationship Id="rId5" Target="../media/image46.png" Type="http://schemas.openxmlformats.org/officeDocument/2006/relationships/image"/><Relationship Id="rId6" Target="../media/image47.png" Type="http://schemas.openxmlformats.org/officeDocument/2006/relationships/image"/><Relationship Id="rId7" Target="../media/image48.svg" Type="http://schemas.openxmlformats.org/officeDocument/2006/relationships/image"/><Relationship Id="rId8" Target="../media/image49.png" Type="http://schemas.openxmlformats.org/officeDocument/2006/relationships/image"/><Relationship Id="rId9" Target="../media/image50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5.png" Type="http://schemas.openxmlformats.org/officeDocument/2006/relationships/image"/><Relationship Id="rId3" Target="../media/image56.svg" Type="http://schemas.openxmlformats.org/officeDocument/2006/relationships/image"/><Relationship Id="rId4" Target="../media/image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2.png" Type="http://schemas.openxmlformats.org/officeDocument/2006/relationships/image"/><Relationship Id="rId3" Target="../media/image43.svg" Type="http://schemas.openxmlformats.org/officeDocument/2006/relationships/image"/><Relationship Id="rId4" Target="../media/image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3.png" Type="http://schemas.openxmlformats.org/officeDocument/2006/relationships/image"/><Relationship Id="rId11" Target="../media/image64.svg" Type="http://schemas.openxmlformats.org/officeDocument/2006/relationships/image"/><Relationship Id="rId12" Target="../media/image65.png" Type="http://schemas.openxmlformats.org/officeDocument/2006/relationships/image"/><Relationship Id="rId13" Target="../media/image66.svg" Type="http://schemas.openxmlformats.org/officeDocument/2006/relationships/image"/><Relationship Id="rId14" Target="../media/image67.png" Type="http://schemas.openxmlformats.org/officeDocument/2006/relationships/image"/><Relationship Id="rId15" Target="../media/image68.svg" Type="http://schemas.openxmlformats.org/officeDocument/2006/relationships/image"/><Relationship Id="rId16" Target="../media/image69.png" Type="http://schemas.openxmlformats.org/officeDocument/2006/relationships/image"/><Relationship Id="rId17" Target="../media/image70.svg" Type="http://schemas.openxmlformats.org/officeDocument/2006/relationships/image"/><Relationship Id="rId18" Target="../media/image7.png" Type="http://schemas.openxmlformats.org/officeDocument/2006/relationships/image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57.png" Type="http://schemas.openxmlformats.org/officeDocument/2006/relationships/image"/><Relationship Id="rId5" Target="../media/image58.svg" Type="http://schemas.openxmlformats.org/officeDocument/2006/relationships/image"/><Relationship Id="rId6" Target="../media/image59.png" Type="http://schemas.openxmlformats.org/officeDocument/2006/relationships/image"/><Relationship Id="rId7" Target="../media/image60.svg" Type="http://schemas.openxmlformats.org/officeDocument/2006/relationships/image"/><Relationship Id="rId8" Target="../media/image61.png" Type="http://schemas.openxmlformats.org/officeDocument/2006/relationships/image"/><Relationship Id="rId9" Target="../media/image62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3.png" Type="http://schemas.openxmlformats.org/officeDocument/2006/relationships/image"/><Relationship Id="rId11" Target="../media/image64.svg" Type="http://schemas.openxmlformats.org/officeDocument/2006/relationships/image"/><Relationship Id="rId12" Target="../media/image65.png" Type="http://schemas.openxmlformats.org/officeDocument/2006/relationships/image"/><Relationship Id="rId13" Target="../media/image66.svg" Type="http://schemas.openxmlformats.org/officeDocument/2006/relationships/image"/><Relationship Id="rId14" Target="../media/image67.png" Type="http://schemas.openxmlformats.org/officeDocument/2006/relationships/image"/><Relationship Id="rId15" Target="../media/image68.svg" Type="http://schemas.openxmlformats.org/officeDocument/2006/relationships/image"/><Relationship Id="rId16" Target="../media/image69.png" Type="http://schemas.openxmlformats.org/officeDocument/2006/relationships/image"/><Relationship Id="rId17" Target="../media/image70.svg" Type="http://schemas.openxmlformats.org/officeDocument/2006/relationships/image"/><Relationship Id="rId18" Target="../media/image7.png" Type="http://schemas.openxmlformats.org/officeDocument/2006/relationships/image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57.png" Type="http://schemas.openxmlformats.org/officeDocument/2006/relationships/image"/><Relationship Id="rId5" Target="../media/image58.svg" Type="http://schemas.openxmlformats.org/officeDocument/2006/relationships/image"/><Relationship Id="rId6" Target="../media/image59.png" Type="http://schemas.openxmlformats.org/officeDocument/2006/relationships/image"/><Relationship Id="rId7" Target="../media/image60.svg" Type="http://schemas.openxmlformats.org/officeDocument/2006/relationships/image"/><Relationship Id="rId8" Target="../media/image61.png" Type="http://schemas.openxmlformats.org/officeDocument/2006/relationships/image"/><Relationship Id="rId9" Target="../media/image62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3.png" Type="http://schemas.openxmlformats.org/officeDocument/2006/relationships/image"/><Relationship Id="rId11" Target="../media/image64.svg" Type="http://schemas.openxmlformats.org/officeDocument/2006/relationships/image"/><Relationship Id="rId12" Target="../media/image65.png" Type="http://schemas.openxmlformats.org/officeDocument/2006/relationships/image"/><Relationship Id="rId13" Target="../media/image66.svg" Type="http://schemas.openxmlformats.org/officeDocument/2006/relationships/image"/><Relationship Id="rId14" Target="../media/image67.png" Type="http://schemas.openxmlformats.org/officeDocument/2006/relationships/image"/><Relationship Id="rId15" Target="../media/image68.svg" Type="http://schemas.openxmlformats.org/officeDocument/2006/relationships/image"/><Relationship Id="rId16" Target="../media/image69.png" Type="http://schemas.openxmlformats.org/officeDocument/2006/relationships/image"/><Relationship Id="rId17" Target="../media/image70.svg" Type="http://schemas.openxmlformats.org/officeDocument/2006/relationships/image"/><Relationship Id="rId18" Target="../media/image7.png" Type="http://schemas.openxmlformats.org/officeDocument/2006/relationships/image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57.png" Type="http://schemas.openxmlformats.org/officeDocument/2006/relationships/image"/><Relationship Id="rId5" Target="../media/image58.svg" Type="http://schemas.openxmlformats.org/officeDocument/2006/relationships/image"/><Relationship Id="rId6" Target="../media/image59.png" Type="http://schemas.openxmlformats.org/officeDocument/2006/relationships/image"/><Relationship Id="rId7" Target="../media/image60.svg" Type="http://schemas.openxmlformats.org/officeDocument/2006/relationships/image"/><Relationship Id="rId8" Target="../media/image61.png" Type="http://schemas.openxmlformats.org/officeDocument/2006/relationships/image"/><Relationship Id="rId9" Target="../media/image62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3.png" Type="http://schemas.openxmlformats.org/officeDocument/2006/relationships/image"/><Relationship Id="rId11" Target="../media/image64.svg" Type="http://schemas.openxmlformats.org/officeDocument/2006/relationships/image"/><Relationship Id="rId12" Target="../media/image65.png" Type="http://schemas.openxmlformats.org/officeDocument/2006/relationships/image"/><Relationship Id="rId13" Target="../media/image66.svg" Type="http://schemas.openxmlformats.org/officeDocument/2006/relationships/image"/><Relationship Id="rId14" Target="../media/image67.png" Type="http://schemas.openxmlformats.org/officeDocument/2006/relationships/image"/><Relationship Id="rId15" Target="../media/image68.svg" Type="http://schemas.openxmlformats.org/officeDocument/2006/relationships/image"/><Relationship Id="rId16" Target="../media/image69.png" Type="http://schemas.openxmlformats.org/officeDocument/2006/relationships/image"/><Relationship Id="rId17" Target="../media/image70.svg" Type="http://schemas.openxmlformats.org/officeDocument/2006/relationships/image"/><Relationship Id="rId18" Target="../media/image7.png" Type="http://schemas.openxmlformats.org/officeDocument/2006/relationships/image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57.png" Type="http://schemas.openxmlformats.org/officeDocument/2006/relationships/image"/><Relationship Id="rId5" Target="../media/image58.svg" Type="http://schemas.openxmlformats.org/officeDocument/2006/relationships/image"/><Relationship Id="rId6" Target="../media/image59.png" Type="http://schemas.openxmlformats.org/officeDocument/2006/relationships/image"/><Relationship Id="rId7" Target="../media/image60.svg" Type="http://schemas.openxmlformats.org/officeDocument/2006/relationships/image"/><Relationship Id="rId8" Target="../media/image61.png" Type="http://schemas.openxmlformats.org/officeDocument/2006/relationships/image"/><Relationship Id="rId9" Target="../media/image62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3.png" Type="http://schemas.openxmlformats.org/officeDocument/2006/relationships/image"/><Relationship Id="rId11" Target="../media/image64.svg" Type="http://schemas.openxmlformats.org/officeDocument/2006/relationships/image"/><Relationship Id="rId12" Target="../media/image65.png" Type="http://schemas.openxmlformats.org/officeDocument/2006/relationships/image"/><Relationship Id="rId13" Target="../media/image66.svg" Type="http://schemas.openxmlformats.org/officeDocument/2006/relationships/image"/><Relationship Id="rId14" Target="../media/image67.png" Type="http://schemas.openxmlformats.org/officeDocument/2006/relationships/image"/><Relationship Id="rId15" Target="../media/image68.svg" Type="http://schemas.openxmlformats.org/officeDocument/2006/relationships/image"/><Relationship Id="rId16" Target="../media/image69.png" Type="http://schemas.openxmlformats.org/officeDocument/2006/relationships/image"/><Relationship Id="rId17" Target="../media/image70.svg" Type="http://schemas.openxmlformats.org/officeDocument/2006/relationships/image"/><Relationship Id="rId18" Target="../media/image7.png" Type="http://schemas.openxmlformats.org/officeDocument/2006/relationships/image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57.png" Type="http://schemas.openxmlformats.org/officeDocument/2006/relationships/image"/><Relationship Id="rId5" Target="../media/image58.svg" Type="http://schemas.openxmlformats.org/officeDocument/2006/relationships/image"/><Relationship Id="rId6" Target="../media/image59.png" Type="http://schemas.openxmlformats.org/officeDocument/2006/relationships/image"/><Relationship Id="rId7" Target="../media/image60.svg" Type="http://schemas.openxmlformats.org/officeDocument/2006/relationships/image"/><Relationship Id="rId8" Target="../media/image61.png" Type="http://schemas.openxmlformats.org/officeDocument/2006/relationships/image"/><Relationship Id="rId9" Target="../media/image62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3.png" Type="http://schemas.openxmlformats.org/officeDocument/2006/relationships/image"/><Relationship Id="rId11" Target="../media/image64.svg" Type="http://schemas.openxmlformats.org/officeDocument/2006/relationships/image"/><Relationship Id="rId12" Target="../media/image65.png" Type="http://schemas.openxmlformats.org/officeDocument/2006/relationships/image"/><Relationship Id="rId13" Target="../media/image66.svg" Type="http://schemas.openxmlformats.org/officeDocument/2006/relationships/image"/><Relationship Id="rId14" Target="../media/image67.png" Type="http://schemas.openxmlformats.org/officeDocument/2006/relationships/image"/><Relationship Id="rId15" Target="../media/image68.svg" Type="http://schemas.openxmlformats.org/officeDocument/2006/relationships/image"/><Relationship Id="rId16" Target="../media/image69.png" Type="http://schemas.openxmlformats.org/officeDocument/2006/relationships/image"/><Relationship Id="rId17" Target="../media/image70.svg" Type="http://schemas.openxmlformats.org/officeDocument/2006/relationships/image"/><Relationship Id="rId18" Target="../media/image7.png" Type="http://schemas.openxmlformats.org/officeDocument/2006/relationships/image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57.png" Type="http://schemas.openxmlformats.org/officeDocument/2006/relationships/image"/><Relationship Id="rId5" Target="../media/image58.svg" Type="http://schemas.openxmlformats.org/officeDocument/2006/relationships/image"/><Relationship Id="rId6" Target="../media/image59.png" Type="http://schemas.openxmlformats.org/officeDocument/2006/relationships/image"/><Relationship Id="rId7" Target="../media/image60.svg" Type="http://schemas.openxmlformats.org/officeDocument/2006/relationships/image"/><Relationship Id="rId8" Target="../media/image61.png" Type="http://schemas.openxmlformats.org/officeDocument/2006/relationships/image"/><Relationship Id="rId9" Target="../media/image62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3.png" Type="http://schemas.openxmlformats.org/officeDocument/2006/relationships/image"/><Relationship Id="rId11" Target="../media/image64.svg" Type="http://schemas.openxmlformats.org/officeDocument/2006/relationships/image"/><Relationship Id="rId12" Target="../media/image65.png" Type="http://schemas.openxmlformats.org/officeDocument/2006/relationships/image"/><Relationship Id="rId13" Target="../media/image66.svg" Type="http://schemas.openxmlformats.org/officeDocument/2006/relationships/image"/><Relationship Id="rId14" Target="../media/image67.png" Type="http://schemas.openxmlformats.org/officeDocument/2006/relationships/image"/><Relationship Id="rId15" Target="../media/image68.svg" Type="http://schemas.openxmlformats.org/officeDocument/2006/relationships/image"/><Relationship Id="rId16" Target="../media/image69.png" Type="http://schemas.openxmlformats.org/officeDocument/2006/relationships/image"/><Relationship Id="rId17" Target="../media/image70.svg" Type="http://schemas.openxmlformats.org/officeDocument/2006/relationships/image"/><Relationship Id="rId18" Target="../media/image7.png" Type="http://schemas.openxmlformats.org/officeDocument/2006/relationships/image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57.png" Type="http://schemas.openxmlformats.org/officeDocument/2006/relationships/image"/><Relationship Id="rId5" Target="../media/image58.svg" Type="http://schemas.openxmlformats.org/officeDocument/2006/relationships/image"/><Relationship Id="rId6" Target="../media/image59.png" Type="http://schemas.openxmlformats.org/officeDocument/2006/relationships/image"/><Relationship Id="rId7" Target="../media/image60.svg" Type="http://schemas.openxmlformats.org/officeDocument/2006/relationships/image"/><Relationship Id="rId8" Target="../media/image61.png" Type="http://schemas.openxmlformats.org/officeDocument/2006/relationships/image"/><Relationship Id="rId9" Target="../media/image62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1.png" Type="http://schemas.openxmlformats.org/officeDocument/2006/relationships/image"/><Relationship Id="rId3" Target="../media/image72.svg" Type="http://schemas.openxmlformats.org/officeDocument/2006/relationships/image"/><Relationship Id="rId4" Target="../media/image7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3.png" Type="http://schemas.openxmlformats.org/officeDocument/2006/relationships/image"/><Relationship Id="rId3" Target="../media/image74.svg" Type="http://schemas.openxmlformats.org/officeDocument/2006/relationships/image"/><Relationship Id="rId4" Target="../media/image75.png" Type="http://schemas.openxmlformats.org/officeDocument/2006/relationships/image"/><Relationship Id="rId5" Target="../media/image76.svg" Type="http://schemas.openxmlformats.org/officeDocument/2006/relationships/image"/><Relationship Id="rId6" Target="../media/image7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7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svg" Type="http://schemas.openxmlformats.org/officeDocument/2006/relationships/image"/><Relationship Id="rId4" Target="../media/image78.jpeg" Type="http://schemas.openxmlformats.org/officeDocument/2006/relationships/image"/><Relationship Id="rId5" Target="../media/image7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9.png" Type="http://schemas.openxmlformats.org/officeDocument/2006/relationships/image"/><Relationship Id="rId3" Target="../media/image80.svg" Type="http://schemas.openxmlformats.org/officeDocument/2006/relationships/image"/><Relationship Id="rId4" Target="../media/image7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9.png" Type="http://schemas.openxmlformats.org/officeDocument/2006/relationships/image"/><Relationship Id="rId3" Target="../media/image80.svg" Type="http://schemas.openxmlformats.org/officeDocument/2006/relationships/image"/><Relationship Id="rId4" Target="../media/image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747784" y="7777786"/>
            <a:ext cx="3016899" cy="565669"/>
          </a:xfrm>
          <a:custGeom>
            <a:avLst/>
            <a:gdLst/>
            <a:ahLst/>
            <a:cxnLst/>
            <a:rect r="r" b="b" t="t" l="l"/>
            <a:pathLst>
              <a:path h="565669" w="3016899">
                <a:moveTo>
                  <a:pt x="0" y="0"/>
                </a:moveTo>
                <a:lnTo>
                  <a:pt x="3016899" y="0"/>
                </a:lnTo>
                <a:lnTo>
                  <a:pt x="3016899" y="565669"/>
                </a:lnTo>
                <a:lnTo>
                  <a:pt x="0" y="5656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10657400" y="1202667"/>
            <a:ext cx="7630600" cy="9084333"/>
          </a:xfrm>
          <a:prstGeom prst="rect">
            <a:avLst/>
          </a:prstGeom>
          <a:solidFill>
            <a:srgbClr val="EDF0F2"/>
          </a:solidFill>
        </p:spPr>
      </p:sp>
      <p:sp>
        <p:nvSpPr>
          <p:cNvPr name="Freeform 4" id="4"/>
          <p:cNvSpPr/>
          <p:nvPr/>
        </p:nvSpPr>
        <p:spPr>
          <a:xfrm flipH="false" flipV="false" rot="2358333">
            <a:off x="11847121" y="8259140"/>
            <a:ext cx="909316" cy="801852"/>
          </a:xfrm>
          <a:custGeom>
            <a:avLst/>
            <a:gdLst/>
            <a:ahLst/>
            <a:cxnLst/>
            <a:rect r="r" b="b" t="t" l="l"/>
            <a:pathLst>
              <a:path h="801852" w="909316">
                <a:moveTo>
                  <a:pt x="0" y="0"/>
                </a:moveTo>
                <a:lnTo>
                  <a:pt x="909317" y="0"/>
                </a:lnTo>
                <a:lnTo>
                  <a:pt x="909317" y="801852"/>
                </a:lnTo>
                <a:lnTo>
                  <a:pt x="0" y="8018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2358333">
            <a:off x="11847121" y="2315540"/>
            <a:ext cx="909316" cy="801852"/>
          </a:xfrm>
          <a:custGeom>
            <a:avLst/>
            <a:gdLst/>
            <a:ahLst/>
            <a:cxnLst/>
            <a:rect r="r" b="b" t="t" l="l"/>
            <a:pathLst>
              <a:path h="801852" w="909316">
                <a:moveTo>
                  <a:pt x="0" y="0"/>
                </a:moveTo>
                <a:lnTo>
                  <a:pt x="909317" y="0"/>
                </a:lnTo>
                <a:lnTo>
                  <a:pt x="909317" y="801852"/>
                </a:lnTo>
                <a:lnTo>
                  <a:pt x="0" y="8018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 rot="0">
            <a:off x="-408731" y="1193142"/>
            <a:ext cx="18875389" cy="0"/>
          </a:xfrm>
          <a:prstGeom prst="line">
            <a:avLst/>
          </a:prstGeom>
          <a:ln cap="flat" w="9525">
            <a:solidFill>
              <a:srgbClr val="2C2C2C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186921">
            <a:off x="5947656" y="5082876"/>
            <a:ext cx="4606140" cy="4463768"/>
          </a:xfrm>
          <a:custGeom>
            <a:avLst/>
            <a:gdLst/>
            <a:ahLst/>
            <a:cxnLst/>
            <a:rect r="r" b="b" t="t" l="l"/>
            <a:pathLst>
              <a:path h="4463768" w="4606140">
                <a:moveTo>
                  <a:pt x="0" y="0"/>
                </a:moveTo>
                <a:lnTo>
                  <a:pt x="4606140" y="0"/>
                </a:lnTo>
                <a:lnTo>
                  <a:pt x="4606140" y="4463768"/>
                </a:lnTo>
                <a:lnTo>
                  <a:pt x="0" y="44637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8" id="8"/>
          <p:cNvSpPr/>
          <p:nvPr/>
        </p:nvSpPr>
        <p:spPr>
          <a:xfrm rot="-5401802">
            <a:off x="6122382" y="5740066"/>
            <a:ext cx="9084323" cy="0"/>
          </a:xfrm>
          <a:prstGeom prst="line">
            <a:avLst/>
          </a:prstGeom>
          <a:ln cap="flat" w="9525">
            <a:solidFill>
              <a:srgbClr val="2C2C2C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1028700" y="426762"/>
            <a:ext cx="5438168" cy="349143"/>
            <a:chOff x="0" y="0"/>
            <a:chExt cx="7250891" cy="46552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75907" cy="465525"/>
            </a:xfrm>
            <a:custGeom>
              <a:avLst/>
              <a:gdLst/>
              <a:ahLst/>
              <a:cxnLst/>
              <a:rect r="r" b="b" t="t" l="l"/>
              <a:pathLst>
                <a:path h="465525" w="575907">
                  <a:moveTo>
                    <a:pt x="0" y="0"/>
                  </a:moveTo>
                  <a:lnTo>
                    <a:pt x="575907" y="0"/>
                  </a:lnTo>
                  <a:lnTo>
                    <a:pt x="575907" y="465525"/>
                  </a:lnTo>
                  <a:lnTo>
                    <a:pt x="0" y="4655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838060" y="51788"/>
              <a:ext cx="6412831" cy="3333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>
                  <a:solidFill>
                    <a:srgbClr val="2C2C2C"/>
                  </a:solidFill>
                  <a:latin typeface="Muli Bold"/>
                  <a:ea typeface="Muli Bold"/>
                  <a:cs typeface="Muli Bold"/>
                  <a:sym typeface="Muli Bold"/>
                </a:rPr>
                <a:t>ĐẠI HỌC CÔNG NGHỆ THÔNG TIN - ĐHQGTPHCM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028700" y="2063243"/>
            <a:ext cx="8600000" cy="488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00"/>
              </a:lnSpc>
            </a:pPr>
            <a:r>
              <a:rPr lang="en-US" sz="8000">
                <a:solidFill>
                  <a:srgbClr val="2C2C2C"/>
                </a:solidFill>
                <a:latin typeface="Muli Black"/>
                <a:ea typeface="Muli Black"/>
                <a:cs typeface="Muli Black"/>
                <a:sym typeface="Muli Black"/>
              </a:rPr>
              <a:t>XÂY DỰNG</a:t>
            </a:r>
          </a:p>
          <a:p>
            <a:pPr algn="l">
              <a:lnSpc>
                <a:spcPts val="9600"/>
              </a:lnSpc>
            </a:pPr>
            <a:r>
              <a:rPr lang="en-US" sz="8000">
                <a:solidFill>
                  <a:srgbClr val="2C2C2C"/>
                </a:solidFill>
                <a:latin typeface="Muli Black"/>
                <a:ea typeface="Muli Black"/>
                <a:cs typeface="Muli Black"/>
                <a:sym typeface="Muli Black"/>
              </a:rPr>
              <a:t>PHẦN MỀM QUẢN LÝ TIỀN LƯƠNG CÁN BỘ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7713534"/>
            <a:ext cx="7157961" cy="629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79"/>
              </a:lnSpc>
            </a:pPr>
            <a:r>
              <a:rPr lang="en-US" sz="3699">
                <a:solidFill>
                  <a:srgbClr val="2C2C2C"/>
                </a:solidFill>
                <a:latin typeface="Muli Regular"/>
                <a:ea typeface="Muli Regular"/>
                <a:cs typeface="Muli Regular"/>
                <a:sym typeface="Muli Regular"/>
              </a:rPr>
              <a:t>Theo mô hình Water Fall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3235567" y="8409940"/>
            <a:ext cx="3768479" cy="1258570"/>
            <a:chOff x="0" y="0"/>
            <a:chExt cx="5024639" cy="1678093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1130935"/>
              <a:ext cx="5024639" cy="5471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00"/>
                </a:lnSpc>
              </a:pPr>
              <a:r>
                <a:rPr lang="en-US" sz="2500">
                  <a:solidFill>
                    <a:srgbClr val="2C2C2C"/>
                  </a:solidFill>
                  <a:latin typeface="Muli Regular"/>
                  <a:ea typeface="Muli Regular"/>
                  <a:cs typeface="Muli Regular"/>
                  <a:sym typeface="Muli Regular"/>
                </a:rPr>
                <a:t>IS208.N21.HTCL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-47625"/>
              <a:ext cx="5024639" cy="11313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00"/>
                </a:lnSpc>
              </a:pPr>
              <a:r>
                <a:rPr lang="en-US" sz="2500" b="true">
                  <a:solidFill>
                    <a:srgbClr val="2C2C2C"/>
                  </a:solidFill>
                  <a:latin typeface="Muli Bold Bold"/>
                  <a:ea typeface="Muli Bold Bold"/>
                  <a:cs typeface="Muli Bold Bold"/>
                  <a:sym typeface="Muli Bold Bold"/>
                </a:rPr>
                <a:t>ThS. Văn Đức Sơn Hà</a:t>
              </a:r>
            </a:p>
            <a:p>
              <a:pPr algn="l">
                <a:lnSpc>
                  <a:spcPts val="3500"/>
                </a:lnSpc>
              </a:pPr>
              <a:r>
                <a:rPr lang="en-US" sz="2500" b="true">
                  <a:solidFill>
                    <a:srgbClr val="2C2C2C"/>
                  </a:solidFill>
                  <a:latin typeface="Muli Bold Bold"/>
                  <a:ea typeface="Muli Bold Bold"/>
                  <a:cs typeface="Muli Bold Bold"/>
                  <a:sym typeface="Muli Bold Bold"/>
                </a:rPr>
                <a:t>ThS. Võ Viết Đạt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3235567" y="2262441"/>
            <a:ext cx="5052433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2C2C2C"/>
                </a:solidFill>
                <a:latin typeface="Muli Bold"/>
                <a:ea typeface="Muli Bold"/>
                <a:cs typeface="Muli Bold"/>
                <a:sym typeface="Muli Bold"/>
              </a:rPr>
              <a:t>Nguyễn Đặng Đức Minh (NT)</a:t>
            </a:r>
          </a:p>
          <a:p>
            <a:pPr algn="l">
              <a:lnSpc>
                <a:spcPts val="3500"/>
              </a:lnSpc>
            </a:pPr>
            <a:r>
              <a:rPr lang="en-US" sz="2500" u="sng">
                <a:solidFill>
                  <a:srgbClr val="2C2C2C"/>
                </a:solidFill>
                <a:latin typeface="Muli Regular"/>
                <a:ea typeface="Muli Regular"/>
                <a:cs typeface="Muli Regular"/>
                <a:sym typeface="Muli Regular"/>
              </a:rPr>
              <a:t>21521131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2358333">
            <a:off x="11847121" y="3512008"/>
            <a:ext cx="909316" cy="801852"/>
          </a:xfrm>
          <a:custGeom>
            <a:avLst/>
            <a:gdLst/>
            <a:ahLst/>
            <a:cxnLst/>
            <a:rect r="r" b="b" t="t" l="l"/>
            <a:pathLst>
              <a:path h="801852" w="909316">
                <a:moveTo>
                  <a:pt x="0" y="0"/>
                </a:moveTo>
                <a:lnTo>
                  <a:pt x="909317" y="0"/>
                </a:lnTo>
                <a:lnTo>
                  <a:pt x="909317" y="801852"/>
                </a:lnTo>
                <a:lnTo>
                  <a:pt x="0" y="8018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3235567" y="3458909"/>
            <a:ext cx="3768479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2C2C2C"/>
                </a:solidFill>
                <a:latin typeface="Muli Bold"/>
                <a:ea typeface="Muli Bold"/>
                <a:cs typeface="Muli Bold"/>
                <a:sym typeface="Muli Bold"/>
              </a:rPr>
              <a:t>Phan Nguyễn Lâm Hà</a:t>
            </a:r>
          </a:p>
          <a:p>
            <a:pPr algn="l">
              <a:lnSpc>
                <a:spcPts val="3500"/>
              </a:lnSpc>
            </a:pPr>
            <a:r>
              <a:rPr lang="en-US" sz="2500" u="sng">
                <a:solidFill>
                  <a:srgbClr val="2C2C2C"/>
                </a:solidFill>
                <a:latin typeface="Muli Regular"/>
                <a:ea typeface="Muli Regular"/>
                <a:cs typeface="Muli Regular"/>
                <a:sym typeface="Muli Regular"/>
              </a:rPr>
              <a:t>21522030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2358333">
            <a:off x="11847121" y="4898976"/>
            <a:ext cx="909316" cy="801852"/>
          </a:xfrm>
          <a:custGeom>
            <a:avLst/>
            <a:gdLst/>
            <a:ahLst/>
            <a:cxnLst/>
            <a:rect r="r" b="b" t="t" l="l"/>
            <a:pathLst>
              <a:path h="801852" w="909316">
                <a:moveTo>
                  <a:pt x="0" y="0"/>
                </a:moveTo>
                <a:lnTo>
                  <a:pt x="909317" y="0"/>
                </a:lnTo>
                <a:lnTo>
                  <a:pt x="909317" y="801852"/>
                </a:lnTo>
                <a:lnTo>
                  <a:pt x="0" y="8018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3235567" y="4845877"/>
            <a:ext cx="3768479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2C2C2C"/>
                </a:solidFill>
                <a:latin typeface="Muli Bold"/>
                <a:ea typeface="Muli Bold"/>
                <a:cs typeface="Muli Bold"/>
                <a:sym typeface="Muli Bold"/>
              </a:rPr>
              <a:t>Trịnh Trương Quốc Bảo</a:t>
            </a:r>
          </a:p>
          <a:p>
            <a:pPr algn="l">
              <a:lnSpc>
                <a:spcPts val="3500"/>
              </a:lnSpc>
            </a:pPr>
            <a:r>
              <a:rPr lang="en-US" sz="2500" u="sng">
                <a:solidFill>
                  <a:srgbClr val="2C2C2C"/>
                </a:solidFill>
                <a:latin typeface="Muli Regular"/>
                <a:ea typeface="Muli Regular"/>
                <a:cs typeface="Muli Regular"/>
                <a:sym typeface="Muli Regular"/>
              </a:rPr>
              <a:t>19521261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2358333">
            <a:off x="11847121" y="6285944"/>
            <a:ext cx="909316" cy="801852"/>
          </a:xfrm>
          <a:custGeom>
            <a:avLst/>
            <a:gdLst/>
            <a:ahLst/>
            <a:cxnLst/>
            <a:rect r="r" b="b" t="t" l="l"/>
            <a:pathLst>
              <a:path h="801852" w="909316">
                <a:moveTo>
                  <a:pt x="0" y="0"/>
                </a:moveTo>
                <a:lnTo>
                  <a:pt x="909317" y="0"/>
                </a:lnTo>
                <a:lnTo>
                  <a:pt x="909317" y="801851"/>
                </a:lnTo>
                <a:lnTo>
                  <a:pt x="0" y="8018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3235567" y="6232845"/>
            <a:ext cx="3768479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2C2C2C"/>
                </a:solidFill>
                <a:latin typeface="Muli Bold"/>
                <a:ea typeface="Muli Bold"/>
                <a:cs typeface="Muli Bold"/>
                <a:sym typeface="Muli Bold"/>
              </a:rPr>
              <a:t>Lã Mai Win</a:t>
            </a:r>
          </a:p>
          <a:p>
            <a:pPr algn="l">
              <a:lnSpc>
                <a:spcPts val="3500"/>
              </a:lnSpc>
            </a:pPr>
            <a:r>
              <a:rPr lang="en-US" sz="2500" u="sng">
                <a:solidFill>
                  <a:srgbClr val="2C2C2C"/>
                </a:solidFill>
                <a:latin typeface="Muli Regular"/>
                <a:ea typeface="Muli Regular"/>
                <a:cs typeface="Muli Regular"/>
                <a:sym typeface="Muli Regular"/>
              </a:rPr>
              <a:t>19522550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893719" y="1297812"/>
            <a:ext cx="7157961" cy="629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9"/>
              </a:lnSpc>
            </a:pPr>
            <a:r>
              <a:rPr lang="en-US" sz="3699">
                <a:solidFill>
                  <a:srgbClr val="2C2C2C"/>
                </a:solidFill>
                <a:latin typeface="Muli Black"/>
                <a:ea typeface="Muli Black"/>
                <a:cs typeface="Muli Black"/>
                <a:sym typeface="Muli Black"/>
              </a:rPr>
              <a:t>Nhóm 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-408731" y="1193142"/>
            <a:ext cx="18875389" cy="0"/>
          </a:xfrm>
          <a:prstGeom prst="line">
            <a:avLst/>
          </a:prstGeom>
          <a:ln cap="flat" w="9525">
            <a:solidFill>
              <a:srgbClr val="2C2C2C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2487132" y="3815054"/>
            <a:ext cx="6541831" cy="5956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5" indent="-431797" lvl="1">
              <a:lnSpc>
                <a:spcPts val="7999"/>
              </a:lnSpc>
              <a:buFont typeface="Arial"/>
              <a:buChar char="•"/>
            </a:pPr>
            <a:r>
              <a:rPr lang="en-US" b="true" sz="3999">
                <a:solidFill>
                  <a:srgbClr val="2C2C2C"/>
                </a:solidFill>
                <a:latin typeface="Muli Regular Bold"/>
                <a:ea typeface="Muli Regular Bold"/>
                <a:cs typeface="Muli Regular Bold"/>
                <a:sym typeface="Muli Regular Bold"/>
              </a:rPr>
              <a:t>Giới thiệu dự án</a:t>
            </a:r>
          </a:p>
          <a:p>
            <a:pPr algn="l" marL="863595" indent="-431797" lvl="1">
              <a:lnSpc>
                <a:spcPts val="7999"/>
              </a:lnSpc>
              <a:buFont typeface="Arial"/>
              <a:buChar char="•"/>
            </a:pPr>
            <a:r>
              <a:rPr lang="en-US" b="true" sz="3999">
                <a:solidFill>
                  <a:srgbClr val="2C2C2C"/>
                </a:solidFill>
                <a:latin typeface="Muli Regular Bold"/>
                <a:ea typeface="Muli Regular Bold"/>
                <a:cs typeface="Muli Regular Bold"/>
                <a:sym typeface="Muli Regular Bold"/>
              </a:rPr>
              <a:t>Lý do làm dự án</a:t>
            </a:r>
          </a:p>
          <a:p>
            <a:pPr algn="l" marL="863595" indent="-431797" lvl="1">
              <a:lnSpc>
                <a:spcPts val="7999"/>
              </a:lnSpc>
              <a:buFont typeface="Arial"/>
              <a:buChar char="•"/>
            </a:pPr>
            <a:r>
              <a:rPr lang="en-US" b="true" sz="3999">
                <a:solidFill>
                  <a:srgbClr val="2C2C2C"/>
                </a:solidFill>
                <a:latin typeface="Muli Regular Bold"/>
                <a:ea typeface="Muli Regular Bold"/>
                <a:cs typeface="Muli Regular Bold"/>
                <a:sym typeface="Muli Regular Bold"/>
              </a:rPr>
              <a:t>Khởi động dự án</a:t>
            </a:r>
          </a:p>
          <a:p>
            <a:pPr algn="l" marL="863595" indent="-431797" lvl="1">
              <a:lnSpc>
                <a:spcPts val="7999"/>
              </a:lnSpc>
              <a:buFont typeface="Arial"/>
              <a:buChar char="•"/>
            </a:pPr>
            <a:r>
              <a:rPr lang="en-US" b="true" sz="3999">
                <a:solidFill>
                  <a:srgbClr val="2C2C2C"/>
                </a:solidFill>
                <a:latin typeface="Muli Regular Bold"/>
                <a:ea typeface="Muli Regular Bold"/>
                <a:cs typeface="Muli Regular Bold"/>
                <a:sym typeface="Muli Regular Bold"/>
              </a:rPr>
              <a:t>Lên kế hoạch dự án</a:t>
            </a:r>
          </a:p>
          <a:p>
            <a:pPr algn="l" marL="863595" indent="-431797" lvl="1">
              <a:lnSpc>
                <a:spcPts val="7999"/>
              </a:lnSpc>
              <a:buFont typeface="Arial"/>
              <a:buChar char="•"/>
            </a:pPr>
            <a:r>
              <a:rPr lang="en-US" b="true" sz="3999">
                <a:solidFill>
                  <a:srgbClr val="2C2C2C"/>
                </a:solidFill>
                <a:latin typeface="Muli Regular Bold"/>
                <a:ea typeface="Muli Regular Bold"/>
                <a:cs typeface="Muli Regular Bold"/>
                <a:sym typeface="Muli Regular Bold"/>
              </a:rPr>
              <a:t>Thực hiện dự án</a:t>
            </a:r>
          </a:p>
          <a:p>
            <a:pPr algn="l" marL="863595" indent="-431797" lvl="1">
              <a:lnSpc>
                <a:spcPts val="7999"/>
              </a:lnSpc>
              <a:buFont typeface="Arial"/>
              <a:buChar char="•"/>
            </a:pPr>
            <a:r>
              <a:rPr lang="en-US" b="true" sz="3999">
                <a:solidFill>
                  <a:srgbClr val="2C2C2C"/>
                </a:solidFill>
                <a:latin typeface="Muli Regular Bold"/>
                <a:ea typeface="Muli Regular Bold"/>
                <a:cs typeface="Muli Regular Bold"/>
                <a:sym typeface="Muli Regular Bold"/>
              </a:rPr>
              <a:t>Chi phí dự án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2457095">
            <a:off x="2608283" y="1569369"/>
            <a:ext cx="2659379" cy="2703620"/>
          </a:xfrm>
          <a:custGeom>
            <a:avLst/>
            <a:gdLst/>
            <a:ahLst/>
            <a:cxnLst/>
            <a:rect r="r" b="b" t="t" l="l"/>
            <a:pathLst>
              <a:path h="2703620" w="2659379">
                <a:moveTo>
                  <a:pt x="0" y="0"/>
                </a:moveTo>
                <a:lnTo>
                  <a:pt x="2659378" y="0"/>
                </a:lnTo>
                <a:lnTo>
                  <a:pt x="2659378" y="2703620"/>
                </a:lnTo>
                <a:lnTo>
                  <a:pt x="0" y="27036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2013561"/>
            <a:ext cx="8115300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200"/>
              </a:lnSpc>
              <a:spcBef>
                <a:spcPct val="0"/>
              </a:spcBef>
            </a:pPr>
            <a:r>
              <a:rPr lang="en-US" sz="8500">
                <a:solidFill>
                  <a:srgbClr val="2C2C2C"/>
                </a:solidFill>
                <a:latin typeface="Muli Black"/>
                <a:ea typeface="Muli Black"/>
                <a:cs typeface="Muli Black"/>
                <a:sym typeface="Muli Black"/>
              </a:rPr>
              <a:t>Tổng quan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022612" y="3815054"/>
            <a:ext cx="6541831" cy="3937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3" indent="-431796" lvl="1">
              <a:lnSpc>
                <a:spcPts val="7999"/>
              </a:lnSpc>
              <a:buFont typeface="Arial"/>
              <a:buChar char="•"/>
            </a:pPr>
            <a:r>
              <a:rPr lang="en-US" b="true" sz="3999">
                <a:solidFill>
                  <a:srgbClr val="2C2C2C"/>
                </a:solidFill>
                <a:latin typeface="Muli Regular Bold"/>
                <a:ea typeface="Muli Regular Bold"/>
                <a:cs typeface="Muli Regular Bold"/>
                <a:sym typeface="Muli Regular Bold"/>
              </a:rPr>
              <a:t>Một số rủi ro</a:t>
            </a:r>
          </a:p>
          <a:p>
            <a:pPr algn="l" marL="863593" indent="-431796" lvl="1">
              <a:lnSpc>
                <a:spcPts val="7999"/>
              </a:lnSpc>
              <a:buFont typeface="Arial"/>
              <a:buChar char="•"/>
            </a:pPr>
            <a:r>
              <a:rPr lang="en-US" b="true" sz="3999">
                <a:solidFill>
                  <a:srgbClr val="2C2C2C"/>
                </a:solidFill>
                <a:latin typeface="Muli Regular Bold"/>
                <a:ea typeface="Muli Regular Bold"/>
                <a:cs typeface="Muli Regular Bold"/>
                <a:sym typeface="Muli Regular Bold"/>
              </a:rPr>
              <a:t>Kết quả đạt được</a:t>
            </a:r>
          </a:p>
          <a:p>
            <a:pPr algn="l" marL="863593" indent="-431796" lvl="1">
              <a:lnSpc>
                <a:spcPts val="7999"/>
              </a:lnSpc>
              <a:buFont typeface="Arial"/>
              <a:buChar char="•"/>
            </a:pPr>
            <a:r>
              <a:rPr lang="en-US" b="true" sz="3999">
                <a:solidFill>
                  <a:srgbClr val="2C2C2C"/>
                </a:solidFill>
                <a:latin typeface="Muli Regular Bold"/>
                <a:ea typeface="Muli Regular Bold"/>
                <a:cs typeface="Muli Regular Bold"/>
                <a:sym typeface="Muli Regular Bold"/>
              </a:rPr>
              <a:t>Tổng kết</a:t>
            </a:r>
          </a:p>
          <a:p>
            <a:pPr algn="l" marL="863593" indent="-431796" lvl="1">
              <a:lnSpc>
                <a:spcPts val="7999"/>
              </a:lnSpc>
              <a:buFont typeface="Arial"/>
              <a:buChar char="•"/>
            </a:pPr>
            <a:r>
              <a:rPr lang="en-US" b="true" sz="3999">
                <a:solidFill>
                  <a:srgbClr val="2C2C2C"/>
                </a:solidFill>
                <a:latin typeface="Muli Regular Bold"/>
                <a:ea typeface="Muli Regular Bold"/>
                <a:cs typeface="Muli Regular Bold"/>
                <a:sym typeface="Muli Regular Bold"/>
              </a:rPr>
              <a:t>Hỏi đáp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9519101" y="5143500"/>
            <a:ext cx="503511" cy="553862"/>
          </a:xfrm>
          <a:custGeom>
            <a:avLst/>
            <a:gdLst/>
            <a:ahLst/>
            <a:cxnLst/>
            <a:rect r="r" b="b" t="t" l="l"/>
            <a:pathLst>
              <a:path h="553862" w="503511">
                <a:moveTo>
                  <a:pt x="0" y="0"/>
                </a:moveTo>
                <a:lnTo>
                  <a:pt x="503511" y="0"/>
                </a:lnTo>
                <a:lnTo>
                  <a:pt x="503511" y="553862"/>
                </a:lnTo>
                <a:lnTo>
                  <a:pt x="0" y="5538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932916" y="7100827"/>
            <a:ext cx="554217" cy="644438"/>
          </a:xfrm>
          <a:custGeom>
            <a:avLst/>
            <a:gdLst/>
            <a:ahLst/>
            <a:cxnLst/>
            <a:rect r="r" b="b" t="t" l="l"/>
            <a:pathLst>
              <a:path h="644438" w="554217">
                <a:moveTo>
                  <a:pt x="0" y="0"/>
                </a:moveTo>
                <a:lnTo>
                  <a:pt x="554216" y="0"/>
                </a:lnTo>
                <a:lnTo>
                  <a:pt x="554216" y="644438"/>
                </a:lnTo>
                <a:lnTo>
                  <a:pt x="0" y="6444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028700" y="426762"/>
            <a:ext cx="5438168" cy="349143"/>
            <a:chOff x="0" y="0"/>
            <a:chExt cx="7250891" cy="46552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75907" cy="465525"/>
            </a:xfrm>
            <a:custGeom>
              <a:avLst/>
              <a:gdLst/>
              <a:ahLst/>
              <a:cxnLst/>
              <a:rect r="r" b="b" t="t" l="l"/>
              <a:pathLst>
                <a:path h="465525" w="575907">
                  <a:moveTo>
                    <a:pt x="0" y="0"/>
                  </a:moveTo>
                  <a:lnTo>
                    <a:pt x="575907" y="0"/>
                  </a:lnTo>
                  <a:lnTo>
                    <a:pt x="575907" y="465525"/>
                  </a:lnTo>
                  <a:lnTo>
                    <a:pt x="0" y="4655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838060" y="51788"/>
              <a:ext cx="6412831" cy="3333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>
                  <a:solidFill>
                    <a:srgbClr val="2C2C2C"/>
                  </a:solidFill>
                  <a:latin typeface="Muli Bold"/>
                  <a:ea typeface="Muli Bold"/>
                  <a:cs typeface="Muli Bold"/>
                  <a:sym typeface="Muli Bold"/>
                </a:rPr>
                <a:t>ĐẠI HỌC CÔNG NGHỆ THÔNG TIN - ĐHQGTPHCM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964969" y="4119854"/>
            <a:ext cx="522163" cy="574380"/>
          </a:xfrm>
          <a:custGeom>
            <a:avLst/>
            <a:gdLst/>
            <a:ahLst/>
            <a:cxnLst/>
            <a:rect r="r" b="b" t="t" l="l"/>
            <a:pathLst>
              <a:path h="574380" w="522163">
                <a:moveTo>
                  <a:pt x="0" y="0"/>
                </a:moveTo>
                <a:lnTo>
                  <a:pt x="522163" y="0"/>
                </a:lnTo>
                <a:lnTo>
                  <a:pt x="522163" y="574380"/>
                </a:lnTo>
                <a:lnTo>
                  <a:pt x="0" y="57438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F0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18301301" cy="1202667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AutoShape 3" id="3"/>
          <p:cNvSpPr/>
          <p:nvPr/>
        </p:nvSpPr>
        <p:spPr>
          <a:xfrm rot="0">
            <a:off x="-408731" y="1193142"/>
            <a:ext cx="18875389" cy="0"/>
          </a:xfrm>
          <a:prstGeom prst="line">
            <a:avLst/>
          </a:prstGeom>
          <a:ln cap="flat" w="9525">
            <a:solidFill>
              <a:srgbClr val="2C2C2C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28700" y="1836408"/>
            <a:ext cx="8633933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200"/>
              </a:lnSpc>
              <a:spcBef>
                <a:spcPct val="0"/>
              </a:spcBef>
            </a:pPr>
            <a:r>
              <a:rPr lang="en-US" sz="8500">
                <a:solidFill>
                  <a:srgbClr val="2C2C2C"/>
                </a:solidFill>
                <a:latin typeface="Muli Black"/>
                <a:ea typeface="Muli Black"/>
                <a:cs typeface="Muli Black"/>
                <a:sym typeface="Muli Black"/>
              </a:rPr>
              <a:t>Giới thiệu dự án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453262" y="3708399"/>
            <a:ext cx="7209372" cy="5540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 b="true">
                <a:solidFill>
                  <a:srgbClr val="2C2C2C"/>
                </a:solidFill>
                <a:latin typeface="Muli Regular Bold"/>
                <a:ea typeface="Muli Regular Bold"/>
                <a:cs typeface="Muli Regular Bold"/>
                <a:sym typeface="Muli Regular Bold"/>
              </a:rPr>
              <a:t>Tên đề tài:</a:t>
            </a:r>
          </a:p>
          <a:p>
            <a:pPr algn="l" marL="755646" indent="-377823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2C2C2C"/>
                </a:solidFill>
                <a:latin typeface="Muli Regular"/>
                <a:ea typeface="Muli Regular"/>
                <a:cs typeface="Muli Regular"/>
                <a:sym typeface="Muli Regular"/>
              </a:rPr>
              <a:t>Xây dựng Phần mềm Quản lý tiền lương cán bộ</a:t>
            </a:r>
            <a:r>
              <a:rPr lang="en-US" sz="3499">
                <a:solidFill>
                  <a:srgbClr val="2C2C2C"/>
                </a:solidFill>
                <a:latin typeface="Muli Regular"/>
                <a:ea typeface="Muli Regular"/>
                <a:cs typeface="Muli Regular"/>
                <a:sym typeface="Muli Regular"/>
              </a:rPr>
              <a:t> theo mô hình Water Fall.</a:t>
            </a:r>
          </a:p>
          <a:p>
            <a:pPr algn="l">
              <a:lnSpc>
                <a:spcPts val="4899"/>
              </a:lnSpc>
            </a:pPr>
            <a:r>
              <a:rPr lang="en-US" sz="3499" b="true">
                <a:solidFill>
                  <a:srgbClr val="2C2C2C"/>
                </a:solidFill>
                <a:latin typeface="Muli Regular Bold"/>
                <a:ea typeface="Muli Regular Bold"/>
                <a:cs typeface="Muli Regular Bold"/>
                <a:sym typeface="Muli Regular Bold"/>
              </a:rPr>
              <a:t>Đơn vị thực hiện:</a:t>
            </a:r>
          </a:p>
          <a:p>
            <a:pPr algn="l" marL="755646" indent="-377823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2C2C2C"/>
                </a:solidFill>
                <a:latin typeface="Muli Regular"/>
                <a:ea typeface="Muli Regular"/>
                <a:cs typeface="Muli Regular"/>
                <a:sym typeface="Muli Regular"/>
              </a:rPr>
              <a:t>Nhóm 01</a:t>
            </a:r>
          </a:p>
          <a:p>
            <a:pPr algn="l">
              <a:lnSpc>
                <a:spcPts val="4899"/>
              </a:lnSpc>
            </a:pPr>
            <a:r>
              <a:rPr lang="en-US" sz="3499" b="true">
                <a:solidFill>
                  <a:srgbClr val="2C2C2C"/>
                </a:solidFill>
                <a:latin typeface="Muli Regular Bold"/>
                <a:ea typeface="Muli Regular Bold"/>
                <a:cs typeface="Muli Regular Bold"/>
                <a:sym typeface="Muli Regular Bold"/>
              </a:rPr>
              <a:t>Thời gian thực hiện:</a:t>
            </a:r>
          </a:p>
          <a:p>
            <a:pPr algn="l" marL="755646" indent="-377823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2C2C2C"/>
                </a:solidFill>
                <a:latin typeface="Muli Regular"/>
                <a:ea typeface="Muli Regular"/>
                <a:cs typeface="Muli Regular"/>
                <a:sym typeface="Muli Regular"/>
              </a:rPr>
              <a:t>T</a:t>
            </a:r>
            <a:r>
              <a:rPr lang="en-US" sz="3499">
                <a:solidFill>
                  <a:srgbClr val="2C2C2C"/>
                </a:solidFill>
                <a:latin typeface="Muli Regular"/>
                <a:ea typeface="Muli Regular"/>
                <a:cs typeface="Muli Regular"/>
                <a:sym typeface="Muli Regular"/>
              </a:rPr>
              <a:t>ừ ngày 09/03/2023 đến ngày 10/06/2023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671687" y="1202667"/>
            <a:ext cx="7616313" cy="9084333"/>
            <a:chOff x="0" y="0"/>
            <a:chExt cx="10155083" cy="12112443"/>
          </a:xfrm>
        </p:grpSpPr>
        <p:pic>
          <p:nvPicPr>
            <p:cNvPr name="Picture 7" id="7"/>
            <p:cNvPicPr>
              <a:picLocks noChangeAspect="true"/>
            </p:cNvPicPr>
            <p:nvPr/>
          </p:nvPicPr>
          <p:blipFill>
            <a:blip r:embed="rId2"/>
            <a:srcRect l="9022" t="0" r="2406" b="29571"/>
            <a:stretch>
              <a:fillRect/>
            </a:stretch>
          </p:blipFill>
          <p:spPr>
            <a:xfrm flipH="false" flipV="false">
              <a:off x="0" y="0"/>
              <a:ext cx="10155083" cy="12112443"/>
            </a:xfrm>
            <a:prstGeom prst="rect">
              <a:avLst/>
            </a:prstGeom>
          </p:spPr>
        </p:pic>
      </p:grpSp>
      <p:sp>
        <p:nvSpPr>
          <p:cNvPr name="Freeform 8" id="8"/>
          <p:cNvSpPr/>
          <p:nvPr/>
        </p:nvSpPr>
        <p:spPr>
          <a:xfrm flipH="false" flipV="false" rot="2700000">
            <a:off x="1422438" y="3668871"/>
            <a:ext cx="763910" cy="736132"/>
          </a:xfrm>
          <a:custGeom>
            <a:avLst/>
            <a:gdLst/>
            <a:ahLst/>
            <a:cxnLst/>
            <a:rect r="r" b="b" t="t" l="l"/>
            <a:pathLst>
              <a:path h="736132" w="763910">
                <a:moveTo>
                  <a:pt x="0" y="0"/>
                </a:moveTo>
                <a:lnTo>
                  <a:pt x="763910" y="0"/>
                </a:lnTo>
                <a:lnTo>
                  <a:pt x="763910" y="736131"/>
                </a:lnTo>
                <a:lnTo>
                  <a:pt x="0" y="7361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2700000">
            <a:off x="1422438" y="7460247"/>
            <a:ext cx="763910" cy="736132"/>
          </a:xfrm>
          <a:custGeom>
            <a:avLst/>
            <a:gdLst/>
            <a:ahLst/>
            <a:cxnLst/>
            <a:rect r="r" b="b" t="t" l="l"/>
            <a:pathLst>
              <a:path h="736132" w="763910">
                <a:moveTo>
                  <a:pt x="0" y="0"/>
                </a:moveTo>
                <a:lnTo>
                  <a:pt x="763910" y="0"/>
                </a:lnTo>
                <a:lnTo>
                  <a:pt x="763910" y="736132"/>
                </a:lnTo>
                <a:lnTo>
                  <a:pt x="0" y="73613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958988" y="7828313"/>
            <a:ext cx="4375859" cy="3277916"/>
          </a:xfrm>
          <a:custGeom>
            <a:avLst/>
            <a:gdLst/>
            <a:ahLst/>
            <a:cxnLst/>
            <a:rect r="r" b="b" t="t" l="l"/>
            <a:pathLst>
              <a:path h="3277916" w="4375859">
                <a:moveTo>
                  <a:pt x="0" y="0"/>
                </a:moveTo>
                <a:lnTo>
                  <a:pt x="4375859" y="0"/>
                </a:lnTo>
                <a:lnTo>
                  <a:pt x="4375859" y="3277916"/>
                </a:lnTo>
                <a:lnTo>
                  <a:pt x="0" y="327791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1" id="11"/>
          <p:cNvSpPr/>
          <p:nvPr/>
        </p:nvSpPr>
        <p:spPr>
          <a:xfrm rot="-5400000">
            <a:off x="6634346" y="5225721"/>
            <a:ext cx="8055633" cy="0"/>
          </a:xfrm>
          <a:prstGeom prst="line">
            <a:avLst/>
          </a:prstGeom>
          <a:ln cap="flat" w="9525">
            <a:solidFill>
              <a:srgbClr val="2C2C2C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1028700" y="426762"/>
            <a:ext cx="5438168" cy="349143"/>
            <a:chOff x="0" y="0"/>
            <a:chExt cx="7250891" cy="46552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75907" cy="465525"/>
            </a:xfrm>
            <a:custGeom>
              <a:avLst/>
              <a:gdLst/>
              <a:ahLst/>
              <a:cxnLst/>
              <a:rect r="r" b="b" t="t" l="l"/>
              <a:pathLst>
                <a:path h="465525" w="575907">
                  <a:moveTo>
                    <a:pt x="0" y="0"/>
                  </a:moveTo>
                  <a:lnTo>
                    <a:pt x="575907" y="0"/>
                  </a:lnTo>
                  <a:lnTo>
                    <a:pt x="575907" y="465525"/>
                  </a:lnTo>
                  <a:lnTo>
                    <a:pt x="0" y="4655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 rot="0">
              <a:off x="838060" y="51788"/>
              <a:ext cx="6412831" cy="3333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>
                  <a:solidFill>
                    <a:srgbClr val="2C2C2C"/>
                  </a:solidFill>
                  <a:latin typeface="Muli Bold"/>
                  <a:ea typeface="Muli Bold"/>
                  <a:cs typeface="Muli Bold"/>
                  <a:sym typeface="Muli Bold"/>
                </a:rPr>
                <a:t>ĐẠI HỌC CÔNG NGHỆ THÔNG TIN - ĐHQGTPHCM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3467050"/>
            <a:ext cx="18288000" cy="6958924"/>
          </a:xfrm>
          <a:prstGeom prst="rect">
            <a:avLst/>
          </a:prstGeom>
          <a:solidFill>
            <a:srgbClr val="EDF0F2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3742625"/>
            <a:ext cx="2946844" cy="552533"/>
          </a:xfrm>
          <a:custGeom>
            <a:avLst/>
            <a:gdLst/>
            <a:ahLst/>
            <a:cxnLst/>
            <a:rect r="r" b="b" t="t" l="l"/>
            <a:pathLst>
              <a:path h="552533" w="2946844">
                <a:moveTo>
                  <a:pt x="0" y="0"/>
                </a:moveTo>
                <a:lnTo>
                  <a:pt x="2946844" y="0"/>
                </a:lnTo>
                <a:lnTo>
                  <a:pt x="2946844" y="552534"/>
                </a:lnTo>
                <a:lnTo>
                  <a:pt x="0" y="552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 rot="0">
            <a:off x="-408731" y="1193142"/>
            <a:ext cx="18875389" cy="0"/>
          </a:xfrm>
          <a:prstGeom prst="line">
            <a:avLst/>
          </a:prstGeom>
          <a:ln cap="flat" w="9525">
            <a:solidFill>
              <a:srgbClr val="2C2C2C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0" y="3471812"/>
            <a:ext cx="18875389" cy="0"/>
          </a:xfrm>
          <a:prstGeom prst="line">
            <a:avLst/>
          </a:prstGeom>
          <a:ln cap="flat" w="9525">
            <a:solidFill>
              <a:srgbClr val="2C2C2C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2825414">
            <a:off x="9986277" y="519692"/>
            <a:ext cx="3673904" cy="3900864"/>
          </a:xfrm>
          <a:custGeom>
            <a:avLst/>
            <a:gdLst/>
            <a:ahLst/>
            <a:cxnLst/>
            <a:rect r="r" b="b" t="t" l="l"/>
            <a:pathLst>
              <a:path h="3900864" w="3673904">
                <a:moveTo>
                  <a:pt x="0" y="0"/>
                </a:moveTo>
                <a:lnTo>
                  <a:pt x="3673905" y="0"/>
                </a:lnTo>
                <a:lnTo>
                  <a:pt x="3673905" y="3900864"/>
                </a:lnTo>
                <a:lnTo>
                  <a:pt x="0" y="39008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1685875"/>
            <a:ext cx="14137012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200"/>
              </a:lnSpc>
              <a:spcBef>
                <a:spcPct val="0"/>
              </a:spcBef>
            </a:pPr>
            <a:r>
              <a:rPr lang="en-US" sz="8500">
                <a:solidFill>
                  <a:srgbClr val="2C2C2C"/>
                </a:solidFill>
                <a:latin typeface="Muli Black"/>
                <a:ea typeface="Muli Black"/>
                <a:cs typeface="Muli Black"/>
                <a:sym typeface="Muli Black"/>
              </a:rPr>
              <a:t>Lý do hình thành dự án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3695000"/>
            <a:ext cx="2763977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2C2C2C"/>
                </a:solidFill>
                <a:latin typeface="Muli Bold"/>
                <a:ea typeface="Muli Bold"/>
                <a:cs typeface="Muli Bold"/>
                <a:sym typeface="Muli Bold"/>
              </a:rPr>
              <a:t>Thực trạng: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4526435"/>
            <a:ext cx="12947603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8" indent="-323849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2C2C2C"/>
                </a:solidFill>
                <a:latin typeface="Muli Regular"/>
                <a:ea typeface="Muli Regular"/>
                <a:cs typeface="Muli Regular"/>
                <a:sym typeface="Muli Regular"/>
              </a:rPr>
              <a:t>Quản lý các tài liệu bằng tài liệu giấy </a:t>
            </a:r>
          </a:p>
          <a:p>
            <a:pPr algn="l" marL="647698" indent="-323849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2C2C2C"/>
                </a:solidFill>
                <a:latin typeface="Muli Regular"/>
                <a:ea typeface="Muli Regular"/>
                <a:cs typeface="Muli Regular"/>
                <a:sym typeface="Muli Regular"/>
              </a:rPr>
              <a:t>Các phần mềm quản lý bậc lương, BHXH, thuế,... hoạt động không đồng bộ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28700" y="426762"/>
            <a:ext cx="5438168" cy="349143"/>
            <a:chOff x="0" y="0"/>
            <a:chExt cx="7250891" cy="46552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5907" cy="465525"/>
            </a:xfrm>
            <a:custGeom>
              <a:avLst/>
              <a:gdLst/>
              <a:ahLst/>
              <a:cxnLst/>
              <a:rect r="r" b="b" t="t" l="l"/>
              <a:pathLst>
                <a:path h="465525" w="575907">
                  <a:moveTo>
                    <a:pt x="0" y="0"/>
                  </a:moveTo>
                  <a:lnTo>
                    <a:pt x="575907" y="0"/>
                  </a:lnTo>
                  <a:lnTo>
                    <a:pt x="575907" y="465525"/>
                  </a:lnTo>
                  <a:lnTo>
                    <a:pt x="0" y="4655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 rot="0">
              <a:off x="838060" y="51788"/>
              <a:ext cx="6412831" cy="3333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>
                  <a:solidFill>
                    <a:srgbClr val="2C2C2C"/>
                  </a:solidFill>
                  <a:latin typeface="Muli Bold"/>
                  <a:ea typeface="Muli Bold"/>
                  <a:cs typeface="Muli Bold"/>
                  <a:sym typeface="Muli Bold"/>
                </a:rPr>
                <a:t>ĐẠI HỌC CÔNG NGHỆ THÔNG TIN - ĐHQGTPHCM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028700" y="6488585"/>
            <a:ext cx="2946844" cy="552533"/>
          </a:xfrm>
          <a:custGeom>
            <a:avLst/>
            <a:gdLst/>
            <a:ahLst/>
            <a:cxnLst/>
            <a:rect r="r" b="b" t="t" l="l"/>
            <a:pathLst>
              <a:path h="552533" w="2946844">
                <a:moveTo>
                  <a:pt x="0" y="0"/>
                </a:moveTo>
                <a:lnTo>
                  <a:pt x="2946844" y="0"/>
                </a:lnTo>
                <a:lnTo>
                  <a:pt x="2946844" y="552533"/>
                </a:lnTo>
                <a:lnTo>
                  <a:pt x="0" y="5525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28700" y="6440960"/>
            <a:ext cx="2763977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 u="sng">
                <a:solidFill>
                  <a:srgbClr val="2C2C2C"/>
                </a:solidFill>
                <a:latin typeface="Muli Bold"/>
                <a:ea typeface="Muli Bold"/>
                <a:cs typeface="Muli Bold"/>
                <a:sym typeface="Muli Bold"/>
              </a:rPr>
              <a:t>Mục đích giúp: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7272394"/>
            <a:ext cx="16230600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8" indent="-323849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2C2C2C"/>
                </a:solidFill>
                <a:latin typeface="Muli Regular"/>
                <a:ea typeface="Muli Regular"/>
                <a:cs typeface="Muli Regular"/>
                <a:sym typeface="Muli Regular"/>
              </a:rPr>
              <a:t>Xây dựng một cơ chế quản lý tiền lương cán bộ phù hợp, đồng bộ với nhau</a:t>
            </a:r>
          </a:p>
          <a:p>
            <a:pPr algn="l" marL="647698" indent="-323849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2C2C2C"/>
                </a:solidFill>
                <a:latin typeface="Muli Regular"/>
                <a:ea typeface="Muli Regular"/>
                <a:cs typeface="Muli Regular"/>
                <a:sym typeface="Muli Regular"/>
              </a:rPr>
              <a:t>Nâng cao hiệu suất làm việc</a:t>
            </a:r>
          </a:p>
          <a:p>
            <a:pPr algn="l">
              <a:lnSpc>
                <a:spcPts val="4199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76465" y="1691331"/>
            <a:ext cx="4531893" cy="807501"/>
          </a:xfrm>
          <a:custGeom>
            <a:avLst/>
            <a:gdLst/>
            <a:ahLst/>
            <a:cxnLst/>
            <a:rect r="r" b="b" t="t" l="l"/>
            <a:pathLst>
              <a:path h="807501" w="4531893">
                <a:moveTo>
                  <a:pt x="0" y="0"/>
                </a:moveTo>
                <a:lnTo>
                  <a:pt x="4531893" y="0"/>
                </a:lnTo>
                <a:lnTo>
                  <a:pt x="4531893" y="807501"/>
                </a:lnTo>
                <a:lnTo>
                  <a:pt x="0" y="8075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447381"/>
            <a:ext cx="16230600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200"/>
              </a:lnSpc>
              <a:spcBef>
                <a:spcPct val="0"/>
              </a:spcBef>
            </a:pPr>
            <a:r>
              <a:rPr lang="en-US" sz="8500">
                <a:solidFill>
                  <a:srgbClr val="2C2C2C"/>
                </a:solidFill>
                <a:latin typeface="Muli Black"/>
                <a:ea typeface="Muli Black"/>
                <a:cs typeface="Muli Black"/>
                <a:sym typeface="Muli Black"/>
              </a:rPr>
              <a:t>Khởi động dự án</a:t>
            </a:r>
          </a:p>
        </p:txBody>
      </p:sp>
      <p:sp>
        <p:nvSpPr>
          <p:cNvPr name="AutoShape 4" id="4"/>
          <p:cNvSpPr/>
          <p:nvPr/>
        </p:nvSpPr>
        <p:spPr>
          <a:xfrm rot="0">
            <a:off x="-408731" y="1193142"/>
            <a:ext cx="18875389" cy="0"/>
          </a:xfrm>
          <a:prstGeom prst="line">
            <a:avLst/>
          </a:prstGeom>
          <a:ln cap="flat" w="9525">
            <a:solidFill>
              <a:srgbClr val="2C2C2C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-4763" y="2990431"/>
            <a:ext cx="6083300" cy="2854702"/>
            <a:chOff x="0" y="0"/>
            <a:chExt cx="8111067" cy="3806270"/>
          </a:xfrm>
        </p:grpSpPr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4"/>
            <a:srcRect l="0" t="3480" r="0" b="13155"/>
            <a:stretch>
              <a:fillRect/>
            </a:stretch>
          </p:blipFill>
          <p:spPr>
            <a:xfrm flipH="false" flipV="false">
              <a:off x="0" y="0"/>
              <a:ext cx="8111067" cy="3806270"/>
            </a:xfrm>
            <a:prstGeom prst="rect">
              <a:avLst/>
            </a:prstGeom>
          </p:spPr>
        </p:pic>
      </p:grpSp>
      <p:grpSp>
        <p:nvGrpSpPr>
          <p:cNvPr name="Group 7" id="7"/>
          <p:cNvGrpSpPr/>
          <p:nvPr/>
        </p:nvGrpSpPr>
        <p:grpSpPr>
          <a:xfrm rot="0">
            <a:off x="12185650" y="2990431"/>
            <a:ext cx="6097587" cy="2854702"/>
            <a:chOff x="0" y="0"/>
            <a:chExt cx="8130117" cy="3806270"/>
          </a:xfrm>
        </p:grpSpPr>
        <p:pic>
          <p:nvPicPr>
            <p:cNvPr name="Picture 8" id="8"/>
            <p:cNvPicPr>
              <a:picLocks noChangeAspect="true"/>
            </p:cNvPicPr>
            <p:nvPr/>
          </p:nvPicPr>
          <p:blipFill>
            <a:blip r:embed="rId5"/>
            <a:srcRect l="0" t="14887" r="0" b="14887"/>
            <a:stretch>
              <a:fillRect/>
            </a:stretch>
          </p:blipFill>
          <p:spPr>
            <a:xfrm flipH="false" flipV="false">
              <a:off x="0" y="0"/>
              <a:ext cx="8130117" cy="3806270"/>
            </a:xfrm>
            <a:prstGeom prst="rect">
              <a:avLst/>
            </a:prstGeom>
          </p:spPr>
        </p:pic>
      </p:grpSp>
      <p:grpSp>
        <p:nvGrpSpPr>
          <p:cNvPr name="Group 9" id="9"/>
          <p:cNvGrpSpPr/>
          <p:nvPr/>
        </p:nvGrpSpPr>
        <p:grpSpPr>
          <a:xfrm rot="0">
            <a:off x="6078538" y="2990431"/>
            <a:ext cx="6102350" cy="2854702"/>
            <a:chOff x="0" y="0"/>
            <a:chExt cx="8136467" cy="3806270"/>
          </a:xfrm>
        </p:grpSpPr>
        <p:pic>
          <p:nvPicPr>
            <p:cNvPr name="Picture 10" id="10"/>
            <p:cNvPicPr>
              <a:picLocks noChangeAspect="true"/>
            </p:cNvPicPr>
            <p:nvPr/>
          </p:nvPicPr>
          <p:blipFill>
            <a:blip r:embed="rId6"/>
            <a:srcRect l="0" t="14914" r="0" b="14914"/>
            <a:stretch>
              <a:fillRect/>
            </a:stretch>
          </p:blipFill>
          <p:spPr>
            <a:xfrm flipH="false" flipV="false">
              <a:off x="0" y="0"/>
              <a:ext cx="8136467" cy="3806270"/>
            </a:xfrm>
            <a:prstGeom prst="rect">
              <a:avLst/>
            </a:prstGeom>
          </p:spPr>
        </p:pic>
      </p:grpSp>
      <p:sp>
        <p:nvSpPr>
          <p:cNvPr name="AutoShape 11" id="11"/>
          <p:cNvSpPr/>
          <p:nvPr/>
        </p:nvSpPr>
        <p:spPr>
          <a:xfrm>
            <a:off x="0" y="2995194"/>
            <a:ext cx="18875389" cy="0"/>
          </a:xfrm>
          <a:prstGeom prst="line">
            <a:avLst/>
          </a:prstGeom>
          <a:ln cap="flat" w="9525">
            <a:solidFill>
              <a:srgbClr val="2C2C2C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 rot="-5402486">
            <a:off x="2798869" y="7002960"/>
            <a:ext cx="6583150" cy="0"/>
          </a:xfrm>
          <a:prstGeom prst="line">
            <a:avLst/>
          </a:prstGeom>
          <a:ln cap="flat" w="9525">
            <a:solidFill>
              <a:srgbClr val="2C2C2C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rot="-5400000">
            <a:off x="8645533" y="7251503"/>
            <a:ext cx="7080234" cy="0"/>
          </a:xfrm>
          <a:prstGeom prst="line">
            <a:avLst/>
          </a:prstGeom>
          <a:ln cap="flat" w="9525">
            <a:solidFill>
              <a:srgbClr val="2C2C2C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0" y="6264234"/>
            <a:ext cx="6083300" cy="2463572"/>
            <a:chOff x="0" y="0"/>
            <a:chExt cx="8111067" cy="3284762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-19050"/>
              <a:ext cx="8111067" cy="628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99"/>
                </a:lnSpc>
              </a:pPr>
              <a:r>
                <a:rPr lang="en-US" sz="2999">
                  <a:solidFill>
                    <a:srgbClr val="2C2C2C"/>
                  </a:solidFill>
                  <a:latin typeface="Muli Bold"/>
                  <a:ea typeface="Muli Bold"/>
                  <a:cs typeface="Muli Bold"/>
                  <a:sym typeface="Muli Bold"/>
                </a:rPr>
                <a:t>HỢP ĐỒNG THÀNH LẬP NHÓM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855887"/>
              <a:ext cx="8111067" cy="2428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39749" indent="-269875" lvl="1">
                <a:lnSpc>
                  <a:spcPts val="3749"/>
                </a:lnSpc>
                <a:buFont typeface="Arial"/>
                <a:buChar char="•"/>
              </a:pPr>
              <a:r>
                <a:rPr lang="en-US" b="true" sz="2499">
                  <a:solidFill>
                    <a:srgbClr val="2C2C2C"/>
                  </a:solidFill>
                  <a:latin typeface="Muli Regular Bold"/>
                  <a:ea typeface="Muli Regular Bold"/>
                  <a:cs typeface="Muli Regular Bold"/>
                  <a:sym typeface="Muli Regular Bold"/>
                </a:rPr>
                <a:t>Tên nhóm :</a:t>
              </a:r>
              <a:r>
                <a:rPr lang="en-US" sz="2499">
                  <a:solidFill>
                    <a:srgbClr val="2C2C2C"/>
                  </a:solidFill>
                  <a:latin typeface="Muli Regular"/>
                  <a:ea typeface="Muli Regular"/>
                  <a:cs typeface="Muli Regular"/>
                  <a:sym typeface="Muli Regular"/>
                </a:rPr>
                <a:t> Nhóm 1</a:t>
              </a:r>
            </a:p>
            <a:p>
              <a:pPr algn="l" marL="539749" indent="-269875" lvl="1">
                <a:lnSpc>
                  <a:spcPts val="3749"/>
                </a:lnSpc>
                <a:buFont typeface="Arial"/>
                <a:buChar char="•"/>
              </a:pPr>
              <a:r>
                <a:rPr lang="en-US" b="true" sz="2499">
                  <a:solidFill>
                    <a:srgbClr val="2C2C2C"/>
                  </a:solidFill>
                  <a:latin typeface="Muli Regular Bold"/>
                  <a:ea typeface="Muli Regular Bold"/>
                  <a:cs typeface="Muli Regular Bold"/>
                  <a:sym typeface="Muli Regular Bold"/>
                </a:rPr>
                <a:t>Tên đề tài nhóm :</a:t>
              </a:r>
              <a:r>
                <a:rPr lang="en-US" sz="2499">
                  <a:solidFill>
                    <a:srgbClr val="2C2C2C"/>
                  </a:solidFill>
                  <a:latin typeface="Muli Regular"/>
                  <a:ea typeface="Muli Regular"/>
                  <a:cs typeface="Muli Regular"/>
                  <a:sym typeface="Muli Regular"/>
                </a:rPr>
                <a:t> “Xây dựng phần mềm Quản lý Tiền lương cán bộ”.</a:t>
              </a:r>
            </a:p>
            <a:p>
              <a:pPr algn="l" marL="539749" indent="-269875" lvl="1">
                <a:lnSpc>
                  <a:spcPts val="3749"/>
                </a:lnSpc>
                <a:buFont typeface="Arial"/>
                <a:buChar char="•"/>
              </a:pPr>
              <a:r>
                <a:rPr lang="en-US" b="true" sz="2499">
                  <a:solidFill>
                    <a:srgbClr val="2C2C2C"/>
                  </a:solidFill>
                  <a:latin typeface="Muli Regular Bold"/>
                  <a:ea typeface="Muli Regular Bold"/>
                  <a:cs typeface="Muli Regular Bold"/>
                  <a:sym typeface="Muli Regular Bold"/>
                </a:rPr>
                <a:t>Số thành viên nhóm :</a:t>
              </a:r>
              <a:r>
                <a:rPr lang="en-US" sz="2499">
                  <a:solidFill>
                    <a:srgbClr val="2C2C2C"/>
                  </a:solidFill>
                  <a:latin typeface="Muli Regular"/>
                  <a:ea typeface="Muli Regular"/>
                  <a:cs typeface="Muli Regular"/>
                  <a:sym typeface="Muli Regular"/>
                </a:rPr>
                <a:t> 4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097587" y="6264234"/>
            <a:ext cx="6083300" cy="3462472"/>
            <a:chOff x="0" y="0"/>
            <a:chExt cx="8111067" cy="4616629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0" y="-28575"/>
              <a:ext cx="8111067" cy="6381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00"/>
                </a:lnSpc>
              </a:pPr>
              <a:r>
                <a:rPr lang="en-US" sz="3000">
                  <a:solidFill>
                    <a:srgbClr val="2C2C2C"/>
                  </a:solidFill>
                  <a:latin typeface="Muli Bold"/>
                  <a:ea typeface="Muli Bold"/>
                  <a:cs typeface="Muli Bold"/>
                  <a:sym typeface="Muli Bold"/>
                </a:rPr>
                <a:t>TUYÊN BỐ DỰ ÁN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866954"/>
              <a:ext cx="8111067" cy="37496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39751" indent="-269876" lvl="1">
                <a:lnSpc>
                  <a:spcPts val="3750"/>
                </a:lnSpc>
                <a:buFont typeface="Arial"/>
                <a:buChar char="•"/>
              </a:pPr>
              <a:r>
                <a:rPr lang="en-US" b="true" sz="2500">
                  <a:solidFill>
                    <a:srgbClr val="2C2C2C"/>
                  </a:solidFill>
                  <a:latin typeface="Muli Regular Bold"/>
                  <a:ea typeface="Muli Regular Bold"/>
                  <a:cs typeface="Muli Regular Bold"/>
                  <a:sym typeface="Muli Regular Bold"/>
                </a:rPr>
                <a:t>Tên dự án :</a:t>
              </a:r>
              <a:r>
                <a:rPr lang="en-US" sz="2500">
                  <a:solidFill>
                    <a:srgbClr val="2C2C2C"/>
                  </a:solidFill>
                  <a:latin typeface="Muli Regular"/>
                  <a:ea typeface="Muli Regular"/>
                  <a:cs typeface="Muli Regular"/>
                  <a:sym typeface="Muli Regular"/>
                </a:rPr>
                <a:t> Xây dựng Phần mềm Quản lý tiền lương cán bộ.</a:t>
              </a:r>
            </a:p>
            <a:p>
              <a:pPr algn="l" marL="539751" indent="-269876" lvl="1">
                <a:lnSpc>
                  <a:spcPts val="3750"/>
                </a:lnSpc>
                <a:buFont typeface="Arial"/>
                <a:buChar char="•"/>
              </a:pPr>
              <a:r>
                <a:rPr lang="en-US" b="true" sz="2500">
                  <a:solidFill>
                    <a:srgbClr val="2C2C2C"/>
                  </a:solidFill>
                  <a:latin typeface="Muli Regular Bold"/>
                  <a:ea typeface="Muli Regular Bold"/>
                  <a:cs typeface="Muli Regular Bold"/>
                  <a:sym typeface="Muli Regular Bold"/>
                </a:rPr>
                <a:t>Thời gian </a:t>
              </a:r>
              <a:r>
                <a:rPr lang="en-US" b="true" sz="2500">
                  <a:solidFill>
                    <a:srgbClr val="2C2C2C"/>
                  </a:solidFill>
                  <a:latin typeface="Muli Regular Bold"/>
                  <a:ea typeface="Muli Regular Bold"/>
                  <a:cs typeface="Muli Regular Bold"/>
                  <a:sym typeface="Muli Regular Bold"/>
                </a:rPr>
                <a:t>:</a:t>
              </a:r>
              <a:r>
                <a:rPr lang="en-US" sz="2500">
                  <a:solidFill>
                    <a:srgbClr val="2C2C2C"/>
                  </a:solidFill>
                  <a:latin typeface="Muli Regular"/>
                  <a:ea typeface="Muli Regular"/>
                  <a:cs typeface="Muli Regular"/>
                  <a:sym typeface="Muli Regular"/>
                </a:rPr>
                <a:t> 09/03/2023 - 10/06/2023</a:t>
              </a:r>
            </a:p>
            <a:p>
              <a:pPr algn="l" marL="539751" indent="-269876" lvl="1">
                <a:lnSpc>
                  <a:spcPts val="3750"/>
                </a:lnSpc>
                <a:buFont typeface="Arial"/>
                <a:buChar char="•"/>
              </a:pPr>
              <a:r>
                <a:rPr lang="en-US" b="true" sz="2500">
                  <a:solidFill>
                    <a:srgbClr val="2C2C2C"/>
                  </a:solidFill>
                  <a:latin typeface="Muli Regular Bold"/>
                  <a:ea typeface="Muli Regular Bold"/>
                  <a:cs typeface="Muli Regular Bold"/>
                  <a:sym typeface="Muli Regular Bold"/>
                </a:rPr>
                <a:t>Tổng số ngày : </a:t>
              </a:r>
              <a:r>
                <a:rPr lang="en-US" sz="2500">
                  <a:solidFill>
                    <a:srgbClr val="2C2C2C"/>
                  </a:solidFill>
                  <a:latin typeface="Muli Regular"/>
                  <a:ea typeface="Muli Regular"/>
                  <a:cs typeface="Muli Regular"/>
                  <a:sym typeface="Muli Regular"/>
                </a:rPr>
                <a:t>78</a:t>
              </a:r>
            </a:p>
            <a:p>
              <a:pPr algn="l" marL="539751" indent="-269876" lvl="1">
                <a:lnSpc>
                  <a:spcPts val="3750"/>
                </a:lnSpc>
                <a:buFont typeface="Arial"/>
                <a:buChar char="•"/>
              </a:pPr>
              <a:r>
                <a:rPr lang="en-US" b="true" sz="2500">
                  <a:solidFill>
                    <a:srgbClr val="2C2C2C"/>
                  </a:solidFill>
                  <a:latin typeface="Muli Regular Bold"/>
                  <a:ea typeface="Muli Regular Bold"/>
                  <a:cs typeface="Muli Regular Bold"/>
                  <a:sym typeface="Muli Regular Bold"/>
                </a:rPr>
                <a:t>Thông tin kinh phí :</a:t>
              </a:r>
              <a:r>
                <a:rPr lang="en-US" sz="2500">
                  <a:solidFill>
                    <a:srgbClr val="2C2C2C"/>
                  </a:solidFill>
                  <a:latin typeface="Muli Regular"/>
                  <a:ea typeface="Muli Regular"/>
                  <a:cs typeface="Muli Regular"/>
                  <a:sym typeface="Muli Regular"/>
                </a:rPr>
                <a:t> Đã lập ngân sách 697.265.855(đồng) 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199938" y="6264234"/>
            <a:ext cx="6088062" cy="3462472"/>
            <a:chOff x="0" y="0"/>
            <a:chExt cx="8117417" cy="4616629"/>
          </a:xfrm>
        </p:grpSpPr>
        <p:sp>
          <p:nvSpPr>
            <p:cNvPr name="TextBox 21" id="21"/>
            <p:cNvSpPr txBox="true"/>
            <p:nvPr/>
          </p:nvSpPr>
          <p:spPr>
            <a:xfrm rot="0">
              <a:off x="0" y="-28575"/>
              <a:ext cx="8117417" cy="6381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00"/>
                </a:lnSpc>
              </a:pPr>
              <a:r>
                <a:rPr lang="en-US" sz="3000">
                  <a:solidFill>
                    <a:srgbClr val="2C2C2C"/>
                  </a:solidFill>
                  <a:latin typeface="Muli Bold"/>
                  <a:ea typeface="Muli Bold"/>
                  <a:cs typeface="Muli Bold"/>
                  <a:sym typeface="Muli Bold"/>
                </a:rPr>
                <a:t>PHÁT BIỂU VỀ PHẠM VI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0" y="866954"/>
              <a:ext cx="8117417" cy="37496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39751" indent="-269876" lvl="1">
                <a:lnSpc>
                  <a:spcPts val="3750"/>
                </a:lnSpc>
                <a:buFont typeface="Arial"/>
                <a:buChar char="•"/>
              </a:pPr>
              <a:r>
                <a:rPr lang="en-US" b="true" sz="2500">
                  <a:solidFill>
                    <a:srgbClr val="2C2C2C"/>
                  </a:solidFill>
                  <a:latin typeface="Muli Regular Bold"/>
                  <a:ea typeface="Muli Regular Bold"/>
                  <a:cs typeface="Muli Regular Bold"/>
                  <a:sym typeface="Muli Regular Bold"/>
                </a:rPr>
                <a:t>Lý giải về dự án</a:t>
              </a:r>
            </a:p>
            <a:p>
              <a:pPr algn="l" marL="539751" indent="-269876" lvl="1">
                <a:lnSpc>
                  <a:spcPts val="3750"/>
                </a:lnSpc>
                <a:buFont typeface="Arial"/>
                <a:buChar char="•"/>
              </a:pPr>
              <a:r>
                <a:rPr lang="en-US" b="true" sz="2500">
                  <a:solidFill>
                    <a:srgbClr val="2C2C2C"/>
                  </a:solidFill>
                  <a:latin typeface="Muli Regular Bold"/>
                  <a:ea typeface="Muli Regular Bold"/>
                  <a:cs typeface="Muli Regular Bold"/>
                  <a:sym typeface="Muli Regular Bold"/>
                </a:rPr>
                <a:t>Các tính chất, yêu cầu của sản phẩm</a:t>
              </a:r>
            </a:p>
            <a:p>
              <a:pPr algn="l" marL="539751" indent="-269876" lvl="1">
                <a:lnSpc>
                  <a:spcPts val="3750"/>
                </a:lnSpc>
                <a:buFont typeface="Arial"/>
                <a:buChar char="•"/>
              </a:pPr>
              <a:r>
                <a:rPr lang="en-US" b="true" sz="2500">
                  <a:solidFill>
                    <a:srgbClr val="2C2C2C"/>
                  </a:solidFill>
                  <a:latin typeface="Muli Regular Bold"/>
                  <a:ea typeface="Muli Regular Bold"/>
                  <a:cs typeface="Muli Regular Bold"/>
                  <a:sym typeface="Muli Regular Bold"/>
                </a:rPr>
                <a:t>Các kết quả liên quan đến dự án</a:t>
              </a:r>
            </a:p>
            <a:p>
              <a:pPr algn="l" marL="539751" indent="-269876" lvl="1">
                <a:lnSpc>
                  <a:spcPts val="3750"/>
                </a:lnSpc>
                <a:buFont typeface="Arial"/>
                <a:buChar char="•"/>
              </a:pPr>
              <a:r>
                <a:rPr lang="en-US" b="true" sz="2500">
                  <a:solidFill>
                    <a:srgbClr val="2C2C2C"/>
                  </a:solidFill>
                  <a:latin typeface="Muli Regular Bold"/>
                  <a:ea typeface="Muli Regular Bold"/>
                  <a:cs typeface="Muli Regular Bold"/>
                  <a:sym typeface="Muli Regular Bold"/>
                </a:rPr>
                <a:t>Sản phẩm liên quan</a:t>
              </a:r>
            </a:p>
            <a:p>
              <a:pPr algn="l" marL="539751" indent="-269876" lvl="1">
                <a:lnSpc>
                  <a:spcPts val="3750"/>
                </a:lnSpc>
                <a:buFont typeface="Arial"/>
                <a:buChar char="•"/>
              </a:pPr>
              <a:r>
                <a:rPr lang="en-US" b="true" sz="2500">
                  <a:solidFill>
                    <a:srgbClr val="2C2C2C"/>
                  </a:solidFill>
                  <a:latin typeface="Muli Regular Bold"/>
                  <a:ea typeface="Muli Regular Bold"/>
                  <a:cs typeface="Muli Regular Bold"/>
                  <a:sym typeface="Muli Regular Bold"/>
                </a:rPr>
                <a:t>Các yêu cầu để đánh giá sự thành công của dự án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28700" y="426762"/>
            <a:ext cx="5438168" cy="349143"/>
            <a:chOff x="0" y="0"/>
            <a:chExt cx="7250891" cy="46552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75907" cy="465525"/>
            </a:xfrm>
            <a:custGeom>
              <a:avLst/>
              <a:gdLst/>
              <a:ahLst/>
              <a:cxnLst/>
              <a:rect r="r" b="b" t="t" l="l"/>
              <a:pathLst>
                <a:path h="465525" w="575907">
                  <a:moveTo>
                    <a:pt x="0" y="0"/>
                  </a:moveTo>
                  <a:lnTo>
                    <a:pt x="575907" y="0"/>
                  </a:lnTo>
                  <a:lnTo>
                    <a:pt x="575907" y="465525"/>
                  </a:lnTo>
                  <a:lnTo>
                    <a:pt x="0" y="4655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 rot="0">
              <a:off x="838060" y="51788"/>
              <a:ext cx="6412831" cy="3333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>
                  <a:solidFill>
                    <a:srgbClr val="2C2C2C"/>
                  </a:solidFill>
                  <a:latin typeface="Muli Bold"/>
                  <a:ea typeface="Muli Bold"/>
                  <a:cs typeface="Muli Bold"/>
                  <a:sym typeface="Muli Bold"/>
                </a:rPr>
                <a:t>ĐẠI HỌC CÔNG NGHỆ THÔNG TIN - ĐHQGTPHCM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888575">
            <a:off x="15178215" y="2490801"/>
            <a:ext cx="1913500" cy="1854355"/>
          </a:xfrm>
          <a:custGeom>
            <a:avLst/>
            <a:gdLst/>
            <a:ahLst/>
            <a:cxnLst/>
            <a:rect r="r" b="b" t="t" l="l"/>
            <a:pathLst>
              <a:path h="1854355" w="1913500">
                <a:moveTo>
                  <a:pt x="0" y="0"/>
                </a:moveTo>
                <a:lnTo>
                  <a:pt x="1913500" y="0"/>
                </a:lnTo>
                <a:lnTo>
                  <a:pt x="1913500" y="1854355"/>
                </a:lnTo>
                <a:lnTo>
                  <a:pt x="0" y="18543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2127666"/>
            <a:ext cx="16230600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200"/>
              </a:lnSpc>
              <a:spcBef>
                <a:spcPct val="0"/>
              </a:spcBef>
            </a:pPr>
            <a:r>
              <a:rPr lang="en-US" sz="8500">
                <a:solidFill>
                  <a:srgbClr val="2C2C2C"/>
                </a:solidFill>
                <a:latin typeface="Muli Black"/>
                <a:ea typeface="Muli Black"/>
                <a:cs typeface="Muli Black"/>
                <a:sym typeface="Muli Black"/>
              </a:rPr>
              <a:t>Lên kế hoạch dự án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700023" y="5095875"/>
            <a:ext cx="7559277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51" indent="-269876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2C2C2C"/>
                </a:solidFill>
                <a:latin typeface="Muli Regular"/>
                <a:ea typeface="Muli Regular"/>
                <a:cs typeface="Muli Regular"/>
                <a:sym typeface="Muli Regular"/>
              </a:rPr>
              <a:t>Sử </a:t>
            </a:r>
            <a:r>
              <a:rPr lang="en-US" b="true" sz="2500">
                <a:solidFill>
                  <a:srgbClr val="2C2C2C"/>
                </a:solidFill>
                <a:latin typeface="Muli Regular Bold"/>
                <a:ea typeface="Muli Regular Bold"/>
                <a:cs typeface="Muli Regular Bold"/>
                <a:sym typeface="Muli Regular Bold"/>
              </a:rPr>
              <a:t>dụng mô hình thác nước Waterfall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700023" y="4389443"/>
            <a:ext cx="7735033" cy="555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0"/>
              </a:lnSpc>
            </a:pPr>
            <a:r>
              <a:rPr lang="en-US" sz="3500" b="true">
                <a:solidFill>
                  <a:srgbClr val="2C2C2C"/>
                </a:solidFill>
                <a:latin typeface="Muli Regular Bold"/>
                <a:ea typeface="Muli Regular Bold"/>
                <a:cs typeface="Muli Regular Bold"/>
                <a:sym typeface="Muli Regular Bold"/>
              </a:rPr>
              <a:t>Mô hình thiết kế của dự án: Waterfall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28700" y="4418018"/>
            <a:ext cx="6697435" cy="4620187"/>
            <a:chOff x="0" y="0"/>
            <a:chExt cx="8929913" cy="6160249"/>
          </a:xfrm>
        </p:grpSpPr>
        <p:pic>
          <p:nvPicPr>
            <p:cNvPr name="Picture 7" id="7"/>
            <p:cNvPicPr>
              <a:picLocks noChangeAspect="true"/>
            </p:cNvPicPr>
            <p:nvPr/>
          </p:nvPicPr>
          <p:blipFill>
            <a:blip r:embed="rId4"/>
            <a:srcRect l="6480" t="0" r="6480" b="9934"/>
            <a:stretch>
              <a:fillRect/>
            </a:stretch>
          </p:blipFill>
          <p:spPr>
            <a:xfrm flipH="false" flipV="false">
              <a:off x="0" y="0"/>
              <a:ext cx="8929913" cy="6160249"/>
            </a:xfrm>
            <a:prstGeom prst="rect">
              <a:avLst/>
            </a:prstGeom>
          </p:spPr>
        </p:pic>
      </p:grpSp>
      <p:sp>
        <p:nvSpPr>
          <p:cNvPr name="TextBox 8" id="8"/>
          <p:cNvSpPr txBox="true"/>
          <p:nvPr/>
        </p:nvSpPr>
        <p:spPr>
          <a:xfrm rot="0">
            <a:off x="9700023" y="5689600"/>
            <a:ext cx="7559277" cy="555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0"/>
              </a:lnSpc>
            </a:pPr>
            <a:r>
              <a:rPr lang="en-US" sz="3500" b="true">
                <a:solidFill>
                  <a:srgbClr val="2C2C2C"/>
                </a:solidFill>
                <a:latin typeface="Muli Regular Bold"/>
                <a:ea typeface="Muli Regular Bold"/>
                <a:cs typeface="Muli Regular Bold"/>
                <a:sym typeface="Muli Regular Bold"/>
              </a:rPr>
              <a:t>Mô tả mô hình thác nước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700023" y="7296150"/>
            <a:ext cx="7559277" cy="555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0"/>
              </a:lnSpc>
            </a:pPr>
            <a:r>
              <a:rPr lang="en-US" sz="3500" b="true">
                <a:solidFill>
                  <a:srgbClr val="2C2C2C"/>
                </a:solidFill>
                <a:latin typeface="Muli Regular Bold"/>
                <a:ea typeface="Muli Regular Bold"/>
                <a:cs typeface="Muli Regular Bold"/>
                <a:sym typeface="Muli Regular Bold"/>
              </a:rPr>
              <a:t>Cơ cấu tổ chức dự án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700023" y="6492875"/>
            <a:ext cx="7559277" cy="555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0"/>
              </a:lnSpc>
            </a:pPr>
            <a:r>
              <a:rPr lang="en-US" sz="3500" b="true">
                <a:solidFill>
                  <a:srgbClr val="2C2C2C"/>
                </a:solidFill>
                <a:latin typeface="Muli Regular Bold"/>
                <a:ea typeface="Muli Regular Bold"/>
                <a:cs typeface="Muli Regular Bold"/>
                <a:sym typeface="Muli Regular Bold"/>
              </a:rPr>
              <a:t>Ưu điểm, nhược điểm</a:t>
            </a:r>
          </a:p>
        </p:txBody>
      </p:sp>
      <p:sp>
        <p:nvSpPr>
          <p:cNvPr name="AutoShape 11" id="11"/>
          <p:cNvSpPr/>
          <p:nvPr/>
        </p:nvSpPr>
        <p:spPr>
          <a:xfrm rot="0">
            <a:off x="-408731" y="1193142"/>
            <a:ext cx="18875389" cy="0"/>
          </a:xfrm>
          <a:prstGeom prst="line">
            <a:avLst/>
          </a:prstGeom>
          <a:ln cap="flat" w="9525">
            <a:solidFill>
              <a:srgbClr val="2C2C2C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2" id="12"/>
          <p:cNvSpPr/>
          <p:nvPr/>
        </p:nvSpPr>
        <p:spPr>
          <a:xfrm flipH="false" flipV="false" rot="2345764">
            <a:off x="681618" y="3900135"/>
            <a:ext cx="382832" cy="774109"/>
          </a:xfrm>
          <a:custGeom>
            <a:avLst/>
            <a:gdLst/>
            <a:ahLst/>
            <a:cxnLst/>
            <a:rect r="r" b="b" t="t" l="l"/>
            <a:pathLst>
              <a:path h="774109" w="382832">
                <a:moveTo>
                  <a:pt x="0" y="0"/>
                </a:moveTo>
                <a:lnTo>
                  <a:pt x="382832" y="0"/>
                </a:lnTo>
                <a:lnTo>
                  <a:pt x="382832" y="774109"/>
                </a:lnTo>
                <a:lnTo>
                  <a:pt x="0" y="77410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028700" y="426762"/>
            <a:ext cx="5438168" cy="349143"/>
            <a:chOff x="0" y="0"/>
            <a:chExt cx="7250891" cy="46552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75907" cy="465525"/>
            </a:xfrm>
            <a:custGeom>
              <a:avLst/>
              <a:gdLst/>
              <a:ahLst/>
              <a:cxnLst/>
              <a:rect r="r" b="b" t="t" l="l"/>
              <a:pathLst>
                <a:path h="465525" w="575907">
                  <a:moveTo>
                    <a:pt x="0" y="0"/>
                  </a:moveTo>
                  <a:lnTo>
                    <a:pt x="575907" y="0"/>
                  </a:lnTo>
                  <a:lnTo>
                    <a:pt x="575907" y="465525"/>
                  </a:lnTo>
                  <a:lnTo>
                    <a:pt x="0" y="4655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 rot="0">
              <a:off x="838060" y="51788"/>
              <a:ext cx="6412831" cy="3333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>
                  <a:solidFill>
                    <a:srgbClr val="2C2C2C"/>
                  </a:solidFill>
                  <a:latin typeface="Muli Bold"/>
                  <a:ea typeface="Muli Bold"/>
                  <a:cs typeface="Muli Bold"/>
                  <a:sym typeface="Muli Bold"/>
                </a:rPr>
                <a:t>ĐẠI HỌC CÔNG NGHỆ THÔNG TIN - ĐHQGTPHCM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1622760">
            <a:off x="8707496" y="5937410"/>
            <a:ext cx="873009" cy="968054"/>
          </a:xfrm>
          <a:custGeom>
            <a:avLst/>
            <a:gdLst/>
            <a:ahLst/>
            <a:cxnLst/>
            <a:rect r="r" b="b" t="t" l="l"/>
            <a:pathLst>
              <a:path h="968054" w="873009">
                <a:moveTo>
                  <a:pt x="0" y="0"/>
                </a:moveTo>
                <a:lnTo>
                  <a:pt x="873008" y="0"/>
                </a:lnTo>
                <a:lnTo>
                  <a:pt x="873008" y="968054"/>
                </a:lnTo>
                <a:lnTo>
                  <a:pt x="0" y="9680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1622760">
            <a:off x="8707496" y="6738172"/>
            <a:ext cx="873009" cy="968054"/>
          </a:xfrm>
          <a:custGeom>
            <a:avLst/>
            <a:gdLst/>
            <a:ahLst/>
            <a:cxnLst/>
            <a:rect r="r" b="b" t="t" l="l"/>
            <a:pathLst>
              <a:path h="968054" w="873009">
                <a:moveTo>
                  <a:pt x="0" y="0"/>
                </a:moveTo>
                <a:lnTo>
                  <a:pt x="873008" y="0"/>
                </a:lnTo>
                <a:lnTo>
                  <a:pt x="873008" y="968054"/>
                </a:lnTo>
                <a:lnTo>
                  <a:pt x="0" y="9680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1622760">
            <a:off x="8707496" y="5131622"/>
            <a:ext cx="873009" cy="968054"/>
          </a:xfrm>
          <a:custGeom>
            <a:avLst/>
            <a:gdLst/>
            <a:ahLst/>
            <a:cxnLst/>
            <a:rect r="r" b="b" t="t" l="l"/>
            <a:pathLst>
              <a:path h="968054" w="873009">
                <a:moveTo>
                  <a:pt x="0" y="0"/>
                </a:moveTo>
                <a:lnTo>
                  <a:pt x="873008" y="0"/>
                </a:lnTo>
                <a:lnTo>
                  <a:pt x="873008" y="968054"/>
                </a:lnTo>
                <a:lnTo>
                  <a:pt x="0" y="9680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2700000">
            <a:off x="8487646" y="4247724"/>
            <a:ext cx="799806" cy="867639"/>
          </a:xfrm>
          <a:custGeom>
            <a:avLst/>
            <a:gdLst/>
            <a:ahLst/>
            <a:cxnLst/>
            <a:rect r="r" b="b" t="t" l="l"/>
            <a:pathLst>
              <a:path h="867639" w="799806">
                <a:moveTo>
                  <a:pt x="0" y="0"/>
                </a:moveTo>
                <a:lnTo>
                  <a:pt x="799806" y="0"/>
                </a:lnTo>
                <a:lnTo>
                  <a:pt x="799806" y="867639"/>
                </a:lnTo>
                <a:lnTo>
                  <a:pt x="0" y="86763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721316">
            <a:off x="7095986" y="3535679"/>
            <a:ext cx="2578854" cy="2621756"/>
          </a:xfrm>
          <a:custGeom>
            <a:avLst/>
            <a:gdLst/>
            <a:ahLst/>
            <a:cxnLst/>
            <a:rect r="r" b="b" t="t" l="l"/>
            <a:pathLst>
              <a:path h="2621756" w="2578854">
                <a:moveTo>
                  <a:pt x="0" y="0"/>
                </a:moveTo>
                <a:lnTo>
                  <a:pt x="2578855" y="0"/>
                </a:lnTo>
                <a:lnTo>
                  <a:pt x="2578855" y="2621756"/>
                </a:lnTo>
                <a:lnTo>
                  <a:pt x="0" y="26217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904886"/>
            <a:ext cx="8787562" cy="2590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200"/>
              </a:lnSpc>
              <a:spcBef>
                <a:spcPct val="0"/>
              </a:spcBef>
            </a:pPr>
            <a:r>
              <a:rPr lang="en-US" sz="8500">
                <a:solidFill>
                  <a:srgbClr val="2C2C2C"/>
                </a:solidFill>
                <a:latin typeface="Muli Black"/>
                <a:ea typeface="Muli Black"/>
                <a:cs typeface="Muli Black"/>
                <a:sym typeface="Muli Black"/>
              </a:rPr>
              <a:t>Mô hình phát triển phần mềm</a:t>
            </a:r>
          </a:p>
        </p:txBody>
      </p:sp>
      <p:sp>
        <p:nvSpPr>
          <p:cNvPr name="AutoShape 4" id="4"/>
          <p:cNvSpPr/>
          <p:nvPr/>
        </p:nvSpPr>
        <p:spPr>
          <a:xfrm rot="0">
            <a:off x="-408731" y="1193142"/>
            <a:ext cx="18875389" cy="0"/>
          </a:xfrm>
          <a:prstGeom prst="line">
            <a:avLst/>
          </a:prstGeom>
          <a:ln cap="flat" w="9525">
            <a:solidFill>
              <a:srgbClr val="2C2C2C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0">
            <a:off x="10431588" y="1202667"/>
            <a:ext cx="7856412" cy="9084333"/>
          </a:xfrm>
          <a:prstGeom prst="rect">
            <a:avLst/>
          </a:prstGeom>
          <a:solidFill>
            <a:srgbClr val="EDF0F2"/>
          </a:solidFill>
        </p:spPr>
      </p:sp>
      <p:sp>
        <p:nvSpPr>
          <p:cNvPr name="AutoShape 6" id="6"/>
          <p:cNvSpPr/>
          <p:nvPr/>
        </p:nvSpPr>
        <p:spPr>
          <a:xfrm rot="-5400000">
            <a:off x="5884660" y="5740071"/>
            <a:ext cx="9084333" cy="0"/>
          </a:xfrm>
          <a:prstGeom prst="line">
            <a:avLst/>
          </a:prstGeom>
          <a:ln cap="flat" w="9525">
            <a:solidFill>
              <a:srgbClr val="2C2C2C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1028700" y="426762"/>
            <a:ext cx="5438168" cy="349143"/>
            <a:chOff x="0" y="0"/>
            <a:chExt cx="7250891" cy="46552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75907" cy="465525"/>
            </a:xfrm>
            <a:custGeom>
              <a:avLst/>
              <a:gdLst/>
              <a:ahLst/>
              <a:cxnLst/>
              <a:rect r="r" b="b" t="t" l="l"/>
              <a:pathLst>
                <a:path h="465525" w="575907">
                  <a:moveTo>
                    <a:pt x="0" y="0"/>
                  </a:moveTo>
                  <a:lnTo>
                    <a:pt x="575907" y="0"/>
                  </a:lnTo>
                  <a:lnTo>
                    <a:pt x="575907" y="465525"/>
                  </a:lnTo>
                  <a:lnTo>
                    <a:pt x="0" y="4655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838060" y="51788"/>
              <a:ext cx="6412831" cy="3333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>
                  <a:solidFill>
                    <a:srgbClr val="2C2C2C"/>
                  </a:solidFill>
                  <a:latin typeface="Muli Bold"/>
                  <a:ea typeface="Muli Bold"/>
                  <a:cs typeface="Muli Bold"/>
                  <a:sym typeface="Muli Bold"/>
                </a:rPr>
                <a:t>ĐẠI HỌC CÔNG NGHỆ THÔNG TIN - ĐHQGTPHCM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0431588" y="1184387"/>
            <a:ext cx="7856412" cy="7008017"/>
          </a:xfrm>
          <a:custGeom>
            <a:avLst/>
            <a:gdLst/>
            <a:ahLst/>
            <a:cxnLst/>
            <a:rect r="r" b="b" t="t" l="l"/>
            <a:pathLst>
              <a:path h="7008017" w="7856412">
                <a:moveTo>
                  <a:pt x="0" y="0"/>
                </a:moveTo>
                <a:lnTo>
                  <a:pt x="7856412" y="0"/>
                </a:lnTo>
                <a:lnTo>
                  <a:pt x="7856412" y="7008017"/>
                </a:lnTo>
                <a:lnTo>
                  <a:pt x="0" y="70080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6957" t="0" r="-11622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028700" y="5619821"/>
            <a:ext cx="8787562" cy="3662022"/>
            <a:chOff x="0" y="0"/>
            <a:chExt cx="11716749" cy="4882695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-57150"/>
              <a:ext cx="11716749" cy="7641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899"/>
                </a:lnSpc>
              </a:pPr>
              <a:r>
                <a:rPr lang="en-US" sz="3499">
                  <a:solidFill>
                    <a:srgbClr val="2C2C2C"/>
                  </a:solidFill>
                  <a:latin typeface="Muli Bold"/>
                  <a:ea typeface="Muli Bold"/>
                  <a:cs typeface="Muli Bold"/>
                  <a:sym typeface="Muli Bold"/>
                </a:rPr>
                <a:t>Sử dụng mô hình thác nước: WaterFall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1212395"/>
              <a:ext cx="11716749" cy="3670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47698" indent="-323849" lvl="1">
                <a:lnSpc>
                  <a:spcPts val="4499"/>
                </a:lnSpc>
                <a:buFont typeface="Arial"/>
                <a:buChar char="•"/>
              </a:pPr>
              <a:r>
                <a:rPr lang="en-US" b="true" sz="2999">
                  <a:solidFill>
                    <a:srgbClr val="2C2C2C"/>
                  </a:solidFill>
                  <a:latin typeface="Muli Regular Bold"/>
                  <a:ea typeface="Muli Regular Bold"/>
                  <a:cs typeface="Muli Regular Bold"/>
                  <a:sym typeface="Muli Regular Bold"/>
                </a:rPr>
                <a:t>Bao gồm 6 giai đoạn:</a:t>
              </a:r>
              <a:r>
                <a:rPr lang="en-US" sz="2999">
                  <a:solidFill>
                    <a:srgbClr val="2C2C2C"/>
                  </a:solidFill>
                  <a:latin typeface="Muli Regular"/>
                  <a:ea typeface="Muli Regular"/>
                  <a:cs typeface="Muli Regular"/>
                  <a:sym typeface="Muli Regular"/>
                </a:rPr>
                <a:t> phân tích yêu cầu, thiết kế, xây dựng, kiểm thử, triển khai, bảo trì. </a:t>
              </a:r>
            </a:p>
            <a:p>
              <a:pPr algn="l" marL="647698" indent="-323849" lvl="1">
                <a:lnSpc>
                  <a:spcPts val="4499"/>
                </a:lnSpc>
                <a:buFont typeface="Arial"/>
                <a:buChar char="•"/>
              </a:pPr>
              <a:r>
                <a:rPr lang="en-US" b="true" sz="2999">
                  <a:solidFill>
                    <a:srgbClr val="2C2C2C"/>
                  </a:solidFill>
                  <a:latin typeface="Muli Regular Bold"/>
                  <a:ea typeface="Muli Regular Bold"/>
                  <a:cs typeface="Muli Regular Bold"/>
                  <a:sym typeface="Muli Regular Bold"/>
                </a:rPr>
                <a:t>Thực hiện tuần tự:</a:t>
              </a:r>
              <a:r>
                <a:rPr lang="en-US" sz="2999">
                  <a:solidFill>
                    <a:srgbClr val="2C2C2C"/>
                  </a:solidFill>
                  <a:latin typeface="Muli Regular"/>
                  <a:ea typeface="Muli Regular"/>
                  <a:cs typeface="Muli Regular"/>
                  <a:sym typeface="Muli Regular"/>
                </a:rPr>
                <a:t> Đầu ra của giai đoạn này là đầu vào của giai đoạn tiếp theo và không có sự chồng chéo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0711052" y="3029987"/>
            <a:ext cx="1512738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3D4749"/>
                </a:solidFill>
                <a:latin typeface="Muli Bold"/>
                <a:ea typeface="Muli Bold"/>
                <a:cs typeface="Muli Bold"/>
                <a:sym typeface="Muli Bold"/>
              </a:rPr>
              <a:t>Phân</a:t>
            </a:r>
          </a:p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D4749"/>
                </a:solidFill>
                <a:latin typeface="Muli Bold"/>
                <a:ea typeface="Muli Bold"/>
                <a:cs typeface="Muli Bold"/>
                <a:sym typeface="Muli Bold"/>
              </a:rPr>
              <a:t>tích yêu cầu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467421" y="3986156"/>
            <a:ext cx="1510871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D4749"/>
                </a:solidFill>
                <a:latin typeface="Muli Bold"/>
                <a:ea typeface="Muli Bold"/>
                <a:cs typeface="Muli Bold"/>
                <a:sym typeface="Muli Bold"/>
              </a:rPr>
              <a:t>Thiết kế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082658" y="4794250"/>
            <a:ext cx="1510871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D4749"/>
                </a:solidFill>
                <a:latin typeface="Muli Bold"/>
                <a:ea typeface="Muli Bold"/>
                <a:cs typeface="Muli Bold"/>
                <a:sym typeface="Muli Bold"/>
              </a:rPr>
              <a:t>Xây dựng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697895" y="5545527"/>
            <a:ext cx="1510871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D4749"/>
                </a:solidFill>
                <a:latin typeface="Muli Bold"/>
                <a:ea typeface="Muli Bold"/>
                <a:cs typeface="Muli Bold"/>
                <a:sym typeface="Muli Bold"/>
              </a:rPr>
              <a:t>Kiểm thử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258690" y="6266252"/>
            <a:ext cx="1510871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D4749"/>
                </a:solidFill>
                <a:latin typeface="Muli Bold"/>
                <a:ea typeface="Muli Bold"/>
                <a:cs typeface="Muli Bold"/>
                <a:sym typeface="Muli Bold"/>
              </a:rPr>
              <a:t>Triển khai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872060" y="6989433"/>
            <a:ext cx="1510871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D4749"/>
                </a:solidFill>
                <a:latin typeface="Muli Bold"/>
                <a:ea typeface="Muli Bold"/>
                <a:cs typeface="Muli Bold"/>
                <a:sym typeface="Muli Bold"/>
              </a:rPr>
              <a:t>Bảo trì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208767" y="8277824"/>
            <a:ext cx="6302055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3D4749"/>
                </a:solidFill>
                <a:latin typeface="Muli Black"/>
                <a:ea typeface="Muli Black"/>
                <a:cs typeface="Muli Black"/>
                <a:sym typeface="Muli Black"/>
              </a:rPr>
              <a:t>WaterFall Model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824170">
            <a:off x="8202755" y="1952254"/>
            <a:ext cx="1652417" cy="1721268"/>
          </a:xfrm>
          <a:custGeom>
            <a:avLst/>
            <a:gdLst/>
            <a:ahLst/>
            <a:cxnLst/>
            <a:rect r="r" b="b" t="t" l="l"/>
            <a:pathLst>
              <a:path h="1721268" w="1652417">
                <a:moveTo>
                  <a:pt x="0" y="0"/>
                </a:moveTo>
                <a:lnTo>
                  <a:pt x="1652417" y="0"/>
                </a:lnTo>
                <a:lnTo>
                  <a:pt x="1652417" y="1721268"/>
                </a:lnTo>
                <a:lnTo>
                  <a:pt x="0" y="17212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-408731" y="1193142"/>
            <a:ext cx="18875389" cy="0"/>
          </a:xfrm>
          <a:prstGeom prst="line">
            <a:avLst/>
          </a:prstGeom>
          <a:ln cap="flat" w="9525">
            <a:solidFill>
              <a:srgbClr val="2C2C2C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1028700" y="3336267"/>
          <a:ext cx="16230600" cy="6276975"/>
        </p:xfrm>
        <a:graphic>
          <a:graphicData uri="http://schemas.openxmlformats.org/drawingml/2006/table">
            <a:tbl>
              <a:tblPr/>
              <a:tblGrid>
                <a:gridCol w="7999242"/>
                <a:gridCol w="8231358"/>
              </a:tblGrid>
              <a:tr h="89671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FFFFFF"/>
                          </a:solidFill>
                          <a:latin typeface="Muli Regular Bold"/>
                          <a:ea typeface="Muli Regular Bold"/>
                          <a:cs typeface="Muli Regular Bold"/>
                          <a:sym typeface="Muli Regular Bold"/>
                        </a:rPr>
                        <a:t>Ưu điểm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b="true" sz="2499">
                          <a:solidFill>
                            <a:srgbClr val="EDF0F2"/>
                          </a:solidFill>
                          <a:latin typeface="Muli Regular Bold"/>
                          <a:ea typeface="Muli Regular Bold"/>
                          <a:cs typeface="Muli Regular Bold"/>
                          <a:sym typeface="Muli Regular Bold"/>
                        </a:rPr>
                        <a:t>Nhược điểm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C"/>
                    </a:solidFill>
                  </a:tcPr>
                </a:tc>
              </a:tr>
              <a:tr h="5380264">
                <a:tc>
                  <a:txBody>
                    <a:bodyPr anchor="t" rtlCol="false"/>
                    <a:lstStyle/>
                    <a:p>
                      <a:pPr algn="l" marL="539748" indent="-269874" lvl="1">
                        <a:lnSpc>
                          <a:spcPts val="3499"/>
                        </a:lnSpc>
                        <a:buFont typeface="Arial"/>
                        <a:buChar char="•"/>
                        <a:defRPr/>
                      </a:pPr>
                      <a:r>
                        <a:rPr lang="en-US" b="true" sz="2499" spc="57">
                          <a:solidFill>
                            <a:srgbClr val="2C2C2C"/>
                          </a:solidFill>
                          <a:latin typeface="Muli Regular Bold"/>
                          <a:ea typeface="Muli Regular Bold"/>
                          <a:cs typeface="Muli Regular Bold"/>
                          <a:sym typeface="Muli Regular Bold"/>
                        </a:rPr>
                        <a:t>Mô hình đơn giản, dễ áp dụng, quy trình rõ ràng theo từng bước</a:t>
                      </a:r>
                      <a:endParaRPr lang="en-US" sz="1100"/>
                    </a:p>
                    <a:p>
                      <a:pPr algn="l" marL="539748" indent="-269874" lvl="1">
                        <a:lnSpc>
                          <a:spcPts val="3499"/>
                        </a:lnSpc>
                        <a:buFont typeface="Arial"/>
                        <a:buChar char="•"/>
                      </a:pPr>
                      <a:r>
                        <a:rPr lang="en-US" b="true" sz="2499" spc="57">
                          <a:solidFill>
                            <a:srgbClr val="2C2C2C"/>
                          </a:solidFill>
                          <a:latin typeface="Muli Regular Bold"/>
                          <a:ea typeface="Muli Regular Bold"/>
                          <a:cs typeface="Muli Regular Bold"/>
                          <a:sym typeface="Muli Regular Bold"/>
                        </a:rPr>
                        <a:t>Dễ quản lý và bảo trì bởi cách tiếp cận cố định theo từng bước</a:t>
                      </a:r>
                    </a:p>
                    <a:p>
                      <a:pPr algn="l" marL="539748" indent="-269874" lvl="1">
                        <a:lnSpc>
                          <a:spcPts val="3499"/>
                        </a:lnSpc>
                        <a:buFont typeface="Arial"/>
                        <a:buChar char="•"/>
                      </a:pPr>
                      <a:r>
                        <a:rPr lang="en-US" b="true" sz="2499" spc="57">
                          <a:solidFill>
                            <a:srgbClr val="2C2C2C"/>
                          </a:solidFill>
                          <a:latin typeface="Muli Regular Bold"/>
                          <a:ea typeface="Muli Regular Bold"/>
                          <a:cs typeface="Muli Regular Bold"/>
                          <a:sym typeface="Muli Regular Bold"/>
                        </a:rPr>
                        <a:t>Các tiêu chí đầu vào và đầu ra được xác định rõ ràng nên dễ dàng trong công tác kiểm tra chất lượng</a:t>
                      </a:r>
                    </a:p>
                    <a:p>
                      <a:pPr algn="l" marL="539748" indent="-269874" lvl="1">
                        <a:lnSpc>
                          <a:spcPts val="3499"/>
                        </a:lnSpc>
                        <a:buFont typeface="Arial"/>
                        <a:buChar char="•"/>
                      </a:pPr>
                      <a:r>
                        <a:rPr lang="en-US" b="true" sz="2499" spc="57">
                          <a:solidFill>
                            <a:srgbClr val="2C2C2C"/>
                          </a:solidFill>
                          <a:latin typeface="Muli Regular Bold"/>
                          <a:ea typeface="Muli Regular Bold"/>
                          <a:cs typeface="Muli Regular Bold"/>
                          <a:sym typeface="Muli Regular Bold"/>
                        </a:rPr>
                        <a:t>Hoạt động tốt với các dự án nhỏ hơn,với các yêu cầu rõ ràng</a:t>
                      </a:r>
                    </a:p>
                    <a:p>
                      <a:pPr algn="l" marL="539748" indent="-269874" lvl="1">
                        <a:lnSpc>
                          <a:spcPts val="3499"/>
                        </a:lnSpc>
                        <a:buFont typeface="Arial"/>
                        <a:buChar char="•"/>
                      </a:pPr>
                      <a:r>
                        <a:rPr lang="en-US" b="true" sz="2499" spc="57">
                          <a:solidFill>
                            <a:srgbClr val="2C2C2C"/>
                          </a:solidFill>
                          <a:latin typeface="Muli Regular Bold"/>
                          <a:ea typeface="Muli Regular Bold"/>
                          <a:cs typeface="Muli Regular Bold"/>
                          <a:sym typeface="Muli Regular Bold"/>
                        </a:rPr>
                        <a:t>Có nhiều tài liệu cung cấp cho khách hàng</a:t>
                      </a:r>
                    </a:p>
                    <a:p>
                      <a:pPr algn="l" marL="539748" indent="-269874" lvl="1">
                        <a:lnSpc>
                          <a:spcPts val="3499"/>
                        </a:lnSpc>
                        <a:buFont typeface="Arial"/>
                        <a:buChar char="•"/>
                      </a:pPr>
                      <a:r>
                        <a:rPr lang="en-US" b="true" sz="2499" spc="57">
                          <a:solidFill>
                            <a:srgbClr val="2C2C2C"/>
                          </a:solidFill>
                          <a:latin typeface="Muli Regular Bold"/>
                          <a:ea typeface="Muli Regular Bold"/>
                          <a:cs typeface="Muli Regular Bold"/>
                          <a:sym typeface="Muli Regular Bold"/>
                        </a:rPr>
                        <a:t>Cho phép thay đổi thiết kế sớm</a:t>
                      </a:r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539748" indent="-269874" lvl="1">
                        <a:lnSpc>
                          <a:spcPts val="3499"/>
                        </a:lnSpc>
                        <a:buFont typeface="Arial"/>
                        <a:buChar char="•"/>
                        <a:defRPr/>
                      </a:pPr>
                      <a:r>
                        <a:rPr lang="en-US" b="true" sz="2499" spc="57">
                          <a:solidFill>
                            <a:srgbClr val="2C2C2C"/>
                          </a:solidFill>
                          <a:latin typeface="Muli Regular Bold"/>
                          <a:ea typeface="Muli Regular Bold"/>
                          <a:cs typeface="Muli Regular Bold"/>
                          <a:sym typeface="Muli Regular Bold"/>
                        </a:rPr>
                        <a:t>Không hiệu quả ở dự án có các yêu cầu không rõ ràng</a:t>
                      </a:r>
                      <a:endParaRPr lang="en-US" sz="1100"/>
                    </a:p>
                    <a:p>
                      <a:pPr algn="l" marL="539748" indent="-269874" lvl="1">
                        <a:lnSpc>
                          <a:spcPts val="3499"/>
                        </a:lnSpc>
                        <a:buFont typeface="Arial"/>
                        <a:buChar char="•"/>
                      </a:pPr>
                      <a:r>
                        <a:rPr lang="en-US" b="true" sz="2499" spc="57">
                          <a:solidFill>
                            <a:srgbClr val="2C2C2C"/>
                          </a:solidFill>
                          <a:latin typeface="Muli Regular Bold"/>
                          <a:ea typeface="Muli Regular Bold"/>
                          <a:cs typeface="Muli Regular Bold"/>
                          <a:sym typeface="Muli Regular Bold"/>
                        </a:rPr>
                        <a:t>Khó thích nghi với những thay đổi bao gồm yêu cầu, kế hoạch, phạm vi dự án…</a:t>
                      </a:r>
                    </a:p>
                    <a:p>
                      <a:pPr algn="l" marL="539748" indent="-269874" lvl="1">
                        <a:lnSpc>
                          <a:spcPts val="3499"/>
                        </a:lnSpc>
                        <a:buFont typeface="Arial"/>
                        <a:buChar char="•"/>
                      </a:pPr>
                      <a:r>
                        <a:rPr lang="en-US" b="true" sz="2499" spc="57">
                          <a:solidFill>
                            <a:srgbClr val="2C2C2C"/>
                          </a:solidFill>
                          <a:latin typeface="Muli Regular Bold"/>
                          <a:ea typeface="Muli Regular Bold"/>
                          <a:cs typeface="Muli Regular Bold"/>
                          <a:sym typeface="Muli Regular Bold"/>
                        </a:rPr>
                        <a:t>Độ trực quan thấp </a:t>
                      </a:r>
                    </a:p>
                    <a:p>
                      <a:pPr algn="l" marL="539748" indent="-269874" lvl="1">
                        <a:lnSpc>
                          <a:spcPts val="3499"/>
                        </a:lnSpc>
                        <a:buFont typeface="Arial"/>
                        <a:buChar char="•"/>
                      </a:pPr>
                      <a:r>
                        <a:rPr lang="en-US" b="true" sz="2499" spc="57">
                          <a:solidFill>
                            <a:srgbClr val="2C2C2C"/>
                          </a:solidFill>
                          <a:latin typeface="Muli Regular Bold"/>
                          <a:ea typeface="Muli Regular Bold"/>
                          <a:cs typeface="Muli Regular Bold"/>
                          <a:sym typeface="Muli Regular Bold"/>
                        </a:rPr>
                        <a:t>Quá trình thử nghiệm bắt đầu khi quá trình phát triển kết thúc. Tốn kém để sửa các lỗi.</a:t>
                      </a:r>
                    </a:p>
                    <a:p>
                      <a:pPr algn="l" marL="539748" indent="-269874" lvl="1">
                        <a:lnSpc>
                          <a:spcPts val="3499"/>
                        </a:lnSpc>
                        <a:buFont typeface="Arial"/>
                        <a:buChar char="•"/>
                      </a:pPr>
                      <a:r>
                        <a:rPr lang="en-US" b="true" sz="2499" spc="57">
                          <a:solidFill>
                            <a:srgbClr val="2C2C2C"/>
                          </a:solidFill>
                          <a:latin typeface="Muli Regular Bold"/>
                          <a:ea typeface="Muli Regular Bold"/>
                          <a:cs typeface="Muli Regular Bold"/>
                          <a:sym typeface="Muli Regular Bold"/>
                        </a:rPr>
                        <a:t>Không phải mô hình lý tưởng cho các dự án lớn và dài ngày.</a:t>
                      </a:r>
                    </a:p>
                    <a:p>
                      <a:pPr algn="l" marL="539748" indent="-269874" lvl="1">
                        <a:lnSpc>
                          <a:spcPts val="3499"/>
                        </a:lnSpc>
                        <a:buFont typeface="Arial"/>
                        <a:buChar char="•"/>
                      </a:pPr>
                      <a:r>
                        <a:rPr lang="en-US" b="true" sz="2499" spc="57">
                          <a:solidFill>
                            <a:srgbClr val="2C2C2C"/>
                          </a:solidFill>
                          <a:latin typeface="Muli Regular Bold"/>
                          <a:ea typeface="Muli Regular Bold"/>
                          <a:cs typeface="Muli Regular Bold"/>
                          <a:sym typeface="Muli Regular Bold"/>
                        </a:rPr>
                        <a:t>Rất khó di chuyển trở lại cái giai đoạn trước đó để thay đổi</a:t>
                      </a:r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2"/>
                    </a:solidFill>
                  </a:tcPr>
                </a:tc>
              </a:tr>
            </a:tbl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1028700" y="1621767"/>
            <a:ext cx="16230600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200"/>
              </a:lnSpc>
              <a:spcBef>
                <a:spcPct val="0"/>
              </a:spcBef>
            </a:pPr>
            <a:r>
              <a:rPr lang="en-US" sz="8500">
                <a:solidFill>
                  <a:srgbClr val="2C2C2C"/>
                </a:solidFill>
                <a:latin typeface="Muli Black"/>
                <a:ea typeface="Muli Black"/>
                <a:cs typeface="Muli Black"/>
                <a:sym typeface="Muli Black"/>
              </a:rPr>
              <a:t>Ưu và nhược điểm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28700" y="426762"/>
            <a:ext cx="5438168" cy="349143"/>
            <a:chOff x="0" y="0"/>
            <a:chExt cx="7250891" cy="46552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75907" cy="465525"/>
            </a:xfrm>
            <a:custGeom>
              <a:avLst/>
              <a:gdLst/>
              <a:ahLst/>
              <a:cxnLst/>
              <a:rect r="r" b="b" t="t" l="l"/>
              <a:pathLst>
                <a:path h="465525" w="575907">
                  <a:moveTo>
                    <a:pt x="0" y="0"/>
                  </a:moveTo>
                  <a:lnTo>
                    <a:pt x="575907" y="0"/>
                  </a:lnTo>
                  <a:lnTo>
                    <a:pt x="575907" y="465525"/>
                  </a:lnTo>
                  <a:lnTo>
                    <a:pt x="0" y="4655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 rot="0">
              <a:off x="838060" y="51788"/>
              <a:ext cx="6412831" cy="3333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>
                  <a:solidFill>
                    <a:srgbClr val="2C2C2C"/>
                  </a:solidFill>
                  <a:latin typeface="Muli Bold"/>
                  <a:ea typeface="Muli Bold"/>
                  <a:cs typeface="Muli Bold"/>
                  <a:sym typeface="Muli Bold"/>
                </a:rPr>
                <a:t>ĐẠI HỌC CÔNG NGHỆ THÔNG TIN - ĐHQGTPHCM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-408731" y="1193142"/>
            <a:ext cx="18875389" cy="0"/>
          </a:xfrm>
          <a:prstGeom prst="line">
            <a:avLst/>
          </a:prstGeom>
          <a:ln cap="flat" w="9525">
            <a:solidFill>
              <a:srgbClr val="2C2C2C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28700" y="1621767"/>
            <a:ext cx="16230600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200"/>
              </a:lnSpc>
              <a:spcBef>
                <a:spcPct val="0"/>
              </a:spcBef>
            </a:pPr>
            <a:r>
              <a:rPr lang="en-US" sz="8500">
                <a:solidFill>
                  <a:srgbClr val="2C2C2C"/>
                </a:solidFill>
                <a:latin typeface="Muli Black"/>
                <a:ea typeface="Muli Black"/>
                <a:cs typeface="Muli Black"/>
                <a:sym typeface="Muli Black"/>
              </a:rPr>
              <a:t>Cơ cấu tổ chức dự án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8700" y="426762"/>
            <a:ext cx="5438168" cy="349143"/>
            <a:chOff x="0" y="0"/>
            <a:chExt cx="7250891" cy="46552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75907" cy="465525"/>
            </a:xfrm>
            <a:custGeom>
              <a:avLst/>
              <a:gdLst/>
              <a:ahLst/>
              <a:cxnLst/>
              <a:rect r="r" b="b" t="t" l="l"/>
              <a:pathLst>
                <a:path h="465525" w="575907">
                  <a:moveTo>
                    <a:pt x="0" y="0"/>
                  </a:moveTo>
                  <a:lnTo>
                    <a:pt x="575907" y="0"/>
                  </a:lnTo>
                  <a:lnTo>
                    <a:pt x="575907" y="465525"/>
                  </a:lnTo>
                  <a:lnTo>
                    <a:pt x="0" y="4655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 rot="0">
              <a:off x="838060" y="51788"/>
              <a:ext cx="6412831" cy="3333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>
                  <a:solidFill>
                    <a:srgbClr val="2C2C2C"/>
                  </a:solidFill>
                  <a:latin typeface="Muli Bold"/>
                  <a:ea typeface="Muli Bold"/>
                  <a:cs typeface="Muli Bold"/>
                  <a:sym typeface="Muli Bold"/>
                </a:rPr>
                <a:t>ĐẠI HỌC CÔNG NGHỆ THÔNG TIN - ĐHQGTPHCM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1423925">
            <a:off x="12323077" y="1735902"/>
            <a:ext cx="781081" cy="1017996"/>
          </a:xfrm>
          <a:custGeom>
            <a:avLst/>
            <a:gdLst/>
            <a:ahLst/>
            <a:cxnLst/>
            <a:rect r="r" b="b" t="t" l="l"/>
            <a:pathLst>
              <a:path h="1017996" w="781081">
                <a:moveTo>
                  <a:pt x="0" y="0"/>
                </a:moveTo>
                <a:lnTo>
                  <a:pt x="781081" y="0"/>
                </a:lnTo>
                <a:lnTo>
                  <a:pt x="781081" y="1017997"/>
                </a:lnTo>
                <a:lnTo>
                  <a:pt x="0" y="10179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094527" y="4401271"/>
            <a:ext cx="10098947" cy="4533782"/>
          </a:xfrm>
          <a:custGeom>
            <a:avLst/>
            <a:gdLst/>
            <a:ahLst/>
            <a:cxnLst/>
            <a:rect r="r" b="b" t="t" l="l"/>
            <a:pathLst>
              <a:path h="4533782" w="10098947">
                <a:moveTo>
                  <a:pt x="0" y="0"/>
                </a:moveTo>
                <a:lnTo>
                  <a:pt x="10098946" y="0"/>
                </a:lnTo>
                <a:lnTo>
                  <a:pt x="10098946" y="4533782"/>
                </a:lnTo>
                <a:lnTo>
                  <a:pt x="0" y="453378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931819" y="3839534"/>
            <a:ext cx="4424362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2C2C2C"/>
                </a:solidFill>
                <a:latin typeface="Muli Bold"/>
                <a:ea typeface="Muli Bold"/>
                <a:cs typeface="Muli Bold"/>
                <a:sym typeface="Muli Bold"/>
              </a:rPr>
              <a:t>Nguyễn Đặng Đức Minh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43741" y="7358033"/>
            <a:ext cx="2498894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2C2C2C"/>
                </a:solidFill>
                <a:latin typeface="Muli Bold"/>
                <a:ea typeface="Muli Bold"/>
                <a:cs typeface="Muli Bold"/>
                <a:sym typeface="Muli Bold"/>
              </a:rPr>
              <a:t>Trịnh Trương Quốc Bảo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450209" y="8954103"/>
            <a:ext cx="2498894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2C2C2C"/>
                </a:solidFill>
                <a:latin typeface="Muli Bold"/>
                <a:ea typeface="Muli Bold"/>
                <a:cs typeface="Muli Bold"/>
                <a:sym typeface="Muli Bold"/>
              </a:rPr>
              <a:t>Phan Nguyễn Lâm Hà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878026" y="7663109"/>
            <a:ext cx="2498894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2C2C2C"/>
                </a:solidFill>
                <a:latin typeface="Muli Bold"/>
                <a:ea typeface="Muli Bold"/>
                <a:cs typeface="Muli Bold"/>
                <a:sym typeface="Muli Bold"/>
              </a:rPr>
              <a:t>Lã Mai Win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8876974">
            <a:off x="11294416" y="3439892"/>
            <a:ext cx="503445" cy="1017996"/>
          </a:xfrm>
          <a:custGeom>
            <a:avLst/>
            <a:gdLst/>
            <a:ahLst/>
            <a:cxnLst/>
            <a:rect r="r" b="b" t="t" l="l"/>
            <a:pathLst>
              <a:path h="1017996" w="503445">
                <a:moveTo>
                  <a:pt x="0" y="0"/>
                </a:moveTo>
                <a:lnTo>
                  <a:pt x="503445" y="0"/>
                </a:lnTo>
                <a:lnTo>
                  <a:pt x="503445" y="1017997"/>
                </a:lnTo>
                <a:lnTo>
                  <a:pt x="0" y="10179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5079673" y="5380914"/>
            <a:ext cx="1106518" cy="1017996"/>
          </a:xfrm>
          <a:custGeom>
            <a:avLst/>
            <a:gdLst/>
            <a:ahLst/>
            <a:cxnLst/>
            <a:rect r="r" b="b" t="t" l="l"/>
            <a:pathLst>
              <a:path h="1017996" w="1106518">
                <a:moveTo>
                  <a:pt x="0" y="0"/>
                </a:moveTo>
                <a:lnTo>
                  <a:pt x="1106517" y="0"/>
                </a:lnTo>
                <a:lnTo>
                  <a:pt x="1106517" y="1017997"/>
                </a:lnTo>
                <a:lnTo>
                  <a:pt x="0" y="101799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6181993">
            <a:off x="9512599" y="8774273"/>
            <a:ext cx="873009" cy="968054"/>
          </a:xfrm>
          <a:custGeom>
            <a:avLst/>
            <a:gdLst/>
            <a:ahLst/>
            <a:cxnLst/>
            <a:rect r="r" b="b" t="t" l="l"/>
            <a:pathLst>
              <a:path h="968054" w="873009">
                <a:moveTo>
                  <a:pt x="0" y="0"/>
                </a:moveTo>
                <a:lnTo>
                  <a:pt x="873008" y="0"/>
                </a:lnTo>
                <a:lnTo>
                  <a:pt x="873008" y="968054"/>
                </a:lnTo>
                <a:lnTo>
                  <a:pt x="0" y="96805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4413491">
            <a:off x="13692378" y="6950598"/>
            <a:ext cx="756842" cy="968054"/>
          </a:xfrm>
          <a:custGeom>
            <a:avLst/>
            <a:gdLst/>
            <a:ahLst/>
            <a:cxnLst/>
            <a:rect r="r" b="b" t="t" l="l"/>
            <a:pathLst>
              <a:path h="968054" w="756842">
                <a:moveTo>
                  <a:pt x="0" y="0"/>
                </a:moveTo>
                <a:lnTo>
                  <a:pt x="756843" y="0"/>
                </a:lnTo>
                <a:lnTo>
                  <a:pt x="756843" y="968054"/>
                </a:lnTo>
                <a:lnTo>
                  <a:pt x="0" y="96805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2503973">
            <a:off x="3636017" y="7546779"/>
            <a:ext cx="706722" cy="741672"/>
          </a:xfrm>
          <a:custGeom>
            <a:avLst/>
            <a:gdLst/>
            <a:ahLst/>
            <a:cxnLst/>
            <a:rect r="r" b="b" t="t" l="l"/>
            <a:pathLst>
              <a:path h="741672" w="706722">
                <a:moveTo>
                  <a:pt x="0" y="0"/>
                </a:moveTo>
                <a:lnTo>
                  <a:pt x="706721" y="0"/>
                </a:lnTo>
                <a:lnTo>
                  <a:pt x="706721" y="741672"/>
                </a:lnTo>
                <a:lnTo>
                  <a:pt x="0" y="74167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-42147" t="0" r="0" b="-30523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8279497" y="1202667"/>
            <a:ext cx="10008503" cy="9084333"/>
          </a:xfrm>
          <a:prstGeom prst="rect">
            <a:avLst/>
          </a:prstGeom>
          <a:solidFill>
            <a:srgbClr val="EDF0F2"/>
          </a:solidFill>
        </p:spPr>
      </p:sp>
      <p:grpSp>
        <p:nvGrpSpPr>
          <p:cNvPr name="Group 3" id="3"/>
          <p:cNvGrpSpPr/>
          <p:nvPr/>
        </p:nvGrpSpPr>
        <p:grpSpPr>
          <a:xfrm rot="0">
            <a:off x="12596708" y="3185224"/>
            <a:ext cx="4741301" cy="3905280"/>
            <a:chOff x="0" y="0"/>
            <a:chExt cx="1087396" cy="89565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87396" cy="895659"/>
            </a:xfrm>
            <a:custGeom>
              <a:avLst/>
              <a:gdLst/>
              <a:ahLst/>
              <a:cxnLst/>
              <a:rect r="r" b="b" t="t" l="l"/>
              <a:pathLst>
                <a:path h="895659" w="1087396">
                  <a:moveTo>
                    <a:pt x="927376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735639"/>
                  </a:lnTo>
                  <a:lnTo>
                    <a:pt x="160020" y="895659"/>
                  </a:lnTo>
                  <a:lnTo>
                    <a:pt x="927376" y="895659"/>
                  </a:lnTo>
                  <a:lnTo>
                    <a:pt x="1087396" y="735639"/>
                  </a:lnTo>
                  <a:lnTo>
                    <a:pt x="1087396" y="160020"/>
                  </a:lnTo>
                  <a:lnTo>
                    <a:pt x="927376" y="0"/>
                  </a:lnTo>
                  <a:close/>
                </a:path>
              </a:pathLst>
            </a:custGeom>
            <a:solidFill>
              <a:srgbClr val="FF3723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63500" y="44450"/>
              <a:ext cx="960396" cy="7877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>
                <a:lnSpc>
                  <a:spcPts val="3899"/>
                </a:lnSpc>
              </a:pPr>
              <a:r>
                <a:rPr lang="en-US" b="true" sz="2999">
                  <a:solidFill>
                    <a:srgbClr val="FFFFFF"/>
                  </a:solidFill>
                  <a:latin typeface="Muli Bold Bold"/>
                  <a:ea typeface="Muli Bold Bold"/>
                  <a:cs typeface="Muli Bold Bold"/>
                  <a:sym typeface="Muli Bold Bold"/>
                </a:rPr>
                <a:t>Tình trạng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437695" y="3196496"/>
            <a:ext cx="4566081" cy="3905280"/>
            <a:chOff x="0" y="0"/>
            <a:chExt cx="1047210" cy="89565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47210" cy="895659"/>
            </a:xfrm>
            <a:custGeom>
              <a:avLst/>
              <a:gdLst/>
              <a:ahLst/>
              <a:cxnLst/>
              <a:rect r="r" b="b" t="t" l="l"/>
              <a:pathLst>
                <a:path h="895659" w="1047210">
                  <a:moveTo>
                    <a:pt x="887190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735639"/>
                  </a:lnTo>
                  <a:lnTo>
                    <a:pt x="160020" y="895659"/>
                  </a:lnTo>
                  <a:lnTo>
                    <a:pt x="887190" y="895659"/>
                  </a:lnTo>
                  <a:lnTo>
                    <a:pt x="1047210" y="735639"/>
                  </a:lnTo>
                  <a:lnTo>
                    <a:pt x="1047210" y="160020"/>
                  </a:lnTo>
                  <a:lnTo>
                    <a:pt x="887190" y="0"/>
                  </a:lnTo>
                  <a:close/>
                </a:path>
              </a:pathLst>
            </a:custGeom>
            <a:solidFill>
              <a:srgbClr val="FEDC4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63500" y="44450"/>
              <a:ext cx="920210" cy="7877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899"/>
                </a:lnSpc>
              </a:pPr>
              <a:r>
                <a:rPr lang="en-US" sz="2999" b="true">
                  <a:solidFill>
                    <a:srgbClr val="2C2C2C"/>
                  </a:solidFill>
                  <a:latin typeface="Muli Bold Bold"/>
                  <a:ea typeface="Muli Bold Bold"/>
                  <a:cs typeface="Muli Bold Bold"/>
                  <a:sym typeface="Muli Bold Bold"/>
                </a:rPr>
                <a:t>Công việc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639600" y="3358633"/>
            <a:ext cx="3321283" cy="3558461"/>
            <a:chOff x="0" y="0"/>
            <a:chExt cx="812800" cy="87084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70843"/>
            </a:xfrm>
            <a:custGeom>
              <a:avLst/>
              <a:gdLst/>
              <a:ahLst/>
              <a:cxnLst/>
              <a:rect r="r" b="b" t="t" l="l"/>
              <a:pathLst>
                <a:path h="870843" w="81280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632718"/>
                  </a:lnTo>
                  <a:lnTo>
                    <a:pt x="574675" y="870843"/>
                  </a:lnTo>
                  <a:lnTo>
                    <a:pt x="238125" y="870843"/>
                  </a:lnTo>
                  <a:lnTo>
                    <a:pt x="0" y="632718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63500" y="25400"/>
              <a:ext cx="685800" cy="7819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199"/>
                </a:lnSpc>
              </a:pPr>
              <a:r>
                <a:rPr lang="en-US" sz="3999">
                  <a:solidFill>
                    <a:srgbClr val="2C2C2C"/>
                  </a:solidFill>
                  <a:latin typeface="Muli Black"/>
                  <a:ea typeface="Muli Black"/>
                  <a:cs typeface="Muli Black"/>
                  <a:sym typeface="Muli Black"/>
                </a:rPr>
                <a:t>Tài nguyên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28700" y="2410944"/>
            <a:ext cx="7250797" cy="5639080"/>
            <a:chOff x="0" y="0"/>
            <a:chExt cx="9667730" cy="7518774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0"/>
              <a:ext cx="9667730" cy="3454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200"/>
                </a:lnSpc>
              </a:pPr>
              <a:r>
                <a:rPr lang="en-US" sz="8500">
                  <a:solidFill>
                    <a:srgbClr val="2C2C2C"/>
                  </a:solidFill>
                  <a:latin typeface="Muli Black"/>
                  <a:ea typeface="Muli Black"/>
                  <a:cs typeface="Muli Black"/>
                  <a:sym typeface="Muli Black"/>
                </a:rPr>
                <a:t>Thực hiện</a:t>
              </a:r>
            </a:p>
            <a:p>
              <a:pPr algn="l" marL="0" indent="0" lvl="0">
                <a:lnSpc>
                  <a:spcPts val="10200"/>
                </a:lnSpc>
                <a:spcBef>
                  <a:spcPct val="0"/>
                </a:spcBef>
              </a:pPr>
              <a:r>
                <a:rPr lang="en-US" sz="8500">
                  <a:solidFill>
                    <a:srgbClr val="2C2C2C"/>
                  </a:solidFill>
                  <a:latin typeface="Muli Black"/>
                  <a:ea typeface="Muli Black"/>
                  <a:cs typeface="Muli Black"/>
                  <a:sym typeface="Muli Black"/>
                </a:rPr>
                <a:t>dự án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4054848"/>
              <a:ext cx="8726516" cy="34639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47698" indent="-323849" lvl="1">
                <a:lnSpc>
                  <a:spcPts val="5399"/>
                </a:lnSpc>
                <a:buFont typeface="Arial"/>
                <a:buChar char="•"/>
              </a:pPr>
              <a:r>
                <a:rPr lang="en-US" b="true" sz="2999">
                  <a:solidFill>
                    <a:srgbClr val="2C2C2C"/>
                  </a:solidFill>
                  <a:latin typeface="Muli Regular Bold"/>
                  <a:ea typeface="Muli Regular Bold"/>
                  <a:cs typeface="Muli Regular Bold"/>
                  <a:sym typeface="Muli Regular Bold"/>
                </a:rPr>
                <a:t>Phân rã công việc</a:t>
              </a:r>
            </a:p>
            <a:p>
              <a:pPr algn="l" marL="647698" indent="-323849" lvl="1">
                <a:lnSpc>
                  <a:spcPts val="5399"/>
                </a:lnSpc>
                <a:buFont typeface="Arial"/>
                <a:buChar char="•"/>
              </a:pPr>
              <a:r>
                <a:rPr lang="en-US" b="true" sz="2999">
                  <a:solidFill>
                    <a:srgbClr val="2C2C2C"/>
                  </a:solidFill>
                  <a:latin typeface="Muli Regular Bold"/>
                  <a:ea typeface="Muli Regular Bold"/>
                  <a:cs typeface="Muli Regular Bold"/>
                  <a:sym typeface="Muli Regular Bold"/>
                </a:rPr>
                <a:t>Danh sách các tài nguyên</a:t>
              </a:r>
            </a:p>
            <a:p>
              <a:pPr algn="l" marL="647698" indent="-323849" lvl="1">
                <a:lnSpc>
                  <a:spcPts val="5399"/>
                </a:lnSpc>
                <a:buFont typeface="Arial"/>
                <a:buChar char="•"/>
              </a:pPr>
              <a:r>
                <a:rPr lang="en-US" b="true" sz="2999">
                  <a:solidFill>
                    <a:srgbClr val="2C2C2C"/>
                  </a:solidFill>
                  <a:latin typeface="Muli Regular Bold"/>
                  <a:ea typeface="Muli Regular Bold"/>
                  <a:cs typeface="Muli Regular Bold"/>
                  <a:sym typeface="Muli Regular Bold"/>
                </a:rPr>
                <a:t>Phân công tài nguyên</a:t>
              </a:r>
            </a:p>
            <a:p>
              <a:pPr algn="l" marL="647698" indent="-323849" lvl="1">
                <a:lnSpc>
                  <a:spcPts val="5399"/>
                </a:lnSpc>
                <a:buFont typeface="Arial"/>
                <a:buChar char="•"/>
              </a:pPr>
              <a:r>
                <a:rPr lang="en-US" b="true" sz="2999">
                  <a:solidFill>
                    <a:srgbClr val="2C2C2C"/>
                  </a:solidFill>
                  <a:latin typeface="Muli Regular Bold"/>
                  <a:ea typeface="Muli Regular Bold"/>
                  <a:cs typeface="Muli Regular Bold"/>
                  <a:sym typeface="Muli Regular Bold"/>
                </a:rPr>
                <a:t>Phân tích nghiệp vụ đề tài</a:t>
              </a:r>
            </a:p>
          </p:txBody>
        </p:sp>
      </p:grpSp>
      <p:sp>
        <p:nvSpPr>
          <p:cNvPr name="AutoShape 15" id="15"/>
          <p:cNvSpPr/>
          <p:nvPr/>
        </p:nvSpPr>
        <p:spPr>
          <a:xfrm rot="0">
            <a:off x="-408731" y="1193142"/>
            <a:ext cx="18875389" cy="0"/>
          </a:xfrm>
          <a:prstGeom prst="line">
            <a:avLst/>
          </a:prstGeom>
          <a:ln cap="flat" w="9525">
            <a:solidFill>
              <a:srgbClr val="2C2C2C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 rot="-5400000">
            <a:off x="4256444" y="5225721"/>
            <a:ext cx="8055633" cy="0"/>
          </a:xfrm>
          <a:prstGeom prst="line">
            <a:avLst/>
          </a:prstGeom>
          <a:ln cap="flat" w="9525">
            <a:solidFill>
              <a:srgbClr val="2C2C2C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7" id="17"/>
          <p:cNvSpPr/>
          <p:nvPr/>
        </p:nvSpPr>
        <p:spPr>
          <a:xfrm flipH="false" flipV="false" rot="-7137048">
            <a:off x="7895082" y="7392550"/>
            <a:ext cx="1046354" cy="1338360"/>
          </a:xfrm>
          <a:custGeom>
            <a:avLst/>
            <a:gdLst/>
            <a:ahLst/>
            <a:cxnLst/>
            <a:rect r="r" b="b" t="t" l="l"/>
            <a:pathLst>
              <a:path h="1338360" w="1046354">
                <a:moveTo>
                  <a:pt x="0" y="0"/>
                </a:moveTo>
                <a:lnTo>
                  <a:pt x="1046354" y="0"/>
                </a:lnTo>
                <a:lnTo>
                  <a:pt x="1046354" y="1338360"/>
                </a:lnTo>
                <a:lnTo>
                  <a:pt x="0" y="13383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1028700" y="426762"/>
            <a:ext cx="5438168" cy="349143"/>
            <a:chOff x="0" y="0"/>
            <a:chExt cx="7250891" cy="46552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75907" cy="465525"/>
            </a:xfrm>
            <a:custGeom>
              <a:avLst/>
              <a:gdLst/>
              <a:ahLst/>
              <a:cxnLst/>
              <a:rect r="r" b="b" t="t" l="l"/>
              <a:pathLst>
                <a:path h="465525" w="575907">
                  <a:moveTo>
                    <a:pt x="0" y="0"/>
                  </a:moveTo>
                  <a:lnTo>
                    <a:pt x="575907" y="0"/>
                  </a:lnTo>
                  <a:lnTo>
                    <a:pt x="575907" y="465525"/>
                  </a:lnTo>
                  <a:lnTo>
                    <a:pt x="0" y="4655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 rot="0">
              <a:off x="838060" y="51788"/>
              <a:ext cx="6412831" cy="3333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>
                  <a:solidFill>
                    <a:srgbClr val="2C2C2C"/>
                  </a:solidFill>
                  <a:latin typeface="Muli Bold"/>
                  <a:ea typeface="Muli Bold"/>
                  <a:cs typeface="Muli Bold"/>
                  <a:sym typeface="Muli Bold"/>
                </a:rPr>
                <a:t>ĐẠI HỌC CÔNG NGHỆ THÔNG TIN - ĐHQGTPHCM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824170">
            <a:off x="1694121" y="736258"/>
            <a:ext cx="3681253" cy="3834639"/>
          </a:xfrm>
          <a:custGeom>
            <a:avLst/>
            <a:gdLst/>
            <a:ahLst/>
            <a:cxnLst/>
            <a:rect r="r" b="b" t="t" l="l"/>
            <a:pathLst>
              <a:path h="3834639" w="3681253">
                <a:moveTo>
                  <a:pt x="0" y="0"/>
                </a:moveTo>
                <a:lnTo>
                  <a:pt x="3681253" y="0"/>
                </a:lnTo>
                <a:lnTo>
                  <a:pt x="3681253" y="3834639"/>
                </a:lnTo>
                <a:lnTo>
                  <a:pt x="0" y="38346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-408731" y="1193142"/>
            <a:ext cx="18875389" cy="0"/>
          </a:xfrm>
          <a:prstGeom prst="line">
            <a:avLst/>
          </a:prstGeom>
          <a:ln cap="flat" w="9525">
            <a:solidFill>
              <a:srgbClr val="2C2C2C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1028700" y="3072678"/>
          <a:ext cx="16230600" cy="7127875"/>
        </p:xfrm>
        <a:graphic>
          <a:graphicData uri="http://schemas.openxmlformats.org/drawingml/2006/table">
            <a:tbl>
              <a:tblPr/>
              <a:tblGrid>
                <a:gridCol w="3669051"/>
                <a:gridCol w="8836878"/>
                <a:gridCol w="3724671"/>
              </a:tblGrid>
              <a:tr h="78825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2C2C2C"/>
                          </a:solidFill>
                          <a:latin typeface="Muli Black"/>
                          <a:ea typeface="Muli Black"/>
                          <a:cs typeface="Muli Black"/>
                          <a:sym typeface="Muli Black"/>
                        </a:rPr>
                        <a:t>Tên tài nguyên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CDFFD8">
                            <a:alpha val="100000"/>
                          </a:srgbClr>
                        </a:gs>
                        <a:gs pos="100000">
                          <a:srgbClr val="94B9FF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2C2C2C"/>
                          </a:solidFill>
                          <a:latin typeface="Muli Black"/>
                          <a:ea typeface="Muli Black"/>
                          <a:cs typeface="Muli Black"/>
                          <a:sym typeface="Muli Black"/>
                        </a:rPr>
                        <a:t>Công việc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94B9FF">
                            <a:alpha val="100000"/>
                          </a:srgbClr>
                        </a:gs>
                        <a:gs pos="100000">
                          <a:srgbClr val="CDFFD8">
                            <a:alpha val="100000"/>
                          </a:srgbClr>
                        </a:gs>
                      </a:gsLst>
                      <a:lin ang="210000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2C2C2C"/>
                          </a:solidFill>
                          <a:latin typeface="Muli Black"/>
                          <a:ea typeface="Muli Black"/>
                          <a:cs typeface="Muli Black"/>
                          <a:sym typeface="Muli Black"/>
                        </a:rPr>
                        <a:t>Tình trạng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CDFFD8">
                            <a:alpha val="100000"/>
                          </a:srgbClr>
                        </a:gs>
                        <a:gs pos="100000">
                          <a:srgbClr val="94B9FF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</a:tr>
              <a:tr h="78825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2C2C2C"/>
                          </a:solidFill>
                          <a:latin typeface="Muli Bold Bold"/>
                          <a:ea typeface="Muli Bold Bold"/>
                          <a:cs typeface="Muli Bold Bold"/>
                          <a:sym typeface="Muli Bold Bold"/>
                        </a:rPr>
                        <a:t>Host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CBFBDA">
                            <a:alpha val="100000"/>
                          </a:srgbClr>
                        </a:gs>
                        <a:gs pos="100000">
                          <a:srgbClr val="EDF0F2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l" marL="431801" indent="-215900" lvl="1">
                        <a:lnSpc>
                          <a:spcPts val="280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000">
                          <a:solidFill>
                            <a:srgbClr val="2C2C2C"/>
                          </a:solidFill>
                          <a:latin typeface="Muli Bold"/>
                          <a:ea typeface="Muli Bold"/>
                          <a:cs typeface="Muli Bold"/>
                          <a:sym typeface="Muli Bold"/>
                        </a:rPr>
                        <a:t>Chạy server của phần mềm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431801" indent="-215900" lvl="1">
                        <a:lnSpc>
                          <a:spcPts val="280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000">
                          <a:solidFill>
                            <a:srgbClr val="2C2C2C"/>
                          </a:solidFill>
                          <a:latin typeface="Muli Bold"/>
                          <a:ea typeface="Muli Bold"/>
                          <a:cs typeface="Muli Bold"/>
                          <a:sym typeface="Muli Bold"/>
                        </a:rPr>
                        <a:t>Có sẵn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2"/>
                    </a:solidFill>
                  </a:tcPr>
                </a:tc>
              </a:tr>
              <a:tr h="79496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2C2C2C"/>
                          </a:solidFill>
                          <a:latin typeface="Muli Bold Bold"/>
                          <a:ea typeface="Muli Bold Bold"/>
                          <a:cs typeface="Muli Bold Bold"/>
                          <a:sym typeface="Muli Bold Bold"/>
                        </a:rPr>
                        <a:t>Nhân lực 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CBFBDA">
                            <a:alpha val="100000"/>
                          </a:srgbClr>
                        </a:gs>
                        <a:gs pos="100000">
                          <a:srgbClr val="EDF0F2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l" marL="431801" indent="-215900" lvl="1">
                        <a:lnSpc>
                          <a:spcPts val="280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000">
                          <a:solidFill>
                            <a:srgbClr val="2C2C2C"/>
                          </a:solidFill>
                          <a:latin typeface="Muli Bold"/>
                          <a:ea typeface="Muli Bold"/>
                          <a:cs typeface="Muli Bold"/>
                          <a:sym typeface="Muli Bold"/>
                        </a:rPr>
                        <a:t>Khảo sát, phân tích, t</a:t>
                      </a:r>
                      <a:r>
                        <a:rPr lang="en-US" sz="2000">
                          <a:solidFill>
                            <a:srgbClr val="2C2C2C"/>
                          </a:solidFill>
                          <a:latin typeface="Muli Bold"/>
                          <a:ea typeface="Muli Bold"/>
                          <a:cs typeface="Muli Bold"/>
                          <a:sym typeface="Muli Bold"/>
                        </a:rPr>
                        <a:t>hiết kế, xây dựng, kiểm thử phần mềm</a:t>
                      </a:r>
                      <a:endParaRPr lang="en-US" sz="1100"/>
                    </a:p>
                    <a:p>
                      <a:pPr algn="l" marL="431801" indent="-215900" lvl="1">
                        <a:lnSpc>
                          <a:spcPts val="2800"/>
                        </a:lnSpc>
                        <a:buFont typeface="Arial"/>
                        <a:buChar char="•"/>
                      </a:pPr>
                      <a:r>
                        <a:rPr lang="en-US" sz="2000">
                          <a:solidFill>
                            <a:srgbClr val="2C2C2C"/>
                          </a:solidFill>
                          <a:latin typeface="Muli Bold"/>
                          <a:ea typeface="Muli Bold"/>
                          <a:cs typeface="Muli Bold"/>
                          <a:sym typeface="Muli Bold"/>
                        </a:rPr>
                        <a:t>Triển khai và bảo trì phần mềm</a:t>
                      </a:r>
                    </a:p>
                  </a:txBody>
                  <a:tcPr marL="0" marR="0" marT="0" marB="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431801" indent="-215900" lvl="1">
                        <a:lnSpc>
                          <a:spcPts val="280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000">
                          <a:solidFill>
                            <a:srgbClr val="2C2C2C"/>
                          </a:solidFill>
                          <a:latin typeface="Muli Bold"/>
                          <a:ea typeface="Muli Bold"/>
                          <a:cs typeface="Muli Bold"/>
                          <a:sym typeface="Muli Bold"/>
                        </a:rPr>
                        <a:t>Có sẵn, 20 chuyên viên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2"/>
                    </a:solidFill>
                  </a:tcPr>
                </a:tc>
              </a:tr>
              <a:tr h="79496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2C2C2C"/>
                          </a:solidFill>
                          <a:latin typeface="Muli Bold Bold"/>
                          <a:ea typeface="Muli Bold Bold"/>
                          <a:cs typeface="Muli Bold Bold"/>
                          <a:sym typeface="Muli Bold Bold"/>
                        </a:rPr>
                        <a:t>Máy tính và các phần mềm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CBFBDA">
                            <a:alpha val="100000"/>
                          </a:srgbClr>
                        </a:gs>
                        <a:gs pos="100000">
                          <a:srgbClr val="EDF0F2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l" marL="431801" indent="-215900" lvl="1">
                        <a:lnSpc>
                          <a:spcPts val="280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000">
                          <a:solidFill>
                            <a:srgbClr val="2C2C2C"/>
                          </a:solidFill>
                          <a:latin typeface="Muli Bold"/>
                          <a:ea typeface="Muli Bold"/>
                          <a:cs typeface="Muli Bold"/>
                          <a:sym typeface="Muli Bold"/>
                        </a:rPr>
                        <a:t>Dùng để quản lý dự án, soạn thảo tài liệu và báo cáo</a:t>
                      </a:r>
                      <a:endParaRPr lang="en-US" sz="1100"/>
                    </a:p>
                    <a:p>
                      <a:pPr algn="l" marL="431801" indent="-215900" lvl="1">
                        <a:lnSpc>
                          <a:spcPts val="2800"/>
                        </a:lnSpc>
                        <a:buFont typeface="Arial"/>
                        <a:buChar char="•"/>
                      </a:pPr>
                      <a:r>
                        <a:rPr lang="en-US" sz="2000">
                          <a:solidFill>
                            <a:srgbClr val="2C2C2C"/>
                          </a:solidFill>
                          <a:latin typeface="Muli Bold"/>
                          <a:ea typeface="Muli Bold"/>
                          <a:cs typeface="Muli Bold"/>
                          <a:sym typeface="Muli Bold"/>
                        </a:rPr>
                        <a:t>Thiết kế, xây dựng, kiểm thử phần mềm</a:t>
                      </a:r>
                    </a:p>
                  </a:txBody>
                  <a:tcPr marL="0" marR="0" marT="0" marB="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431801" indent="-215900" lvl="1">
                        <a:lnSpc>
                          <a:spcPts val="280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000">
                          <a:solidFill>
                            <a:srgbClr val="2C2C2C"/>
                          </a:solidFill>
                          <a:latin typeface="Muli Bold"/>
                          <a:ea typeface="Muli Bold"/>
                          <a:cs typeface="Muli Bold"/>
                          <a:sym typeface="Muli Bold"/>
                        </a:rPr>
                        <a:t>Có sẵn, 4 laptop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2"/>
                    </a:solidFill>
                  </a:tcPr>
                </a:tc>
              </a:tr>
              <a:tr h="79496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2C2C2C"/>
                          </a:solidFill>
                          <a:latin typeface="Muli Bold Bold"/>
                          <a:ea typeface="Muli Bold Bold"/>
                          <a:cs typeface="Muli Bold Bold"/>
                          <a:sym typeface="Muli Bold Bold"/>
                        </a:rPr>
                        <a:t>  Sổ ghi chú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CBFBDA">
                            <a:alpha val="100000"/>
                          </a:srgbClr>
                        </a:gs>
                        <a:gs pos="100000">
                          <a:srgbClr val="EDF0F2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l" marL="431801" indent="-215900" lvl="1">
                        <a:lnSpc>
                          <a:spcPts val="280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000">
                          <a:solidFill>
                            <a:srgbClr val="2C2C2C"/>
                          </a:solidFill>
                          <a:latin typeface="Muli Bold"/>
                          <a:ea typeface="Muli Bold"/>
                          <a:cs typeface="Muli Bold"/>
                          <a:sym typeface="Muli Bold"/>
                        </a:rPr>
                        <a:t>Ghi chép các ý tưởng của nhóm dự án trong các buổi training và các cuộc họp nhóm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431801" indent="-215900" lvl="1">
                        <a:lnSpc>
                          <a:spcPts val="280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000">
                          <a:solidFill>
                            <a:srgbClr val="2C2C2C"/>
                          </a:solidFill>
                          <a:latin typeface="Muli Bold"/>
                          <a:ea typeface="Muli Bold"/>
                          <a:cs typeface="Muli Bold"/>
                          <a:sym typeface="Muli Bold"/>
                        </a:rPr>
                        <a:t>Có sẵn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2"/>
                    </a:solidFill>
                  </a:tcPr>
                </a:tc>
              </a:tr>
              <a:tr h="79496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2C2C2C"/>
                          </a:solidFill>
                          <a:latin typeface="Muli Bold Bold"/>
                          <a:ea typeface="Muli Bold Bold"/>
                          <a:cs typeface="Muli Bold Bold"/>
                          <a:sym typeface="Muli Bold Bold"/>
                        </a:rPr>
                        <a:t>Giấy A4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CBFBDA">
                            <a:alpha val="100000"/>
                          </a:srgbClr>
                        </a:gs>
                        <a:gs pos="100000">
                          <a:srgbClr val="EDF0F2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l" marL="431801" indent="-215900" lvl="1">
                        <a:lnSpc>
                          <a:spcPts val="280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000">
                          <a:solidFill>
                            <a:srgbClr val="2C2C2C"/>
                          </a:solidFill>
                          <a:latin typeface="Muli Bold"/>
                          <a:ea typeface="Muli Bold"/>
                          <a:cs typeface="Muli Bold"/>
                          <a:sym typeface="Muli Bold"/>
                        </a:rPr>
                        <a:t>In tài liệu training, tài liệu tham khảo, báo cáo dự án</a:t>
                      </a:r>
                      <a:endParaRPr lang="en-US" sz="1100"/>
                    </a:p>
                    <a:p>
                      <a:pPr algn="l" marL="431801" indent="-215900" lvl="1">
                        <a:lnSpc>
                          <a:spcPts val="2800"/>
                        </a:lnSpc>
                        <a:buFont typeface="Arial"/>
                        <a:buChar char="•"/>
                      </a:pPr>
                      <a:r>
                        <a:rPr lang="en-US" sz="2000">
                          <a:solidFill>
                            <a:srgbClr val="2C2C2C"/>
                          </a:solidFill>
                          <a:latin typeface="Muli Bold"/>
                          <a:ea typeface="Muli Bold"/>
                          <a:cs typeface="Muli Bold"/>
                          <a:sym typeface="Muli Bold"/>
                        </a:rPr>
                        <a:t>In phiếu khảo sát người dùng</a:t>
                      </a:r>
                    </a:p>
                  </a:txBody>
                  <a:tcPr marL="0" marR="0" marT="0" marB="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431801" indent="-215900" lvl="1">
                        <a:lnSpc>
                          <a:spcPts val="280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000">
                          <a:solidFill>
                            <a:srgbClr val="2C2C2C"/>
                          </a:solidFill>
                          <a:latin typeface="Muli Bold"/>
                          <a:ea typeface="Muli Bold"/>
                          <a:cs typeface="Muli Bold"/>
                          <a:sym typeface="Muli Bold"/>
                        </a:rPr>
                        <a:t>500 đồng/tờ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2"/>
                    </a:solidFill>
                  </a:tcPr>
                </a:tc>
              </a:tr>
              <a:tr h="78825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2C2C2C"/>
                          </a:solidFill>
                          <a:latin typeface="Muli Bold Bold"/>
                          <a:ea typeface="Muli Bold Bold"/>
                          <a:cs typeface="Muli Bold Bold"/>
                          <a:sym typeface="Muli Bold Bold"/>
                        </a:rPr>
                        <a:t>Máy photocopy  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CBFBDA">
                            <a:alpha val="100000"/>
                          </a:srgbClr>
                        </a:gs>
                        <a:gs pos="100000">
                          <a:srgbClr val="EDF0F2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l" marL="431801" indent="-215900" lvl="1">
                        <a:lnSpc>
                          <a:spcPts val="280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000">
                          <a:solidFill>
                            <a:srgbClr val="2C2C2C"/>
                          </a:solidFill>
                          <a:latin typeface="Muli Bold"/>
                          <a:ea typeface="Muli Bold"/>
                          <a:cs typeface="Muli Bold"/>
                          <a:sym typeface="Muli Bold"/>
                        </a:rPr>
                        <a:t>In giấy A4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431801" indent="-215900" lvl="1">
                        <a:lnSpc>
                          <a:spcPts val="280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000">
                          <a:solidFill>
                            <a:srgbClr val="2C2C2C"/>
                          </a:solidFill>
                          <a:latin typeface="Muli Bold"/>
                          <a:ea typeface="Muli Bold"/>
                          <a:cs typeface="Muli Bold"/>
                          <a:sym typeface="Muli Bold"/>
                        </a:rPr>
                        <a:t>Có sẵn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2"/>
                    </a:solidFill>
                  </a:tcPr>
                </a:tc>
              </a:tr>
              <a:tr h="78825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2C2C2C"/>
                          </a:solidFill>
                          <a:latin typeface="Muli Bold Bold"/>
                          <a:ea typeface="Muli Bold Bold"/>
                          <a:cs typeface="Muli Bold Bold"/>
                          <a:sym typeface="Muli Bold Bold"/>
                        </a:rPr>
                        <a:t>Phương tiện di chuyển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CBFBDA">
                            <a:alpha val="100000"/>
                          </a:srgbClr>
                        </a:gs>
                        <a:gs pos="100000">
                          <a:srgbClr val="EDF0F2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l" marL="431801" indent="-215900" lvl="1">
                        <a:lnSpc>
                          <a:spcPts val="280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000">
                          <a:solidFill>
                            <a:srgbClr val="2C2C2C"/>
                          </a:solidFill>
                          <a:latin typeface="Muli Bold"/>
                          <a:ea typeface="Muli Bold"/>
                          <a:cs typeface="Muli Bold"/>
                          <a:sym typeface="Muli Bold"/>
                        </a:rPr>
                        <a:t>Dùng để di chuyển đến các cuộc họp, đến công ty, gặp khách hàng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431801" indent="-215900" lvl="1">
                        <a:lnSpc>
                          <a:spcPts val="280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000">
                          <a:solidFill>
                            <a:srgbClr val="2C2C2C"/>
                          </a:solidFill>
                          <a:latin typeface="Muli Bold"/>
                          <a:ea typeface="Muli Bold"/>
                          <a:cs typeface="Muli Bold"/>
                          <a:sym typeface="Muli Bold"/>
                        </a:rPr>
                        <a:t>Có sẵn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2"/>
                    </a:solidFill>
                  </a:tcPr>
                </a:tc>
              </a:tr>
              <a:tr h="79496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2C2C2C"/>
                          </a:solidFill>
                          <a:latin typeface="Muli Bold Bold"/>
                          <a:ea typeface="Muli Bold Bold"/>
                          <a:cs typeface="Muli Bold Bold"/>
                          <a:sym typeface="Muli Bold Bold"/>
                        </a:rPr>
                        <a:t>Phòng họp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CBFBDA">
                            <a:alpha val="100000"/>
                          </a:srgbClr>
                        </a:gs>
                        <a:gs pos="100000">
                          <a:srgbClr val="EDF0F2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l" marL="431801" indent="-215900" lvl="1">
                        <a:lnSpc>
                          <a:spcPts val="280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000">
                          <a:solidFill>
                            <a:srgbClr val="2C2C2C"/>
                          </a:solidFill>
                          <a:latin typeface="Muli Bold"/>
                          <a:ea typeface="Muli Bold"/>
                          <a:cs typeface="Muli Bold"/>
                          <a:sym typeface="Muli Bold"/>
                        </a:rPr>
                        <a:t>Tổ chức các cuộc họp nhóm, gặp khách hàng, huấn luyện nhân sự</a:t>
                      </a:r>
                      <a:endParaRPr lang="en-US" sz="1100"/>
                    </a:p>
                    <a:p>
                      <a:pPr algn="l" marL="431801" indent="-215900" lvl="1">
                        <a:lnSpc>
                          <a:spcPts val="2800"/>
                        </a:lnSpc>
                        <a:buFont typeface="Arial"/>
                        <a:buChar char="•"/>
                      </a:pPr>
                      <a:r>
                        <a:rPr lang="en-US" sz="2000">
                          <a:solidFill>
                            <a:srgbClr val="2C2C2C"/>
                          </a:solidFill>
                          <a:latin typeface="Muli Bold"/>
                          <a:ea typeface="Muli Bold"/>
                          <a:cs typeface="Muli Bold"/>
                          <a:sym typeface="Muli Bold"/>
                        </a:rPr>
                        <a:t>Bàn giao phần mềm</a:t>
                      </a:r>
                    </a:p>
                  </a:txBody>
                  <a:tcPr marL="0" marR="0" marT="0" marB="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431801" indent="-215900" lvl="1">
                        <a:lnSpc>
                          <a:spcPts val="280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000">
                          <a:solidFill>
                            <a:srgbClr val="2C2C2C"/>
                          </a:solidFill>
                          <a:latin typeface="Muli Bold"/>
                          <a:ea typeface="Muli Bold"/>
                          <a:cs typeface="Muli Bold"/>
                          <a:sym typeface="Muli Bold"/>
                        </a:rPr>
                        <a:t>Có sẵn, 2 phòng họp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2"/>
                    </a:solidFill>
                  </a:tcPr>
                </a:tc>
              </a:tr>
            </a:tbl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1028700" y="1358178"/>
            <a:ext cx="8812077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200"/>
              </a:lnSpc>
              <a:spcBef>
                <a:spcPct val="0"/>
              </a:spcBef>
            </a:pPr>
            <a:r>
              <a:rPr lang="en-US" sz="8500">
                <a:solidFill>
                  <a:srgbClr val="2C2C2C"/>
                </a:solidFill>
                <a:latin typeface="Muli Black"/>
                <a:ea typeface="Muli Black"/>
                <a:cs typeface="Muli Black"/>
                <a:sym typeface="Muli Black"/>
              </a:rPr>
              <a:t>Thực hiện dự án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28700" y="426762"/>
            <a:ext cx="5438168" cy="349143"/>
            <a:chOff x="0" y="0"/>
            <a:chExt cx="7250891" cy="46552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75907" cy="465525"/>
            </a:xfrm>
            <a:custGeom>
              <a:avLst/>
              <a:gdLst/>
              <a:ahLst/>
              <a:cxnLst/>
              <a:rect r="r" b="b" t="t" l="l"/>
              <a:pathLst>
                <a:path h="465525" w="575907">
                  <a:moveTo>
                    <a:pt x="0" y="0"/>
                  </a:moveTo>
                  <a:lnTo>
                    <a:pt x="575907" y="0"/>
                  </a:lnTo>
                  <a:lnTo>
                    <a:pt x="575907" y="465525"/>
                  </a:lnTo>
                  <a:lnTo>
                    <a:pt x="0" y="4655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 rot="0">
              <a:off x="838060" y="51788"/>
              <a:ext cx="6412831" cy="3333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>
                  <a:solidFill>
                    <a:srgbClr val="2C2C2C"/>
                  </a:solidFill>
                  <a:latin typeface="Muli Bold"/>
                  <a:ea typeface="Muli Bold"/>
                  <a:cs typeface="Muli Bold"/>
                  <a:sym typeface="Muli Bold"/>
                </a:rPr>
                <a:t>ĐẠI HỌC CÔNG NGHỆ THÔNG TIN - ĐHQGTPHCM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202667"/>
            <a:ext cx="12247218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200"/>
              </a:lnSpc>
              <a:spcBef>
                <a:spcPct val="0"/>
              </a:spcBef>
            </a:pPr>
            <a:r>
              <a:rPr lang="en-US" sz="8500">
                <a:solidFill>
                  <a:srgbClr val="2C2C2C"/>
                </a:solidFill>
                <a:latin typeface="Muli Black"/>
                <a:ea typeface="Muli Black"/>
                <a:cs typeface="Muli Black"/>
                <a:sym typeface="Muli Black"/>
              </a:rPr>
              <a:t>Các giai đoạn làm việc</a:t>
            </a:r>
          </a:p>
        </p:txBody>
      </p:sp>
      <p:sp>
        <p:nvSpPr>
          <p:cNvPr name="AutoShape 3" id="3"/>
          <p:cNvSpPr/>
          <p:nvPr/>
        </p:nvSpPr>
        <p:spPr>
          <a:xfrm rot="0">
            <a:off x="-408731" y="1193142"/>
            <a:ext cx="18875389" cy="0"/>
          </a:xfrm>
          <a:prstGeom prst="line">
            <a:avLst/>
          </a:prstGeom>
          <a:ln cap="flat" w="9525">
            <a:solidFill>
              <a:srgbClr val="2C2C2C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3275918" y="1202667"/>
            <a:ext cx="703736" cy="774109"/>
          </a:xfrm>
          <a:custGeom>
            <a:avLst/>
            <a:gdLst/>
            <a:ahLst/>
            <a:cxnLst/>
            <a:rect r="r" b="b" t="t" l="l"/>
            <a:pathLst>
              <a:path h="774109" w="703736">
                <a:moveTo>
                  <a:pt x="0" y="0"/>
                </a:moveTo>
                <a:lnTo>
                  <a:pt x="703736" y="0"/>
                </a:lnTo>
                <a:lnTo>
                  <a:pt x="703736" y="774110"/>
                </a:lnTo>
                <a:lnTo>
                  <a:pt x="0" y="7741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882744" y="3043664"/>
            <a:ext cx="6469585" cy="555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0"/>
              </a:lnSpc>
            </a:pPr>
            <a:r>
              <a:rPr lang="en-US" b="true" sz="3500" u="sng">
                <a:solidFill>
                  <a:srgbClr val="2C2C2C"/>
                </a:solidFill>
                <a:latin typeface="Muli Regular Bold"/>
                <a:ea typeface="Muli Regular Bold"/>
                <a:cs typeface="Muli Regular Bold"/>
                <a:sym typeface="Muli Regular Bold"/>
              </a:rPr>
              <a:t>Xác định và phân tích yêu cầu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028700" y="2968858"/>
            <a:ext cx="704460" cy="733812"/>
          </a:xfrm>
          <a:custGeom>
            <a:avLst/>
            <a:gdLst/>
            <a:ahLst/>
            <a:cxnLst/>
            <a:rect r="r" b="b" t="t" l="l"/>
            <a:pathLst>
              <a:path h="733812" w="704460">
                <a:moveTo>
                  <a:pt x="0" y="0"/>
                </a:moveTo>
                <a:lnTo>
                  <a:pt x="704460" y="0"/>
                </a:lnTo>
                <a:lnTo>
                  <a:pt x="704460" y="733812"/>
                </a:lnTo>
                <a:lnTo>
                  <a:pt x="0" y="7338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117839" y="3043664"/>
            <a:ext cx="526182" cy="555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50"/>
              </a:lnSpc>
            </a:pPr>
            <a:r>
              <a:rPr lang="en-US" sz="3500">
                <a:solidFill>
                  <a:srgbClr val="2C2C2C"/>
                </a:solidFill>
                <a:latin typeface="Muli Regular"/>
                <a:ea typeface="Muli Regular"/>
                <a:cs typeface="Muli Regular"/>
                <a:sym typeface="Muli Regular"/>
              </a:rPr>
              <a:t>1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8352329" y="2968858"/>
            <a:ext cx="704460" cy="733812"/>
          </a:xfrm>
          <a:custGeom>
            <a:avLst/>
            <a:gdLst/>
            <a:ahLst/>
            <a:cxnLst/>
            <a:rect r="r" b="b" t="t" l="l"/>
            <a:pathLst>
              <a:path h="733812" w="704460">
                <a:moveTo>
                  <a:pt x="0" y="0"/>
                </a:moveTo>
                <a:lnTo>
                  <a:pt x="704460" y="0"/>
                </a:lnTo>
                <a:lnTo>
                  <a:pt x="704460" y="733812"/>
                </a:lnTo>
                <a:lnTo>
                  <a:pt x="0" y="73381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8441468" y="3043664"/>
            <a:ext cx="526182" cy="555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50"/>
              </a:lnSpc>
            </a:pPr>
            <a:r>
              <a:rPr lang="en-US" sz="3500">
                <a:solidFill>
                  <a:srgbClr val="2C2C2C"/>
                </a:solidFill>
                <a:latin typeface="Muli Regular"/>
                <a:ea typeface="Muli Regular"/>
                <a:cs typeface="Muli Regular"/>
                <a:sym typeface="Muli Regular"/>
              </a:rPr>
              <a:t>2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9380639" y="2968858"/>
            <a:ext cx="704460" cy="733812"/>
          </a:xfrm>
          <a:custGeom>
            <a:avLst/>
            <a:gdLst/>
            <a:ahLst/>
            <a:cxnLst/>
            <a:rect r="r" b="b" t="t" l="l"/>
            <a:pathLst>
              <a:path h="733812" w="704460">
                <a:moveTo>
                  <a:pt x="0" y="0"/>
                </a:moveTo>
                <a:lnTo>
                  <a:pt x="704459" y="0"/>
                </a:lnTo>
                <a:lnTo>
                  <a:pt x="704459" y="733812"/>
                </a:lnTo>
                <a:lnTo>
                  <a:pt x="0" y="73381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408948" y="2968858"/>
            <a:ext cx="704460" cy="733812"/>
          </a:xfrm>
          <a:custGeom>
            <a:avLst/>
            <a:gdLst/>
            <a:ahLst/>
            <a:cxnLst/>
            <a:rect r="r" b="b" t="t" l="l"/>
            <a:pathLst>
              <a:path h="733812" w="704460">
                <a:moveTo>
                  <a:pt x="0" y="0"/>
                </a:moveTo>
                <a:lnTo>
                  <a:pt x="704460" y="0"/>
                </a:lnTo>
                <a:lnTo>
                  <a:pt x="704460" y="733812"/>
                </a:lnTo>
                <a:lnTo>
                  <a:pt x="0" y="73381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1437258" y="2968858"/>
            <a:ext cx="704460" cy="733812"/>
          </a:xfrm>
          <a:custGeom>
            <a:avLst/>
            <a:gdLst/>
            <a:ahLst/>
            <a:cxnLst/>
            <a:rect r="r" b="b" t="t" l="l"/>
            <a:pathLst>
              <a:path h="733812" w="704460">
                <a:moveTo>
                  <a:pt x="0" y="0"/>
                </a:moveTo>
                <a:lnTo>
                  <a:pt x="704460" y="0"/>
                </a:lnTo>
                <a:lnTo>
                  <a:pt x="704460" y="733812"/>
                </a:lnTo>
                <a:lnTo>
                  <a:pt x="0" y="73381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2465568" y="2968858"/>
            <a:ext cx="704460" cy="733812"/>
          </a:xfrm>
          <a:custGeom>
            <a:avLst/>
            <a:gdLst/>
            <a:ahLst/>
            <a:cxnLst/>
            <a:rect r="r" b="b" t="t" l="l"/>
            <a:pathLst>
              <a:path h="733812" w="704460">
                <a:moveTo>
                  <a:pt x="0" y="0"/>
                </a:moveTo>
                <a:lnTo>
                  <a:pt x="704459" y="0"/>
                </a:lnTo>
                <a:lnTo>
                  <a:pt x="704459" y="733812"/>
                </a:lnTo>
                <a:lnTo>
                  <a:pt x="0" y="73381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3493877" y="2968858"/>
            <a:ext cx="704460" cy="733812"/>
          </a:xfrm>
          <a:custGeom>
            <a:avLst/>
            <a:gdLst/>
            <a:ahLst/>
            <a:cxnLst/>
            <a:rect r="r" b="b" t="t" l="l"/>
            <a:pathLst>
              <a:path h="733812" w="704460">
                <a:moveTo>
                  <a:pt x="0" y="0"/>
                </a:moveTo>
                <a:lnTo>
                  <a:pt x="704460" y="0"/>
                </a:lnTo>
                <a:lnTo>
                  <a:pt x="704460" y="733812"/>
                </a:lnTo>
                <a:lnTo>
                  <a:pt x="0" y="733812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9469777" y="3043664"/>
            <a:ext cx="526182" cy="555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50"/>
              </a:lnSpc>
            </a:pPr>
            <a:r>
              <a:rPr lang="en-US" sz="3500">
                <a:solidFill>
                  <a:srgbClr val="2C2C2C"/>
                </a:solidFill>
                <a:latin typeface="Muli Regular"/>
                <a:ea typeface="Muli Regular"/>
                <a:cs typeface="Muli Regular"/>
                <a:sym typeface="Muli Regular"/>
              </a:rPr>
              <a:t>3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498087" y="3043664"/>
            <a:ext cx="526182" cy="555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50"/>
              </a:lnSpc>
            </a:pPr>
            <a:r>
              <a:rPr lang="en-US" sz="3500">
                <a:solidFill>
                  <a:srgbClr val="2C2C2C"/>
                </a:solidFill>
                <a:latin typeface="Muli Regular"/>
                <a:ea typeface="Muli Regular"/>
                <a:cs typeface="Muli Regular"/>
                <a:sym typeface="Muli Regular"/>
              </a:rPr>
              <a:t>4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526397" y="3043664"/>
            <a:ext cx="526182" cy="555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50"/>
              </a:lnSpc>
            </a:pPr>
            <a:r>
              <a:rPr lang="en-US" sz="3500">
                <a:solidFill>
                  <a:srgbClr val="2C2C2C"/>
                </a:solidFill>
                <a:latin typeface="Muli Regular"/>
                <a:ea typeface="Muli Regular"/>
                <a:cs typeface="Muli Regular"/>
                <a:sym typeface="Muli Regular"/>
              </a:rPr>
              <a:t>5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554706" y="3043664"/>
            <a:ext cx="526182" cy="555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50"/>
              </a:lnSpc>
            </a:pPr>
            <a:r>
              <a:rPr lang="en-US" sz="3500">
                <a:solidFill>
                  <a:srgbClr val="2C2C2C"/>
                </a:solidFill>
                <a:latin typeface="Muli Regular"/>
                <a:ea typeface="Muli Regular"/>
                <a:cs typeface="Muli Regular"/>
                <a:sym typeface="Muli Regular"/>
              </a:rPr>
              <a:t>6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583016" y="3043664"/>
            <a:ext cx="526182" cy="555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50"/>
              </a:lnSpc>
            </a:pPr>
            <a:r>
              <a:rPr lang="en-US" sz="3500">
                <a:solidFill>
                  <a:srgbClr val="2C2C2C"/>
                </a:solidFill>
                <a:latin typeface="Muli Regular"/>
                <a:ea typeface="Muli Regular"/>
                <a:cs typeface="Muli Regular"/>
                <a:sym typeface="Muli Regular"/>
              </a:rPr>
              <a:t>7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028700" y="426762"/>
            <a:ext cx="5438168" cy="349143"/>
            <a:chOff x="0" y="0"/>
            <a:chExt cx="7250891" cy="46552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75907" cy="465525"/>
            </a:xfrm>
            <a:custGeom>
              <a:avLst/>
              <a:gdLst/>
              <a:ahLst/>
              <a:cxnLst/>
              <a:rect r="r" b="b" t="t" l="l"/>
              <a:pathLst>
                <a:path h="465525" w="575907">
                  <a:moveTo>
                    <a:pt x="0" y="0"/>
                  </a:moveTo>
                  <a:lnTo>
                    <a:pt x="575907" y="0"/>
                  </a:lnTo>
                  <a:lnTo>
                    <a:pt x="575907" y="465525"/>
                  </a:lnTo>
                  <a:lnTo>
                    <a:pt x="0" y="4655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0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 rot="0">
              <a:off x="838060" y="51788"/>
              <a:ext cx="6412831" cy="3333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>
                  <a:solidFill>
                    <a:srgbClr val="2C2C2C"/>
                  </a:solidFill>
                  <a:latin typeface="Muli Bold"/>
                  <a:ea typeface="Muli Bold"/>
                  <a:cs typeface="Muli Bold"/>
                  <a:sym typeface="Muli Bold"/>
                </a:rPr>
                <a:t>ĐẠI HỌC CÔNG NGHỆ THÔNG TIN - ĐHQGTPHCM</a:t>
              </a:r>
            </a:p>
          </p:txBody>
        </p:sp>
      </p:grpSp>
      <p:graphicFrame>
        <p:nvGraphicFramePr>
          <p:cNvPr name="Table 23" id="23"/>
          <p:cNvGraphicFramePr>
            <a:graphicFrameLocks noGrp="true"/>
          </p:cNvGraphicFramePr>
          <p:nvPr/>
        </p:nvGraphicFramePr>
        <p:xfrm>
          <a:off x="1028700" y="4274170"/>
          <a:ext cx="16715543" cy="5144516"/>
        </p:xfrm>
        <a:graphic>
          <a:graphicData uri="http://schemas.openxmlformats.org/drawingml/2006/table">
            <a:tbl>
              <a:tblPr/>
              <a:tblGrid>
                <a:gridCol w="5889208"/>
                <a:gridCol w="4507154"/>
                <a:gridCol w="6319181"/>
              </a:tblGrid>
              <a:tr h="110663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2C2C2C"/>
                          </a:solidFill>
                          <a:latin typeface="Muli Black"/>
                          <a:ea typeface="Muli Black"/>
                          <a:cs typeface="Muli Black"/>
                          <a:sym typeface="Muli Black"/>
                        </a:rPr>
                        <a:t>Mục đích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CDFFD8">
                            <a:alpha val="100000"/>
                          </a:srgbClr>
                        </a:gs>
                        <a:gs pos="100000">
                          <a:srgbClr val="94B9FF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2C2C2C"/>
                          </a:solidFill>
                          <a:latin typeface="Muli Black"/>
                          <a:ea typeface="Muli Black"/>
                          <a:cs typeface="Muli Black"/>
                          <a:sym typeface="Muli Black"/>
                        </a:rPr>
                        <a:t>Tài liệu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94B9FF">
                            <a:alpha val="100000"/>
                          </a:srgbClr>
                        </a:gs>
                        <a:gs pos="100000">
                          <a:srgbClr val="CDFFD8">
                            <a:alpha val="100000"/>
                          </a:srgbClr>
                        </a:gs>
                      </a:gsLst>
                      <a:lin ang="210000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2C2C2C"/>
                          </a:solidFill>
                          <a:latin typeface="Muli Black"/>
                          <a:ea typeface="Muli Black"/>
                          <a:cs typeface="Muli Black"/>
                          <a:sym typeface="Muli Black"/>
                        </a:rPr>
                        <a:t>Ghi chú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CDFFD8">
                            <a:alpha val="100000"/>
                          </a:srgbClr>
                        </a:gs>
                        <a:gs pos="100000">
                          <a:srgbClr val="94B9FF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</a:tr>
              <a:tr h="4037880">
                <a:tc>
                  <a:txBody>
                    <a:bodyPr anchor="t" rtlCol="false"/>
                    <a:lstStyle/>
                    <a:p>
                      <a:pPr algn="l" marL="539748" indent="-269874" lvl="1">
                        <a:lnSpc>
                          <a:spcPts val="349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499">
                          <a:solidFill>
                            <a:srgbClr val="2C2C2C"/>
                          </a:solidFill>
                          <a:latin typeface="Muli Bold"/>
                          <a:ea typeface="Muli Bold"/>
                          <a:cs typeface="Muli Bold"/>
                          <a:sym typeface="Muli Bold"/>
                        </a:rPr>
                        <a:t>Xây dựng phần mềm quản lý tiền lương cán bộ đáp ứng nhu cầu và quy trình làm việc của Sở Xây Dựng.</a:t>
                      </a:r>
                      <a:endParaRPr lang="en-US" sz="1100"/>
                    </a:p>
                    <a:p>
                      <a:pPr algn="l" marL="539748" indent="-269874" lvl="1">
                        <a:lnSpc>
                          <a:spcPts val="3499"/>
                        </a:lnSpc>
                        <a:buFont typeface="Arial"/>
                        <a:buChar char="•"/>
                      </a:pPr>
                      <a:r>
                        <a:rPr lang="en-US" sz="2499">
                          <a:solidFill>
                            <a:srgbClr val="2C2C2C"/>
                          </a:solidFill>
                          <a:latin typeface="Muli Bold"/>
                          <a:ea typeface="Muli Bold"/>
                          <a:cs typeface="Muli Bold"/>
                          <a:sym typeface="Muli Bold"/>
                        </a:rPr>
                        <a:t>Thông qua 2 hình thức khảo sát (online và face to face) để phân tích yêu cầu chức năng của phần mềm</a:t>
                      </a:r>
                    </a:p>
                  </a:txBody>
                  <a:tcPr marL="0" marR="0" marT="0" marB="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CBFBDA">
                            <a:alpha val="100000"/>
                          </a:srgbClr>
                        </a:gs>
                        <a:gs pos="100000">
                          <a:srgbClr val="EDF0F2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l" marL="539748" indent="-269874" lvl="1">
                        <a:lnSpc>
                          <a:spcPts val="349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499">
                          <a:solidFill>
                            <a:srgbClr val="2C2C2C"/>
                          </a:solidFill>
                          <a:latin typeface="Muli Bold"/>
                          <a:ea typeface="Muli Bold"/>
                          <a:cs typeface="Muli Bold"/>
                          <a:sym typeface="Muli Bold"/>
                        </a:rPr>
                        <a:t>Form khảo sát online</a:t>
                      </a:r>
                      <a:endParaRPr lang="en-US" sz="1100"/>
                    </a:p>
                    <a:p>
                      <a:pPr algn="l" marL="539748" indent="-269874" lvl="1">
                        <a:lnSpc>
                          <a:spcPts val="3499"/>
                        </a:lnSpc>
                        <a:buFont typeface="Arial"/>
                        <a:buChar char="•"/>
                      </a:pPr>
                      <a:r>
                        <a:rPr lang="en-US" sz="2499">
                          <a:solidFill>
                            <a:srgbClr val="2C2C2C"/>
                          </a:solidFill>
                          <a:latin typeface="Muli Bold"/>
                          <a:ea typeface="Muli Bold"/>
                          <a:cs typeface="Muli Bold"/>
                          <a:sym typeface="Muli Bold"/>
                        </a:rPr>
                        <a:t>Báo cáo phân tích khảo sát</a:t>
                      </a:r>
                    </a:p>
                    <a:p>
                      <a:pPr algn="l" marL="539748" indent="-269874" lvl="1">
                        <a:lnSpc>
                          <a:spcPts val="3499"/>
                        </a:lnSpc>
                        <a:buFont typeface="Arial"/>
                        <a:buChar char="•"/>
                      </a:pPr>
                      <a:r>
                        <a:rPr lang="en-US" sz="2499">
                          <a:solidFill>
                            <a:srgbClr val="2C2C2C"/>
                          </a:solidFill>
                          <a:latin typeface="Muli Bold"/>
                          <a:ea typeface="Muli Bold"/>
                          <a:cs typeface="Muli Bold"/>
                          <a:sym typeface="Muli Bold"/>
                        </a:rPr>
                        <a:t>Tài liệu ghi chép câu trả lời trực tiếp của khách hàng</a:t>
                      </a:r>
                    </a:p>
                  </a:txBody>
                  <a:tcPr marL="0" marR="0" marT="0" marB="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539748" indent="-269874" lvl="1">
                        <a:lnSpc>
                          <a:spcPts val="349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499">
                          <a:solidFill>
                            <a:srgbClr val="2C2C2C"/>
                          </a:solidFill>
                          <a:latin typeface="Muli Bold"/>
                          <a:ea typeface="Muli Bold"/>
                          <a:cs typeface="Muli Bold"/>
                          <a:sym typeface="Muli Bold"/>
                        </a:rPr>
                        <a:t>Lấy thêm những thông tin mà khách hàng muốn có ở phần mềm trong tương lai.</a:t>
                      </a:r>
                      <a:endParaRPr lang="en-US" sz="1100"/>
                    </a:p>
                    <a:p>
                      <a:pPr algn="l" marL="539748" indent="-269874" lvl="1">
                        <a:lnSpc>
                          <a:spcPts val="3499"/>
                        </a:lnSpc>
                        <a:buFont typeface="Arial"/>
                        <a:buChar char="•"/>
                      </a:pPr>
                      <a:r>
                        <a:rPr lang="en-US" sz="2499">
                          <a:solidFill>
                            <a:srgbClr val="2C2C2C"/>
                          </a:solidFill>
                          <a:latin typeface="Muli Bold"/>
                          <a:ea typeface="Muli Bold"/>
                          <a:cs typeface="Muli Bold"/>
                          <a:sym typeface="Muli Bold"/>
                        </a:rPr>
                        <a:t>Xác định số lượng khách hàng sử dụng phần mềm và sẽ sử dụng sau khi cải tiến</a:t>
                      </a:r>
                    </a:p>
                    <a:p>
                      <a:pPr algn="l" marL="539748" indent="-269874" lvl="1">
                        <a:lnSpc>
                          <a:spcPts val="3499"/>
                        </a:lnSpc>
                        <a:buFont typeface="Arial"/>
                        <a:buChar char="•"/>
                      </a:pPr>
                      <a:r>
                        <a:rPr lang="en-US" sz="2499">
                          <a:solidFill>
                            <a:srgbClr val="2C2C2C"/>
                          </a:solidFill>
                          <a:latin typeface="Muli Bold"/>
                          <a:ea typeface="Muli Bold"/>
                          <a:cs typeface="Muli Bold"/>
                          <a:sym typeface="Muli Bold"/>
                        </a:rPr>
                        <a:t>Nắm được quy mô lớn nhỏ của dự án, mức độ ưu tiên các chức năng mà khách hàng muốn ở phần mềm.</a:t>
                      </a:r>
                    </a:p>
                  </a:txBody>
                  <a:tcPr marL="0" marR="0" marT="0" marB="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EDF0F2">
                            <a:alpha val="100000"/>
                          </a:srgbClr>
                        </a:gs>
                        <a:gs pos="100000">
                          <a:srgbClr val="98BDFD">
                            <a:alpha val="76500"/>
                          </a:srgbClr>
                        </a:gs>
                      </a:gsLst>
                      <a:lin ang="0"/>
                    </a:gra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202667"/>
            <a:ext cx="12247218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200"/>
              </a:lnSpc>
              <a:spcBef>
                <a:spcPct val="0"/>
              </a:spcBef>
            </a:pPr>
            <a:r>
              <a:rPr lang="en-US" sz="8500">
                <a:solidFill>
                  <a:srgbClr val="2C2C2C"/>
                </a:solidFill>
                <a:latin typeface="Muli Black"/>
                <a:ea typeface="Muli Black"/>
                <a:cs typeface="Muli Black"/>
                <a:sym typeface="Muli Black"/>
              </a:rPr>
              <a:t>Các giai đoạn làm việc</a:t>
            </a:r>
          </a:p>
        </p:txBody>
      </p:sp>
      <p:sp>
        <p:nvSpPr>
          <p:cNvPr name="AutoShape 3" id="3"/>
          <p:cNvSpPr/>
          <p:nvPr/>
        </p:nvSpPr>
        <p:spPr>
          <a:xfrm rot="0">
            <a:off x="-408731" y="1193142"/>
            <a:ext cx="18875389" cy="0"/>
          </a:xfrm>
          <a:prstGeom prst="line">
            <a:avLst/>
          </a:prstGeom>
          <a:ln cap="flat" w="9525">
            <a:solidFill>
              <a:srgbClr val="2C2C2C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3275918" y="1202667"/>
            <a:ext cx="703736" cy="774109"/>
          </a:xfrm>
          <a:custGeom>
            <a:avLst/>
            <a:gdLst/>
            <a:ahLst/>
            <a:cxnLst/>
            <a:rect r="r" b="b" t="t" l="l"/>
            <a:pathLst>
              <a:path h="774109" w="703736">
                <a:moveTo>
                  <a:pt x="0" y="0"/>
                </a:moveTo>
                <a:lnTo>
                  <a:pt x="703736" y="0"/>
                </a:lnTo>
                <a:lnTo>
                  <a:pt x="703736" y="774110"/>
                </a:lnTo>
                <a:lnTo>
                  <a:pt x="0" y="7741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954769" y="3043664"/>
            <a:ext cx="5653140" cy="555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0"/>
              </a:lnSpc>
            </a:pPr>
            <a:r>
              <a:rPr lang="en-US" b="true" sz="3500" u="sng">
                <a:solidFill>
                  <a:srgbClr val="2C2C2C"/>
                </a:solidFill>
                <a:latin typeface="Muli Regular Bold"/>
                <a:ea typeface="Muli Regular Bold"/>
                <a:cs typeface="Muli Regular Bold"/>
                <a:sym typeface="Muli Regular Bold"/>
              </a:rPr>
              <a:t>Khởi động và lên kế hoạch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028700" y="2968858"/>
            <a:ext cx="704460" cy="733812"/>
          </a:xfrm>
          <a:custGeom>
            <a:avLst/>
            <a:gdLst/>
            <a:ahLst/>
            <a:cxnLst/>
            <a:rect r="r" b="b" t="t" l="l"/>
            <a:pathLst>
              <a:path h="733812" w="704460">
                <a:moveTo>
                  <a:pt x="0" y="0"/>
                </a:moveTo>
                <a:lnTo>
                  <a:pt x="704460" y="0"/>
                </a:lnTo>
                <a:lnTo>
                  <a:pt x="704460" y="733812"/>
                </a:lnTo>
                <a:lnTo>
                  <a:pt x="0" y="7338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117839" y="3043664"/>
            <a:ext cx="526182" cy="555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50"/>
              </a:lnSpc>
            </a:pPr>
            <a:r>
              <a:rPr lang="en-US" sz="3500">
                <a:solidFill>
                  <a:srgbClr val="2C2C2C"/>
                </a:solidFill>
                <a:latin typeface="Muli Regular"/>
                <a:ea typeface="Muli Regular"/>
                <a:cs typeface="Muli Regular"/>
                <a:sym typeface="Muli Regular"/>
              </a:rPr>
              <a:t>1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2055901" y="2968858"/>
            <a:ext cx="704460" cy="733812"/>
          </a:xfrm>
          <a:custGeom>
            <a:avLst/>
            <a:gdLst/>
            <a:ahLst/>
            <a:cxnLst/>
            <a:rect r="r" b="b" t="t" l="l"/>
            <a:pathLst>
              <a:path h="733812" w="704460">
                <a:moveTo>
                  <a:pt x="0" y="0"/>
                </a:moveTo>
                <a:lnTo>
                  <a:pt x="704459" y="0"/>
                </a:lnTo>
                <a:lnTo>
                  <a:pt x="704459" y="733812"/>
                </a:lnTo>
                <a:lnTo>
                  <a:pt x="0" y="73381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145039" y="3043664"/>
            <a:ext cx="526182" cy="555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50"/>
              </a:lnSpc>
            </a:pPr>
            <a:r>
              <a:rPr lang="en-US" sz="3500">
                <a:solidFill>
                  <a:srgbClr val="2C2C2C"/>
                </a:solidFill>
                <a:latin typeface="Muli Regular"/>
                <a:ea typeface="Muli Regular"/>
                <a:cs typeface="Muli Regular"/>
                <a:sym typeface="Muli Regular"/>
              </a:rPr>
              <a:t>2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8754612" y="2968858"/>
            <a:ext cx="704460" cy="733812"/>
          </a:xfrm>
          <a:custGeom>
            <a:avLst/>
            <a:gdLst/>
            <a:ahLst/>
            <a:cxnLst/>
            <a:rect r="r" b="b" t="t" l="l"/>
            <a:pathLst>
              <a:path h="733812" w="704460">
                <a:moveTo>
                  <a:pt x="0" y="0"/>
                </a:moveTo>
                <a:lnTo>
                  <a:pt x="704460" y="0"/>
                </a:lnTo>
                <a:lnTo>
                  <a:pt x="704460" y="733812"/>
                </a:lnTo>
                <a:lnTo>
                  <a:pt x="0" y="73381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782922" y="2968858"/>
            <a:ext cx="704460" cy="733812"/>
          </a:xfrm>
          <a:custGeom>
            <a:avLst/>
            <a:gdLst/>
            <a:ahLst/>
            <a:cxnLst/>
            <a:rect r="r" b="b" t="t" l="l"/>
            <a:pathLst>
              <a:path h="733812" w="704460">
                <a:moveTo>
                  <a:pt x="0" y="0"/>
                </a:moveTo>
                <a:lnTo>
                  <a:pt x="704459" y="0"/>
                </a:lnTo>
                <a:lnTo>
                  <a:pt x="704459" y="733812"/>
                </a:lnTo>
                <a:lnTo>
                  <a:pt x="0" y="73381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811231" y="2968858"/>
            <a:ext cx="704460" cy="733812"/>
          </a:xfrm>
          <a:custGeom>
            <a:avLst/>
            <a:gdLst/>
            <a:ahLst/>
            <a:cxnLst/>
            <a:rect r="r" b="b" t="t" l="l"/>
            <a:pathLst>
              <a:path h="733812" w="704460">
                <a:moveTo>
                  <a:pt x="0" y="0"/>
                </a:moveTo>
                <a:lnTo>
                  <a:pt x="704460" y="0"/>
                </a:lnTo>
                <a:lnTo>
                  <a:pt x="704460" y="733812"/>
                </a:lnTo>
                <a:lnTo>
                  <a:pt x="0" y="73381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1839541" y="2968858"/>
            <a:ext cx="704460" cy="733812"/>
          </a:xfrm>
          <a:custGeom>
            <a:avLst/>
            <a:gdLst/>
            <a:ahLst/>
            <a:cxnLst/>
            <a:rect r="r" b="b" t="t" l="l"/>
            <a:pathLst>
              <a:path h="733812" w="704460">
                <a:moveTo>
                  <a:pt x="0" y="0"/>
                </a:moveTo>
                <a:lnTo>
                  <a:pt x="704460" y="0"/>
                </a:lnTo>
                <a:lnTo>
                  <a:pt x="704460" y="733812"/>
                </a:lnTo>
                <a:lnTo>
                  <a:pt x="0" y="73381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2867851" y="2968858"/>
            <a:ext cx="704460" cy="733812"/>
          </a:xfrm>
          <a:custGeom>
            <a:avLst/>
            <a:gdLst/>
            <a:ahLst/>
            <a:cxnLst/>
            <a:rect r="r" b="b" t="t" l="l"/>
            <a:pathLst>
              <a:path h="733812" w="704460">
                <a:moveTo>
                  <a:pt x="0" y="0"/>
                </a:moveTo>
                <a:lnTo>
                  <a:pt x="704459" y="0"/>
                </a:lnTo>
                <a:lnTo>
                  <a:pt x="704459" y="733812"/>
                </a:lnTo>
                <a:lnTo>
                  <a:pt x="0" y="733812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8843751" y="3043664"/>
            <a:ext cx="526182" cy="555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50"/>
              </a:lnSpc>
            </a:pPr>
            <a:r>
              <a:rPr lang="en-US" sz="3500">
                <a:solidFill>
                  <a:srgbClr val="2C2C2C"/>
                </a:solidFill>
                <a:latin typeface="Muli Regular"/>
                <a:ea typeface="Muli Regular"/>
                <a:cs typeface="Muli Regular"/>
                <a:sym typeface="Muli Regular"/>
              </a:rPr>
              <a:t>3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872060" y="3043664"/>
            <a:ext cx="526182" cy="555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50"/>
              </a:lnSpc>
            </a:pPr>
            <a:r>
              <a:rPr lang="en-US" sz="3500">
                <a:solidFill>
                  <a:srgbClr val="2C2C2C"/>
                </a:solidFill>
                <a:latin typeface="Muli Regular"/>
                <a:ea typeface="Muli Regular"/>
                <a:cs typeface="Muli Regular"/>
                <a:sym typeface="Muli Regular"/>
              </a:rPr>
              <a:t>4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900370" y="3043664"/>
            <a:ext cx="526182" cy="555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50"/>
              </a:lnSpc>
            </a:pPr>
            <a:r>
              <a:rPr lang="en-US" sz="3500">
                <a:solidFill>
                  <a:srgbClr val="2C2C2C"/>
                </a:solidFill>
                <a:latin typeface="Muli Regular"/>
                <a:ea typeface="Muli Regular"/>
                <a:cs typeface="Muli Regular"/>
                <a:sym typeface="Muli Regular"/>
              </a:rPr>
              <a:t>5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928679" y="3043664"/>
            <a:ext cx="526182" cy="555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50"/>
              </a:lnSpc>
            </a:pPr>
            <a:r>
              <a:rPr lang="en-US" sz="3500">
                <a:solidFill>
                  <a:srgbClr val="2C2C2C"/>
                </a:solidFill>
                <a:latin typeface="Muli Regular"/>
                <a:ea typeface="Muli Regular"/>
                <a:cs typeface="Muli Regular"/>
                <a:sym typeface="Muli Regular"/>
              </a:rPr>
              <a:t>6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956989" y="3043664"/>
            <a:ext cx="526182" cy="555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50"/>
              </a:lnSpc>
            </a:pPr>
            <a:r>
              <a:rPr lang="en-US" sz="3500">
                <a:solidFill>
                  <a:srgbClr val="2C2C2C"/>
                </a:solidFill>
                <a:latin typeface="Muli Regular"/>
                <a:ea typeface="Muli Regular"/>
                <a:cs typeface="Muli Regular"/>
                <a:sym typeface="Muli Regular"/>
              </a:rPr>
              <a:t>7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028700" y="426762"/>
            <a:ext cx="5438168" cy="349143"/>
            <a:chOff x="0" y="0"/>
            <a:chExt cx="7250891" cy="46552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75907" cy="465525"/>
            </a:xfrm>
            <a:custGeom>
              <a:avLst/>
              <a:gdLst/>
              <a:ahLst/>
              <a:cxnLst/>
              <a:rect r="r" b="b" t="t" l="l"/>
              <a:pathLst>
                <a:path h="465525" w="575907">
                  <a:moveTo>
                    <a:pt x="0" y="0"/>
                  </a:moveTo>
                  <a:lnTo>
                    <a:pt x="575907" y="0"/>
                  </a:lnTo>
                  <a:lnTo>
                    <a:pt x="575907" y="465525"/>
                  </a:lnTo>
                  <a:lnTo>
                    <a:pt x="0" y="4655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0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 rot="0">
              <a:off x="838060" y="51788"/>
              <a:ext cx="6412831" cy="3333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>
                  <a:solidFill>
                    <a:srgbClr val="2C2C2C"/>
                  </a:solidFill>
                  <a:latin typeface="Muli Bold"/>
                  <a:ea typeface="Muli Bold"/>
                  <a:cs typeface="Muli Bold"/>
                  <a:sym typeface="Muli Bold"/>
                </a:rPr>
                <a:t>ĐẠI HỌC CÔNG NGHỆ THÔNG TIN - ĐHQGTPHCM</a:t>
              </a:r>
            </a:p>
          </p:txBody>
        </p:sp>
      </p:grpSp>
      <p:graphicFrame>
        <p:nvGraphicFramePr>
          <p:cNvPr name="Table 23" id="23"/>
          <p:cNvGraphicFramePr>
            <a:graphicFrameLocks noGrp="true"/>
          </p:cNvGraphicFramePr>
          <p:nvPr/>
        </p:nvGraphicFramePr>
        <p:xfrm>
          <a:off x="1028700" y="4274170"/>
          <a:ext cx="16715543" cy="5582666"/>
        </p:xfrm>
        <a:graphic>
          <a:graphicData uri="http://schemas.openxmlformats.org/drawingml/2006/table">
            <a:tbl>
              <a:tblPr/>
              <a:tblGrid>
                <a:gridCol w="5889208"/>
                <a:gridCol w="4507154"/>
                <a:gridCol w="6319181"/>
              </a:tblGrid>
              <a:tr h="11058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2C2C2C"/>
                          </a:solidFill>
                          <a:latin typeface="Muli Black"/>
                          <a:ea typeface="Muli Black"/>
                          <a:cs typeface="Muli Black"/>
                          <a:sym typeface="Muli Black"/>
                        </a:rPr>
                        <a:t>Mục đích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CDFFD8">
                            <a:alpha val="100000"/>
                          </a:srgbClr>
                        </a:gs>
                        <a:gs pos="100000">
                          <a:srgbClr val="94B9FF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2C2C2C"/>
                          </a:solidFill>
                          <a:latin typeface="Muli Black"/>
                          <a:ea typeface="Muli Black"/>
                          <a:cs typeface="Muli Black"/>
                          <a:sym typeface="Muli Black"/>
                        </a:rPr>
                        <a:t>Tài liệu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94B9FF">
                            <a:alpha val="100000"/>
                          </a:srgbClr>
                        </a:gs>
                        <a:gs pos="100000">
                          <a:srgbClr val="CDFFD8">
                            <a:alpha val="100000"/>
                          </a:srgbClr>
                        </a:gs>
                      </a:gsLst>
                      <a:lin ang="210000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2C2C2C"/>
                          </a:solidFill>
                          <a:latin typeface="Muli Black"/>
                          <a:ea typeface="Muli Black"/>
                          <a:cs typeface="Muli Black"/>
                          <a:sym typeface="Muli Black"/>
                        </a:rPr>
                        <a:t>Ghi chú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CDFFD8">
                            <a:alpha val="100000"/>
                          </a:srgbClr>
                        </a:gs>
                        <a:gs pos="100000">
                          <a:srgbClr val="94B9FF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</a:tr>
              <a:tr h="4476841">
                <a:tc>
                  <a:txBody>
                    <a:bodyPr anchor="t" rtlCol="false"/>
                    <a:lstStyle/>
                    <a:p>
                      <a:pPr algn="l" marL="539748" indent="-269874" lvl="1">
                        <a:lnSpc>
                          <a:spcPts val="349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499">
                          <a:solidFill>
                            <a:srgbClr val="2C2C2C"/>
                          </a:solidFill>
                          <a:latin typeface="Muli Bold"/>
                          <a:ea typeface="Muli Bold"/>
                          <a:cs typeface="Muli Bold"/>
                          <a:sym typeface="Muli Bold"/>
                        </a:rPr>
                        <a:t>Tuyên bố dự án và phát biểu phạm vi dự án.</a:t>
                      </a:r>
                      <a:endParaRPr lang="en-US" sz="1100"/>
                    </a:p>
                    <a:p>
                      <a:pPr algn="l" marL="539748" indent="-269874" lvl="1">
                        <a:lnSpc>
                          <a:spcPts val="3499"/>
                        </a:lnSpc>
                        <a:buFont typeface="Arial"/>
                        <a:buChar char="•"/>
                      </a:pPr>
                      <a:r>
                        <a:rPr lang="en-US" sz="2499">
                          <a:solidFill>
                            <a:srgbClr val="2C2C2C"/>
                          </a:solidFill>
                          <a:latin typeface="Muli Bold"/>
                          <a:ea typeface="Muli Bold"/>
                          <a:cs typeface="Muli Bold"/>
                          <a:sym typeface="Muli Bold"/>
                        </a:rPr>
                        <a:t>Lập bảng kế hoạch</a:t>
                      </a:r>
                    </a:p>
                    <a:p>
                      <a:pPr algn="l" marL="539748" indent="-269874" lvl="1">
                        <a:lnSpc>
                          <a:spcPts val="3499"/>
                        </a:lnSpc>
                        <a:buFont typeface="Arial"/>
                        <a:buChar char="•"/>
                      </a:pPr>
                      <a:r>
                        <a:rPr lang="en-US" sz="2499">
                          <a:solidFill>
                            <a:srgbClr val="2C2C2C"/>
                          </a:solidFill>
                          <a:latin typeface="Muli Bold"/>
                          <a:ea typeface="Muli Bold"/>
                          <a:cs typeface="Muli Bold"/>
                          <a:sym typeface="Muli Bold"/>
                        </a:rPr>
                        <a:t>Xác định tài nguyên và nhân công tham gia vào dự án.</a:t>
                      </a:r>
                    </a:p>
                    <a:p>
                      <a:pPr algn="l" marL="539748" indent="-269874" lvl="1">
                        <a:lnSpc>
                          <a:spcPts val="3499"/>
                        </a:lnSpc>
                        <a:buFont typeface="Arial"/>
                        <a:buChar char="•"/>
                      </a:pPr>
                      <a:r>
                        <a:rPr lang="en-US" sz="2499">
                          <a:solidFill>
                            <a:srgbClr val="2C2C2C"/>
                          </a:solidFill>
                          <a:latin typeface="Muli Bold"/>
                          <a:ea typeface="Muli Bold"/>
                          <a:cs typeface="Muli Bold"/>
                          <a:sym typeface="Muli Bold"/>
                        </a:rPr>
                        <a:t>Ước lượng giá trị và khoảng thời gian thực hiện</a:t>
                      </a:r>
                    </a:p>
                    <a:p>
                      <a:pPr algn="l" marL="539748" indent="-269874" lvl="1">
                        <a:lnSpc>
                          <a:spcPts val="3499"/>
                        </a:lnSpc>
                        <a:buFont typeface="Arial"/>
                        <a:buChar char="•"/>
                      </a:pPr>
                      <a:r>
                        <a:rPr lang="en-US" sz="2499">
                          <a:solidFill>
                            <a:srgbClr val="2C2C2C"/>
                          </a:solidFill>
                          <a:latin typeface="Muli Bold"/>
                          <a:ea typeface="Muli Bold"/>
                          <a:cs typeface="Muli Bold"/>
                          <a:sym typeface="Muli Bold"/>
                        </a:rPr>
                        <a:t>Xác định rủi ro và đề ra giải pháp</a:t>
                      </a:r>
                    </a:p>
                  </a:txBody>
                  <a:tcPr marL="0" marR="0" marT="0" marB="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CBFBDA">
                            <a:alpha val="100000"/>
                          </a:srgbClr>
                        </a:gs>
                        <a:gs pos="100000">
                          <a:srgbClr val="EDF0F2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l" marL="539748" indent="-269874" lvl="1">
                        <a:lnSpc>
                          <a:spcPts val="349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499">
                          <a:solidFill>
                            <a:srgbClr val="2C2C2C"/>
                          </a:solidFill>
                          <a:latin typeface="Muli Bold"/>
                          <a:ea typeface="Muli Bold"/>
                          <a:cs typeface="Muli Bold"/>
                          <a:sym typeface="Muli Bold"/>
                        </a:rPr>
                        <a:t>Tuyên bố dự án</a:t>
                      </a:r>
                      <a:endParaRPr lang="en-US" sz="1100"/>
                    </a:p>
                    <a:p>
                      <a:pPr algn="l" marL="539748" indent="-269874" lvl="1">
                        <a:lnSpc>
                          <a:spcPts val="3499"/>
                        </a:lnSpc>
                        <a:buFont typeface="Arial"/>
                        <a:buChar char="•"/>
                      </a:pPr>
                      <a:r>
                        <a:rPr lang="en-US" sz="2499">
                          <a:solidFill>
                            <a:srgbClr val="2C2C2C"/>
                          </a:solidFill>
                          <a:latin typeface="Muli Bold"/>
                          <a:ea typeface="Muli Bold"/>
                          <a:cs typeface="Muli Bold"/>
                          <a:sym typeface="Muli Bold"/>
                        </a:rPr>
                        <a:t>Phát biểu phạm vi</a:t>
                      </a:r>
                    </a:p>
                    <a:p>
                      <a:pPr algn="l" marL="539748" indent="-269874" lvl="1">
                        <a:lnSpc>
                          <a:spcPts val="3499"/>
                        </a:lnSpc>
                        <a:buFont typeface="Arial"/>
                        <a:buChar char="•"/>
                      </a:pPr>
                      <a:r>
                        <a:rPr lang="en-US" sz="2499">
                          <a:solidFill>
                            <a:srgbClr val="2C2C2C"/>
                          </a:solidFill>
                          <a:latin typeface="Muli Bold"/>
                          <a:ea typeface="Muli Bold"/>
                          <a:cs typeface="Muli Bold"/>
                          <a:sym typeface="Muli Bold"/>
                        </a:rPr>
                        <a:t>Bảng kế hoạch ban đầu</a:t>
                      </a:r>
                    </a:p>
                    <a:p>
                      <a:pPr algn="l" marL="539748" indent="-269874" lvl="1">
                        <a:lnSpc>
                          <a:spcPts val="3499"/>
                        </a:lnSpc>
                        <a:buFont typeface="Arial"/>
                        <a:buChar char="•"/>
                      </a:pPr>
                      <a:r>
                        <a:rPr lang="en-US" sz="2499">
                          <a:solidFill>
                            <a:srgbClr val="2C2C2C"/>
                          </a:solidFill>
                          <a:latin typeface="Muli Bold"/>
                          <a:ea typeface="Muli Bold"/>
                          <a:cs typeface="Muli Bold"/>
                          <a:sym typeface="Muli Bold"/>
                        </a:rPr>
                        <a:t>Tài liệu phân phối các bên liên quan và nhân sự</a:t>
                      </a:r>
                    </a:p>
                    <a:p>
                      <a:pPr algn="l" marL="539748" indent="-269874" lvl="1">
                        <a:lnSpc>
                          <a:spcPts val="3499"/>
                        </a:lnSpc>
                        <a:buFont typeface="Arial"/>
                        <a:buChar char="•"/>
                      </a:pPr>
                      <a:r>
                        <a:rPr lang="en-US" sz="2499">
                          <a:solidFill>
                            <a:srgbClr val="2C2C2C"/>
                          </a:solidFill>
                          <a:latin typeface="Muli Bold"/>
                          <a:ea typeface="Muli Bold"/>
                          <a:cs typeface="Muli Bold"/>
                          <a:sym typeface="Muli Bold"/>
                        </a:rPr>
                        <a:t>Chi phí dự án</a:t>
                      </a:r>
                    </a:p>
                    <a:p>
                      <a:pPr algn="l" marL="539748" indent="-269874" lvl="1">
                        <a:lnSpc>
                          <a:spcPts val="3499"/>
                        </a:lnSpc>
                        <a:buFont typeface="Arial"/>
                        <a:buChar char="•"/>
                      </a:pPr>
                      <a:r>
                        <a:rPr lang="en-US" sz="2499">
                          <a:solidFill>
                            <a:srgbClr val="2C2C2C"/>
                          </a:solidFill>
                          <a:latin typeface="Muli Bold"/>
                          <a:ea typeface="Muli Bold"/>
                          <a:cs typeface="Muli Bold"/>
                          <a:sym typeface="Muli Bold"/>
                        </a:rPr>
                        <a:t>Danh sách rủi ro và giải pháp</a:t>
                      </a:r>
                    </a:p>
                  </a:txBody>
                  <a:tcPr marL="0" marR="0" marT="0" marB="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539748" indent="-269874" lvl="1">
                        <a:lnSpc>
                          <a:spcPts val="349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499">
                          <a:solidFill>
                            <a:srgbClr val="2C2C2C"/>
                          </a:solidFill>
                          <a:latin typeface="Muli Bold"/>
                          <a:ea typeface="Muli Bold"/>
                          <a:cs typeface="Muli Bold"/>
                          <a:sym typeface="Muli Bold"/>
                        </a:rPr>
                        <a:t>Xác định rõ khoảng thời gian thực hiện toàn bộ dự án để lập ra thời gian biểu cho từng kế hoạch được phân rã.</a:t>
                      </a:r>
                      <a:endParaRPr lang="en-US" sz="1100"/>
                    </a:p>
                    <a:p>
                      <a:pPr algn="l" marL="539748" indent="-269874" lvl="1">
                        <a:lnSpc>
                          <a:spcPts val="3499"/>
                        </a:lnSpc>
                        <a:buFont typeface="Arial"/>
                        <a:buChar char="•"/>
                      </a:pPr>
                      <a:r>
                        <a:rPr lang="en-US" sz="2499">
                          <a:solidFill>
                            <a:srgbClr val="2C2C2C"/>
                          </a:solidFill>
                          <a:latin typeface="Muli Bold"/>
                          <a:ea typeface="Muli Bold"/>
                          <a:cs typeface="Muli Bold"/>
                          <a:sym typeface="Muli Bold"/>
                        </a:rPr>
                        <a:t>Xác định phạm vi dự án</a:t>
                      </a:r>
                    </a:p>
                    <a:p>
                      <a:pPr algn="l" marL="539748" indent="-269874" lvl="1">
                        <a:lnSpc>
                          <a:spcPts val="3499"/>
                        </a:lnSpc>
                        <a:buFont typeface="Arial"/>
                        <a:buChar char="•"/>
                      </a:pPr>
                      <a:r>
                        <a:rPr lang="en-US" sz="2499">
                          <a:solidFill>
                            <a:srgbClr val="2C2C2C"/>
                          </a:solidFill>
                          <a:latin typeface="Muli Bold"/>
                          <a:ea typeface="Muli Bold"/>
                          <a:cs typeface="Muli Bold"/>
                          <a:sym typeface="Muli Bold"/>
                        </a:rPr>
                        <a:t>Xác đinh mục tiêu và tiêu chí thành công của dự án.</a:t>
                      </a:r>
                    </a:p>
                    <a:p>
                      <a:pPr algn="l" marL="539748" indent="-269874" lvl="1">
                        <a:lnSpc>
                          <a:spcPts val="3499"/>
                        </a:lnSpc>
                        <a:buFont typeface="Arial"/>
                        <a:buChar char="•"/>
                      </a:pPr>
                      <a:r>
                        <a:rPr lang="en-US" sz="2499">
                          <a:solidFill>
                            <a:srgbClr val="2C2C2C"/>
                          </a:solidFill>
                          <a:latin typeface="Muli Bold"/>
                          <a:ea typeface="Muli Bold"/>
                          <a:cs typeface="Muli Bold"/>
                          <a:sym typeface="Muli Bold"/>
                        </a:rPr>
                        <a:t>Xác định số lượng nhân sự và vai trò.</a:t>
                      </a:r>
                    </a:p>
                    <a:p>
                      <a:pPr algn="l" marL="539748" indent="-269874" lvl="1">
                        <a:lnSpc>
                          <a:spcPts val="3499"/>
                        </a:lnSpc>
                        <a:buFont typeface="Arial"/>
                        <a:buChar char="•"/>
                      </a:pPr>
                      <a:r>
                        <a:rPr lang="en-US" sz="2499">
                          <a:solidFill>
                            <a:srgbClr val="2C2C2C"/>
                          </a:solidFill>
                          <a:latin typeface="Muli Bold"/>
                          <a:ea typeface="Muli Bold"/>
                          <a:cs typeface="Muli Bold"/>
                          <a:sym typeface="Muli Bold"/>
                        </a:rPr>
                        <a:t>Xác định các rủi ro và xác định hướng giải quyết những rủi ro trong quá trình phát triển dự án.</a:t>
                      </a:r>
                    </a:p>
                  </a:txBody>
                  <a:tcPr marL="0" marR="0" marT="0" marB="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EDF0F2">
                            <a:alpha val="100000"/>
                          </a:srgbClr>
                        </a:gs>
                        <a:gs pos="100000">
                          <a:srgbClr val="98BDFD">
                            <a:alpha val="76500"/>
                          </a:srgbClr>
                        </a:gs>
                      </a:gsLst>
                      <a:lin ang="0"/>
                    </a:gra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202667"/>
            <a:ext cx="12247218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200"/>
              </a:lnSpc>
              <a:spcBef>
                <a:spcPct val="0"/>
              </a:spcBef>
            </a:pPr>
            <a:r>
              <a:rPr lang="en-US" sz="8500">
                <a:solidFill>
                  <a:srgbClr val="2C2C2C"/>
                </a:solidFill>
                <a:latin typeface="Muli Black"/>
                <a:ea typeface="Muli Black"/>
                <a:cs typeface="Muli Black"/>
                <a:sym typeface="Muli Black"/>
              </a:rPr>
              <a:t>Các giai đoạn làm việc</a:t>
            </a:r>
          </a:p>
        </p:txBody>
      </p:sp>
      <p:sp>
        <p:nvSpPr>
          <p:cNvPr name="AutoShape 3" id="3"/>
          <p:cNvSpPr/>
          <p:nvPr/>
        </p:nvSpPr>
        <p:spPr>
          <a:xfrm rot="0">
            <a:off x="-408731" y="1193142"/>
            <a:ext cx="18875389" cy="0"/>
          </a:xfrm>
          <a:prstGeom prst="line">
            <a:avLst/>
          </a:prstGeom>
          <a:ln cap="flat" w="9525">
            <a:solidFill>
              <a:srgbClr val="2C2C2C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3275918" y="1202667"/>
            <a:ext cx="703736" cy="774109"/>
          </a:xfrm>
          <a:custGeom>
            <a:avLst/>
            <a:gdLst/>
            <a:ahLst/>
            <a:cxnLst/>
            <a:rect r="r" b="b" t="t" l="l"/>
            <a:pathLst>
              <a:path h="774109" w="703736">
                <a:moveTo>
                  <a:pt x="0" y="0"/>
                </a:moveTo>
                <a:lnTo>
                  <a:pt x="703736" y="0"/>
                </a:lnTo>
                <a:lnTo>
                  <a:pt x="703736" y="774110"/>
                </a:lnTo>
                <a:lnTo>
                  <a:pt x="0" y="7741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996204" y="3043664"/>
            <a:ext cx="3655308" cy="555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0"/>
              </a:lnSpc>
            </a:pPr>
            <a:r>
              <a:rPr lang="en-US" b="true" sz="3500" u="sng">
                <a:solidFill>
                  <a:srgbClr val="2C2C2C"/>
                </a:solidFill>
                <a:latin typeface="Muli Regular Bold"/>
                <a:ea typeface="Muli Regular Bold"/>
                <a:cs typeface="Muli Regular Bold"/>
                <a:sym typeface="Muli Regular Bold"/>
              </a:rPr>
              <a:t>Thiết kế hệ thống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028700" y="2968858"/>
            <a:ext cx="704460" cy="733812"/>
          </a:xfrm>
          <a:custGeom>
            <a:avLst/>
            <a:gdLst/>
            <a:ahLst/>
            <a:cxnLst/>
            <a:rect r="r" b="b" t="t" l="l"/>
            <a:pathLst>
              <a:path h="733812" w="704460">
                <a:moveTo>
                  <a:pt x="0" y="0"/>
                </a:moveTo>
                <a:lnTo>
                  <a:pt x="704460" y="0"/>
                </a:lnTo>
                <a:lnTo>
                  <a:pt x="704460" y="733812"/>
                </a:lnTo>
                <a:lnTo>
                  <a:pt x="0" y="7338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117839" y="3043664"/>
            <a:ext cx="526182" cy="555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50"/>
              </a:lnSpc>
            </a:pPr>
            <a:r>
              <a:rPr lang="en-US" sz="3500">
                <a:solidFill>
                  <a:srgbClr val="2C2C2C"/>
                </a:solidFill>
                <a:latin typeface="Muli Regular"/>
                <a:ea typeface="Muli Regular"/>
                <a:cs typeface="Muli Regular"/>
                <a:sym typeface="Muli Regular"/>
              </a:rPr>
              <a:t>1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2055901" y="2968858"/>
            <a:ext cx="704460" cy="733812"/>
          </a:xfrm>
          <a:custGeom>
            <a:avLst/>
            <a:gdLst/>
            <a:ahLst/>
            <a:cxnLst/>
            <a:rect r="r" b="b" t="t" l="l"/>
            <a:pathLst>
              <a:path h="733812" w="704460">
                <a:moveTo>
                  <a:pt x="0" y="0"/>
                </a:moveTo>
                <a:lnTo>
                  <a:pt x="704459" y="0"/>
                </a:lnTo>
                <a:lnTo>
                  <a:pt x="704459" y="733812"/>
                </a:lnTo>
                <a:lnTo>
                  <a:pt x="0" y="73381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145039" y="3043664"/>
            <a:ext cx="526182" cy="555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50"/>
              </a:lnSpc>
            </a:pPr>
            <a:r>
              <a:rPr lang="en-US" sz="3500">
                <a:solidFill>
                  <a:srgbClr val="2C2C2C"/>
                </a:solidFill>
                <a:latin typeface="Muli Regular"/>
                <a:ea typeface="Muli Regular"/>
                <a:cs typeface="Muli Regular"/>
                <a:sym typeface="Muli Regular"/>
              </a:rPr>
              <a:t>2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3084210" y="2968858"/>
            <a:ext cx="704460" cy="733812"/>
          </a:xfrm>
          <a:custGeom>
            <a:avLst/>
            <a:gdLst/>
            <a:ahLst/>
            <a:cxnLst/>
            <a:rect r="r" b="b" t="t" l="l"/>
            <a:pathLst>
              <a:path h="733812" w="704460">
                <a:moveTo>
                  <a:pt x="0" y="0"/>
                </a:moveTo>
                <a:lnTo>
                  <a:pt x="704460" y="0"/>
                </a:lnTo>
                <a:lnTo>
                  <a:pt x="704460" y="733812"/>
                </a:lnTo>
                <a:lnTo>
                  <a:pt x="0" y="73381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975362" y="3019213"/>
            <a:ext cx="704460" cy="733812"/>
          </a:xfrm>
          <a:custGeom>
            <a:avLst/>
            <a:gdLst/>
            <a:ahLst/>
            <a:cxnLst/>
            <a:rect r="r" b="b" t="t" l="l"/>
            <a:pathLst>
              <a:path h="733812" w="704460">
                <a:moveTo>
                  <a:pt x="0" y="0"/>
                </a:moveTo>
                <a:lnTo>
                  <a:pt x="704459" y="0"/>
                </a:lnTo>
                <a:lnTo>
                  <a:pt x="704459" y="733812"/>
                </a:lnTo>
                <a:lnTo>
                  <a:pt x="0" y="73381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003671" y="3019213"/>
            <a:ext cx="704460" cy="733812"/>
          </a:xfrm>
          <a:custGeom>
            <a:avLst/>
            <a:gdLst/>
            <a:ahLst/>
            <a:cxnLst/>
            <a:rect r="r" b="b" t="t" l="l"/>
            <a:pathLst>
              <a:path h="733812" w="704460">
                <a:moveTo>
                  <a:pt x="0" y="0"/>
                </a:moveTo>
                <a:lnTo>
                  <a:pt x="704460" y="0"/>
                </a:lnTo>
                <a:lnTo>
                  <a:pt x="704460" y="733812"/>
                </a:lnTo>
                <a:lnTo>
                  <a:pt x="0" y="73381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031981" y="3019213"/>
            <a:ext cx="704460" cy="733812"/>
          </a:xfrm>
          <a:custGeom>
            <a:avLst/>
            <a:gdLst/>
            <a:ahLst/>
            <a:cxnLst/>
            <a:rect r="r" b="b" t="t" l="l"/>
            <a:pathLst>
              <a:path h="733812" w="704460">
                <a:moveTo>
                  <a:pt x="0" y="0"/>
                </a:moveTo>
                <a:lnTo>
                  <a:pt x="704460" y="0"/>
                </a:lnTo>
                <a:lnTo>
                  <a:pt x="704460" y="733812"/>
                </a:lnTo>
                <a:lnTo>
                  <a:pt x="0" y="73381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1060291" y="3019213"/>
            <a:ext cx="704460" cy="733812"/>
          </a:xfrm>
          <a:custGeom>
            <a:avLst/>
            <a:gdLst/>
            <a:ahLst/>
            <a:cxnLst/>
            <a:rect r="r" b="b" t="t" l="l"/>
            <a:pathLst>
              <a:path h="733812" w="704460">
                <a:moveTo>
                  <a:pt x="0" y="0"/>
                </a:moveTo>
                <a:lnTo>
                  <a:pt x="704459" y="0"/>
                </a:lnTo>
                <a:lnTo>
                  <a:pt x="704459" y="733812"/>
                </a:lnTo>
                <a:lnTo>
                  <a:pt x="0" y="733812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3173349" y="3043664"/>
            <a:ext cx="526182" cy="555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50"/>
              </a:lnSpc>
            </a:pPr>
            <a:r>
              <a:rPr lang="en-US" sz="3500">
                <a:solidFill>
                  <a:srgbClr val="2C2C2C"/>
                </a:solidFill>
                <a:latin typeface="Muli Regular"/>
                <a:ea typeface="Muli Regular"/>
                <a:cs typeface="Muli Regular"/>
                <a:sym typeface="Muli Regular"/>
              </a:rPr>
              <a:t>3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064500" y="3094019"/>
            <a:ext cx="526182" cy="555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50"/>
              </a:lnSpc>
            </a:pPr>
            <a:r>
              <a:rPr lang="en-US" sz="3500">
                <a:solidFill>
                  <a:srgbClr val="2C2C2C"/>
                </a:solidFill>
                <a:latin typeface="Muli Regular"/>
                <a:ea typeface="Muli Regular"/>
                <a:cs typeface="Muli Regular"/>
                <a:sym typeface="Muli Regular"/>
              </a:rPr>
              <a:t>4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092810" y="3094019"/>
            <a:ext cx="526182" cy="555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50"/>
              </a:lnSpc>
            </a:pPr>
            <a:r>
              <a:rPr lang="en-US" sz="3500">
                <a:solidFill>
                  <a:srgbClr val="2C2C2C"/>
                </a:solidFill>
                <a:latin typeface="Muli Regular"/>
                <a:ea typeface="Muli Regular"/>
                <a:cs typeface="Muli Regular"/>
                <a:sym typeface="Muli Regular"/>
              </a:rPr>
              <a:t>5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121120" y="3094019"/>
            <a:ext cx="526182" cy="555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50"/>
              </a:lnSpc>
            </a:pPr>
            <a:r>
              <a:rPr lang="en-US" sz="3500">
                <a:solidFill>
                  <a:srgbClr val="2C2C2C"/>
                </a:solidFill>
                <a:latin typeface="Muli Regular"/>
                <a:ea typeface="Muli Regular"/>
                <a:cs typeface="Muli Regular"/>
                <a:sym typeface="Muli Regular"/>
              </a:rPr>
              <a:t>6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149429" y="3094019"/>
            <a:ext cx="526182" cy="555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50"/>
              </a:lnSpc>
            </a:pPr>
            <a:r>
              <a:rPr lang="en-US" sz="3500">
                <a:solidFill>
                  <a:srgbClr val="2C2C2C"/>
                </a:solidFill>
                <a:latin typeface="Muli Regular"/>
                <a:ea typeface="Muli Regular"/>
                <a:cs typeface="Muli Regular"/>
                <a:sym typeface="Muli Regular"/>
              </a:rPr>
              <a:t>7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028700" y="426762"/>
            <a:ext cx="5438168" cy="349143"/>
            <a:chOff x="0" y="0"/>
            <a:chExt cx="7250891" cy="46552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75907" cy="465525"/>
            </a:xfrm>
            <a:custGeom>
              <a:avLst/>
              <a:gdLst/>
              <a:ahLst/>
              <a:cxnLst/>
              <a:rect r="r" b="b" t="t" l="l"/>
              <a:pathLst>
                <a:path h="465525" w="575907">
                  <a:moveTo>
                    <a:pt x="0" y="0"/>
                  </a:moveTo>
                  <a:lnTo>
                    <a:pt x="575907" y="0"/>
                  </a:lnTo>
                  <a:lnTo>
                    <a:pt x="575907" y="465525"/>
                  </a:lnTo>
                  <a:lnTo>
                    <a:pt x="0" y="4655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0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 rot="0">
              <a:off x="838060" y="51788"/>
              <a:ext cx="6412831" cy="3333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>
                  <a:solidFill>
                    <a:srgbClr val="2C2C2C"/>
                  </a:solidFill>
                  <a:latin typeface="Muli Bold"/>
                  <a:ea typeface="Muli Bold"/>
                  <a:cs typeface="Muli Bold"/>
                  <a:sym typeface="Muli Bold"/>
                </a:rPr>
                <a:t>ĐẠI HỌC CÔNG NGHỆ THÔNG TIN - ĐHQGTPHCM</a:t>
              </a:r>
            </a:p>
          </p:txBody>
        </p:sp>
      </p:grpSp>
      <p:graphicFrame>
        <p:nvGraphicFramePr>
          <p:cNvPr name="Table 23" id="23"/>
          <p:cNvGraphicFramePr>
            <a:graphicFrameLocks noGrp="true"/>
          </p:cNvGraphicFramePr>
          <p:nvPr/>
        </p:nvGraphicFramePr>
        <p:xfrm>
          <a:off x="1028700" y="4274170"/>
          <a:ext cx="16715543" cy="5582666"/>
        </p:xfrm>
        <a:graphic>
          <a:graphicData uri="http://schemas.openxmlformats.org/drawingml/2006/table">
            <a:tbl>
              <a:tblPr/>
              <a:tblGrid>
                <a:gridCol w="5889208"/>
                <a:gridCol w="4507154"/>
                <a:gridCol w="6319181"/>
              </a:tblGrid>
              <a:tr h="11058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2C2C2C"/>
                          </a:solidFill>
                          <a:latin typeface="Muli Black"/>
                          <a:ea typeface="Muli Black"/>
                          <a:cs typeface="Muli Black"/>
                          <a:sym typeface="Muli Black"/>
                        </a:rPr>
                        <a:t>Mục đích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CDFFD8">
                            <a:alpha val="100000"/>
                          </a:srgbClr>
                        </a:gs>
                        <a:gs pos="100000">
                          <a:srgbClr val="94B9FF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2C2C2C"/>
                          </a:solidFill>
                          <a:latin typeface="Muli Black"/>
                          <a:ea typeface="Muli Black"/>
                          <a:cs typeface="Muli Black"/>
                          <a:sym typeface="Muli Black"/>
                        </a:rPr>
                        <a:t>Tài liệu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94B9FF">
                            <a:alpha val="100000"/>
                          </a:srgbClr>
                        </a:gs>
                        <a:gs pos="100000">
                          <a:srgbClr val="CDFFD8">
                            <a:alpha val="100000"/>
                          </a:srgbClr>
                        </a:gs>
                      </a:gsLst>
                      <a:lin ang="210000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2C2C2C"/>
                          </a:solidFill>
                          <a:latin typeface="Muli Black"/>
                          <a:ea typeface="Muli Black"/>
                          <a:cs typeface="Muli Black"/>
                          <a:sym typeface="Muli Black"/>
                        </a:rPr>
                        <a:t>Ghi chú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CDFFD8">
                            <a:alpha val="100000"/>
                          </a:srgbClr>
                        </a:gs>
                        <a:gs pos="100000">
                          <a:srgbClr val="94B9FF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</a:tr>
              <a:tr h="4476841">
                <a:tc>
                  <a:txBody>
                    <a:bodyPr anchor="t" rtlCol="false"/>
                    <a:lstStyle/>
                    <a:p>
                      <a:pPr algn="l" marL="539748" indent="-269874" lvl="1">
                        <a:lnSpc>
                          <a:spcPts val="349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499">
                          <a:solidFill>
                            <a:srgbClr val="2C2C2C"/>
                          </a:solidFill>
                          <a:latin typeface="Muli Bold"/>
                          <a:ea typeface="Muli Bold"/>
                          <a:cs typeface="Muli Bold"/>
                          <a:sym typeface="Muli Bold"/>
                        </a:rPr>
                        <a:t>Xác định tính chất và đặc tả yêu cầu chức năng.</a:t>
                      </a:r>
                      <a:endParaRPr lang="en-US" sz="1100"/>
                    </a:p>
                    <a:p>
                      <a:pPr algn="l" marL="539748" indent="-269874" lvl="1">
                        <a:lnSpc>
                          <a:spcPts val="3499"/>
                        </a:lnSpc>
                        <a:buFont typeface="Arial"/>
                        <a:buChar char="•"/>
                      </a:pPr>
                      <a:r>
                        <a:rPr lang="en-US" sz="2499">
                          <a:solidFill>
                            <a:srgbClr val="2C2C2C"/>
                          </a:solidFill>
                          <a:latin typeface="Muli Bold"/>
                          <a:ea typeface="Muli Bold"/>
                          <a:cs typeface="Muli Bold"/>
                          <a:sym typeface="Muli Bold"/>
                        </a:rPr>
                        <a:t>Vẽ UseCase, Activity, Sequence diagram cho các chức năng.</a:t>
                      </a:r>
                    </a:p>
                    <a:p>
                      <a:pPr algn="l" marL="539748" indent="-269874" lvl="1">
                        <a:lnSpc>
                          <a:spcPts val="3499"/>
                        </a:lnSpc>
                        <a:buFont typeface="Arial"/>
                        <a:buChar char="•"/>
                      </a:pPr>
                      <a:r>
                        <a:rPr lang="en-US" sz="2499">
                          <a:solidFill>
                            <a:srgbClr val="2C2C2C"/>
                          </a:solidFill>
                          <a:latin typeface="Muli Bold"/>
                          <a:ea typeface="Muli Bold"/>
                          <a:cs typeface="Muli Bold"/>
                          <a:sym typeface="Muli Bold"/>
                        </a:rPr>
                        <a:t>Nắm được quá trình phần mềm hệ thống</a:t>
                      </a:r>
                    </a:p>
                    <a:p>
                      <a:pPr algn="l" marL="539748" indent="-269874" lvl="1">
                        <a:lnSpc>
                          <a:spcPts val="3499"/>
                        </a:lnSpc>
                        <a:buFont typeface="Arial"/>
                        <a:buChar char="•"/>
                      </a:pPr>
                      <a:r>
                        <a:rPr lang="en-US" sz="2499">
                          <a:solidFill>
                            <a:srgbClr val="2C2C2C"/>
                          </a:solidFill>
                          <a:latin typeface="Muli Bold"/>
                          <a:ea typeface="Muli Bold"/>
                          <a:cs typeface="Muli Bold"/>
                          <a:sym typeface="Muli Bold"/>
                        </a:rPr>
                        <a:t>Thiết kế cơ sở dữ liệu</a:t>
                      </a:r>
                    </a:p>
                  </a:txBody>
                  <a:tcPr marL="0" marR="0" marT="0" marB="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CBFBDA">
                            <a:alpha val="100000"/>
                          </a:srgbClr>
                        </a:gs>
                        <a:gs pos="100000">
                          <a:srgbClr val="EDF0F2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l" marL="539748" indent="-269874" lvl="1">
                        <a:lnSpc>
                          <a:spcPts val="349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499">
                          <a:solidFill>
                            <a:srgbClr val="2C2C2C"/>
                          </a:solidFill>
                          <a:latin typeface="Muli Bold"/>
                          <a:ea typeface="Muli Bold"/>
                          <a:cs typeface="Muli Bold"/>
                          <a:sym typeface="Muli Bold"/>
                        </a:rPr>
                        <a:t>Tài liệu các yêu cầu về chức năng và phi chức năng.</a:t>
                      </a:r>
                      <a:endParaRPr lang="en-US" sz="1100"/>
                    </a:p>
                    <a:p>
                      <a:pPr algn="l" marL="539748" indent="-269874" lvl="1">
                        <a:lnSpc>
                          <a:spcPts val="3499"/>
                        </a:lnSpc>
                        <a:buFont typeface="Arial"/>
                        <a:buChar char="•"/>
                      </a:pPr>
                      <a:r>
                        <a:rPr lang="en-US" sz="2499">
                          <a:solidFill>
                            <a:srgbClr val="2C2C2C"/>
                          </a:solidFill>
                          <a:latin typeface="Muli Bold"/>
                          <a:ea typeface="Muli Bold"/>
                          <a:cs typeface="Muli Bold"/>
                          <a:sym typeface="Muli Bold"/>
                        </a:rPr>
                        <a:t>Sơ đồ UseCase, Activity, Sequence.</a:t>
                      </a:r>
                    </a:p>
                    <a:p>
                      <a:pPr algn="l" marL="539748" indent="-269874" lvl="1">
                        <a:lnSpc>
                          <a:spcPts val="3499"/>
                        </a:lnSpc>
                        <a:buFont typeface="Arial"/>
                        <a:buChar char="•"/>
                      </a:pPr>
                      <a:r>
                        <a:rPr lang="en-US" sz="2499">
                          <a:solidFill>
                            <a:srgbClr val="2C2C2C"/>
                          </a:solidFill>
                          <a:latin typeface="Muli Bold"/>
                          <a:ea typeface="Muli Bold"/>
                          <a:cs typeface="Muli Bold"/>
                          <a:sym typeface="Muli Bold"/>
                        </a:rPr>
                        <a:t>Mô hình ERD.</a:t>
                      </a:r>
                    </a:p>
                    <a:p>
                      <a:pPr algn="l" marL="539748" indent="-269874" lvl="1">
                        <a:lnSpc>
                          <a:spcPts val="3499"/>
                        </a:lnSpc>
                        <a:buFont typeface="Arial"/>
                        <a:buChar char="•"/>
                      </a:pPr>
                      <a:r>
                        <a:rPr lang="en-US" sz="2499">
                          <a:solidFill>
                            <a:srgbClr val="2C2C2C"/>
                          </a:solidFill>
                          <a:latin typeface="Muli Bold"/>
                          <a:ea typeface="Muli Bold"/>
                          <a:cs typeface="Muli Bold"/>
                          <a:sym typeface="Muli Bold"/>
                        </a:rPr>
                        <a:t>Tài liệu mô hình phát triển phần mềm.</a:t>
                      </a:r>
                    </a:p>
                    <a:p>
                      <a:pPr algn="l" marL="539748" indent="-269874" lvl="1">
                        <a:lnSpc>
                          <a:spcPts val="3499"/>
                        </a:lnSpc>
                        <a:buFont typeface="Arial"/>
                        <a:buChar char="•"/>
                      </a:pPr>
                      <a:r>
                        <a:rPr lang="en-US" sz="2499">
                          <a:solidFill>
                            <a:srgbClr val="2C2C2C"/>
                          </a:solidFill>
                          <a:latin typeface="Muli Bold"/>
                          <a:ea typeface="Muli Bold"/>
                          <a:cs typeface="Muli Bold"/>
                          <a:sym typeface="Muli Bold"/>
                        </a:rPr>
                        <a:t>Cơ sở dữ liệu của hệ thống.</a:t>
                      </a:r>
                    </a:p>
                  </a:txBody>
                  <a:tcPr marL="0" marR="0" marT="0" marB="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539748" indent="-269874" lvl="1">
                        <a:lnSpc>
                          <a:spcPts val="349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499">
                          <a:solidFill>
                            <a:srgbClr val="2C2C2C"/>
                          </a:solidFill>
                          <a:latin typeface="Muli Bold"/>
                          <a:ea typeface="Muli Bold"/>
                          <a:cs typeface="Muli Bold"/>
                          <a:sym typeface="Muli Bold"/>
                        </a:rPr>
                        <a:t>Xác định chi tiết các yêu cầu chức năng và phi chức năng để đảm bảo mức độ yêu cầu của sản phẩm.</a:t>
                      </a:r>
                      <a:endParaRPr lang="en-US" sz="1100"/>
                    </a:p>
                    <a:p>
                      <a:pPr algn="l" marL="539748" indent="-269874" lvl="1">
                        <a:lnSpc>
                          <a:spcPts val="3499"/>
                        </a:lnSpc>
                        <a:buFont typeface="Arial"/>
                        <a:buChar char="•"/>
                      </a:pPr>
                      <a:r>
                        <a:rPr lang="en-US" sz="2499">
                          <a:solidFill>
                            <a:srgbClr val="2C2C2C"/>
                          </a:solidFill>
                          <a:latin typeface="Muli Bold"/>
                          <a:ea typeface="Muli Bold"/>
                          <a:cs typeface="Muli Bold"/>
                          <a:sym typeface="Muli Bold"/>
                        </a:rPr>
                        <a:t>Hình dung hệ thống ở mức tổng thể và hiểu được các chức năng cần có của dự án thực hiện như thế nào.</a:t>
                      </a:r>
                    </a:p>
                    <a:p>
                      <a:pPr algn="l" marL="539748" indent="-269874" lvl="1">
                        <a:lnSpc>
                          <a:spcPts val="3499"/>
                        </a:lnSpc>
                        <a:buFont typeface="Arial"/>
                        <a:buChar char="•"/>
                      </a:pPr>
                      <a:r>
                        <a:rPr lang="en-US" sz="2499">
                          <a:solidFill>
                            <a:srgbClr val="2C2C2C"/>
                          </a:solidFill>
                          <a:latin typeface="Muli Bold"/>
                          <a:ea typeface="Muli Bold"/>
                          <a:cs typeface="Muli Bold"/>
                          <a:sym typeface="Muli Bold"/>
                        </a:rPr>
                        <a:t>Mô hình ERD được thiết kế bằng Microsoft SQL Server.</a:t>
                      </a:r>
                    </a:p>
                  </a:txBody>
                  <a:tcPr marL="0" marR="0" marT="0" marB="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EDF0F2">
                            <a:alpha val="100000"/>
                          </a:srgbClr>
                        </a:gs>
                        <a:gs pos="100000">
                          <a:srgbClr val="98BDFD">
                            <a:alpha val="76500"/>
                          </a:srgbClr>
                        </a:gs>
                      </a:gsLst>
                      <a:lin ang="0"/>
                    </a:gra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202667"/>
            <a:ext cx="12247218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200"/>
              </a:lnSpc>
              <a:spcBef>
                <a:spcPct val="0"/>
              </a:spcBef>
            </a:pPr>
            <a:r>
              <a:rPr lang="en-US" sz="8500">
                <a:solidFill>
                  <a:srgbClr val="2C2C2C"/>
                </a:solidFill>
                <a:latin typeface="Muli Black"/>
                <a:ea typeface="Muli Black"/>
                <a:cs typeface="Muli Black"/>
                <a:sym typeface="Muli Black"/>
              </a:rPr>
              <a:t>Các giai đoạn làm việc</a:t>
            </a:r>
          </a:p>
        </p:txBody>
      </p:sp>
      <p:sp>
        <p:nvSpPr>
          <p:cNvPr name="AutoShape 3" id="3"/>
          <p:cNvSpPr/>
          <p:nvPr/>
        </p:nvSpPr>
        <p:spPr>
          <a:xfrm rot="0">
            <a:off x="-408731" y="1193142"/>
            <a:ext cx="18875389" cy="0"/>
          </a:xfrm>
          <a:prstGeom prst="line">
            <a:avLst/>
          </a:prstGeom>
          <a:ln cap="flat" w="9525">
            <a:solidFill>
              <a:srgbClr val="2C2C2C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3275918" y="1202667"/>
            <a:ext cx="703736" cy="774109"/>
          </a:xfrm>
          <a:custGeom>
            <a:avLst/>
            <a:gdLst/>
            <a:ahLst/>
            <a:cxnLst/>
            <a:rect r="r" b="b" t="t" l="l"/>
            <a:pathLst>
              <a:path h="774109" w="703736">
                <a:moveTo>
                  <a:pt x="0" y="0"/>
                </a:moveTo>
                <a:lnTo>
                  <a:pt x="703736" y="0"/>
                </a:lnTo>
                <a:lnTo>
                  <a:pt x="703736" y="774110"/>
                </a:lnTo>
                <a:lnTo>
                  <a:pt x="0" y="7741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082672" y="3043664"/>
            <a:ext cx="4061328" cy="555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0"/>
              </a:lnSpc>
            </a:pPr>
            <a:r>
              <a:rPr lang="en-US" b="true" sz="3500" u="sng">
                <a:solidFill>
                  <a:srgbClr val="2C2C2C"/>
                </a:solidFill>
                <a:latin typeface="Muli Regular Bold"/>
                <a:ea typeface="Muli Regular Bold"/>
                <a:cs typeface="Muli Regular Bold"/>
                <a:sym typeface="Muli Regular Bold"/>
              </a:rPr>
              <a:t>Xây dựng hệ thống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028700" y="2968858"/>
            <a:ext cx="704460" cy="733812"/>
          </a:xfrm>
          <a:custGeom>
            <a:avLst/>
            <a:gdLst/>
            <a:ahLst/>
            <a:cxnLst/>
            <a:rect r="r" b="b" t="t" l="l"/>
            <a:pathLst>
              <a:path h="733812" w="704460">
                <a:moveTo>
                  <a:pt x="0" y="0"/>
                </a:moveTo>
                <a:lnTo>
                  <a:pt x="704460" y="0"/>
                </a:lnTo>
                <a:lnTo>
                  <a:pt x="704460" y="733812"/>
                </a:lnTo>
                <a:lnTo>
                  <a:pt x="0" y="7338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117839" y="3043664"/>
            <a:ext cx="526182" cy="555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50"/>
              </a:lnSpc>
            </a:pPr>
            <a:r>
              <a:rPr lang="en-US" sz="3500">
                <a:solidFill>
                  <a:srgbClr val="2C2C2C"/>
                </a:solidFill>
                <a:latin typeface="Muli Regular"/>
                <a:ea typeface="Muli Regular"/>
                <a:cs typeface="Muli Regular"/>
                <a:sym typeface="Muli Regular"/>
              </a:rPr>
              <a:t>1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2055901" y="2968858"/>
            <a:ext cx="704460" cy="733812"/>
          </a:xfrm>
          <a:custGeom>
            <a:avLst/>
            <a:gdLst/>
            <a:ahLst/>
            <a:cxnLst/>
            <a:rect r="r" b="b" t="t" l="l"/>
            <a:pathLst>
              <a:path h="733812" w="704460">
                <a:moveTo>
                  <a:pt x="0" y="0"/>
                </a:moveTo>
                <a:lnTo>
                  <a:pt x="704459" y="0"/>
                </a:lnTo>
                <a:lnTo>
                  <a:pt x="704459" y="733812"/>
                </a:lnTo>
                <a:lnTo>
                  <a:pt x="0" y="73381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145039" y="3043664"/>
            <a:ext cx="526182" cy="555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50"/>
              </a:lnSpc>
            </a:pPr>
            <a:r>
              <a:rPr lang="en-US" sz="3500">
                <a:solidFill>
                  <a:srgbClr val="2C2C2C"/>
                </a:solidFill>
                <a:latin typeface="Muli Regular"/>
                <a:ea typeface="Muli Regular"/>
                <a:cs typeface="Muli Regular"/>
                <a:sym typeface="Muli Regular"/>
              </a:rPr>
              <a:t>2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3084210" y="2968858"/>
            <a:ext cx="704460" cy="733812"/>
          </a:xfrm>
          <a:custGeom>
            <a:avLst/>
            <a:gdLst/>
            <a:ahLst/>
            <a:cxnLst/>
            <a:rect r="r" b="b" t="t" l="l"/>
            <a:pathLst>
              <a:path h="733812" w="704460">
                <a:moveTo>
                  <a:pt x="0" y="0"/>
                </a:moveTo>
                <a:lnTo>
                  <a:pt x="704460" y="0"/>
                </a:lnTo>
                <a:lnTo>
                  <a:pt x="704460" y="733812"/>
                </a:lnTo>
                <a:lnTo>
                  <a:pt x="0" y="73381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112520" y="2968858"/>
            <a:ext cx="704460" cy="733812"/>
          </a:xfrm>
          <a:custGeom>
            <a:avLst/>
            <a:gdLst/>
            <a:ahLst/>
            <a:cxnLst/>
            <a:rect r="r" b="b" t="t" l="l"/>
            <a:pathLst>
              <a:path h="733812" w="704460">
                <a:moveTo>
                  <a:pt x="0" y="0"/>
                </a:moveTo>
                <a:lnTo>
                  <a:pt x="704460" y="0"/>
                </a:lnTo>
                <a:lnTo>
                  <a:pt x="704460" y="733812"/>
                </a:lnTo>
                <a:lnTo>
                  <a:pt x="0" y="73381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295664" y="3019213"/>
            <a:ext cx="704460" cy="733812"/>
          </a:xfrm>
          <a:custGeom>
            <a:avLst/>
            <a:gdLst/>
            <a:ahLst/>
            <a:cxnLst/>
            <a:rect r="r" b="b" t="t" l="l"/>
            <a:pathLst>
              <a:path h="733812" w="704460">
                <a:moveTo>
                  <a:pt x="0" y="0"/>
                </a:moveTo>
                <a:lnTo>
                  <a:pt x="704459" y="0"/>
                </a:lnTo>
                <a:lnTo>
                  <a:pt x="704459" y="733812"/>
                </a:lnTo>
                <a:lnTo>
                  <a:pt x="0" y="73381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323973" y="3019213"/>
            <a:ext cx="704460" cy="733812"/>
          </a:xfrm>
          <a:custGeom>
            <a:avLst/>
            <a:gdLst/>
            <a:ahLst/>
            <a:cxnLst/>
            <a:rect r="r" b="b" t="t" l="l"/>
            <a:pathLst>
              <a:path h="733812" w="704460">
                <a:moveTo>
                  <a:pt x="0" y="0"/>
                </a:moveTo>
                <a:lnTo>
                  <a:pt x="704460" y="0"/>
                </a:lnTo>
                <a:lnTo>
                  <a:pt x="704460" y="733812"/>
                </a:lnTo>
                <a:lnTo>
                  <a:pt x="0" y="73381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1352283" y="3019213"/>
            <a:ext cx="704460" cy="733812"/>
          </a:xfrm>
          <a:custGeom>
            <a:avLst/>
            <a:gdLst/>
            <a:ahLst/>
            <a:cxnLst/>
            <a:rect r="r" b="b" t="t" l="l"/>
            <a:pathLst>
              <a:path h="733812" w="704460">
                <a:moveTo>
                  <a:pt x="0" y="0"/>
                </a:moveTo>
                <a:lnTo>
                  <a:pt x="704460" y="0"/>
                </a:lnTo>
                <a:lnTo>
                  <a:pt x="704460" y="733812"/>
                </a:lnTo>
                <a:lnTo>
                  <a:pt x="0" y="733812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3173349" y="3043664"/>
            <a:ext cx="526182" cy="555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50"/>
              </a:lnSpc>
            </a:pPr>
            <a:r>
              <a:rPr lang="en-US" sz="3500">
                <a:solidFill>
                  <a:srgbClr val="2C2C2C"/>
                </a:solidFill>
                <a:latin typeface="Muli Regular"/>
                <a:ea typeface="Muli Regular"/>
                <a:cs typeface="Muli Regular"/>
                <a:sym typeface="Muli Regular"/>
              </a:rPr>
              <a:t>3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201659" y="3043664"/>
            <a:ext cx="526182" cy="555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50"/>
              </a:lnSpc>
            </a:pPr>
            <a:r>
              <a:rPr lang="en-US" sz="3500">
                <a:solidFill>
                  <a:srgbClr val="2C2C2C"/>
                </a:solidFill>
                <a:latin typeface="Muli Regular"/>
                <a:ea typeface="Muli Regular"/>
                <a:cs typeface="Muli Regular"/>
                <a:sym typeface="Muli Regular"/>
              </a:rPr>
              <a:t>4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384802" y="3094019"/>
            <a:ext cx="526182" cy="555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50"/>
              </a:lnSpc>
            </a:pPr>
            <a:r>
              <a:rPr lang="en-US" sz="3500">
                <a:solidFill>
                  <a:srgbClr val="2C2C2C"/>
                </a:solidFill>
                <a:latin typeface="Muli Regular"/>
                <a:ea typeface="Muli Regular"/>
                <a:cs typeface="Muli Regular"/>
                <a:sym typeface="Muli Regular"/>
              </a:rPr>
              <a:t>5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413112" y="3094019"/>
            <a:ext cx="526182" cy="555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50"/>
              </a:lnSpc>
            </a:pPr>
            <a:r>
              <a:rPr lang="en-US" sz="3500">
                <a:solidFill>
                  <a:srgbClr val="2C2C2C"/>
                </a:solidFill>
                <a:latin typeface="Muli Regular"/>
                <a:ea typeface="Muli Regular"/>
                <a:cs typeface="Muli Regular"/>
                <a:sym typeface="Muli Regular"/>
              </a:rPr>
              <a:t>6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441422" y="3094019"/>
            <a:ext cx="526182" cy="555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50"/>
              </a:lnSpc>
            </a:pPr>
            <a:r>
              <a:rPr lang="en-US" sz="3500">
                <a:solidFill>
                  <a:srgbClr val="2C2C2C"/>
                </a:solidFill>
                <a:latin typeface="Muli Regular"/>
                <a:ea typeface="Muli Regular"/>
                <a:cs typeface="Muli Regular"/>
                <a:sym typeface="Muli Regular"/>
              </a:rPr>
              <a:t>7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028700" y="426762"/>
            <a:ext cx="5438168" cy="349143"/>
            <a:chOff x="0" y="0"/>
            <a:chExt cx="7250891" cy="46552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75907" cy="465525"/>
            </a:xfrm>
            <a:custGeom>
              <a:avLst/>
              <a:gdLst/>
              <a:ahLst/>
              <a:cxnLst/>
              <a:rect r="r" b="b" t="t" l="l"/>
              <a:pathLst>
                <a:path h="465525" w="575907">
                  <a:moveTo>
                    <a:pt x="0" y="0"/>
                  </a:moveTo>
                  <a:lnTo>
                    <a:pt x="575907" y="0"/>
                  </a:lnTo>
                  <a:lnTo>
                    <a:pt x="575907" y="465525"/>
                  </a:lnTo>
                  <a:lnTo>
                    <a:pt x="0" y="4655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0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 rot="0">
              <a:off x="838060" y="51788"/>
              <a:ext cx="6412831" cy="3333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>
                  <a:solidFill>
                    <a:srgbClr val="2C2C2C"/>
                  </a:solidFill>
                  <a:latin typeface="Muli Bold"/>
                  <a:ea typeface="Muli Bold"/>
                  <a:cs typeface="Muli Bold"/>
                  <a:sym typeface="Muli Bold"/>
                </a:rPr>
                <a:t>ĐẠI HỌC CÔNG NGHỆ THÔNG TIN - ĐHQGTPHCM</a:t>
              </a:r>
            </a:p>
          </p:txBody>
        </p:sp>
      </p:grpSp>
      <p:graphicFrame>
        <p:nvGraphicFramePr>
          <p:cNvPr name="Table 23" id="23"/>
          <p:cNvGraphicFramePr>
            <a:graphicFrameLocks noGrp="true"/>
          </p:cNvGraphicFramePr>
          <p:nvPr/>
        </p:nvGraphicFramePr>
        <p:xfrm>
          <a:off x="1028700" y="4274170"/>
          <a:ext cx="16715543" cy="4706366"/>
        </p:xfrm>
        <a:graphic>
          <a:graphicData uri="http://schemas.openxmlformats.org/drawingml/2006/table">
            <a:tbl>
              <a:tblPr/>
              <a:tblGrid>
                <a:gridCol w="5889208"/>
                <a:gridCol w="4507154"/>
                <a:gridCol w="6319181"/>
              </a:tblGrid>
              <a:tr h="110759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2C2C2C"/>
                          </a:solidFill>
                          <a:latin typeface="Muli Black"/>
                          <a:ea typeface="Muli Black"/>
                          <a:cs typeface="Muli Black"/>
                          <a:sym typeface="Muli Black"/>
                        </a:rPr>
                        <a:t>Mục đích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CDFFD8">
                            <a:alpha val="100000"/>
                          </a:srgbClr>
                        </a:gs>
                        <a:gs pos="100000">
                          <a:srgbClr val="94B9FF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2C2C2C"/>
                          </a:solidFill>
                          <a:latin typeface="Muli Black"/>
                          <a:ea typeface="Muli Black"/>
                          <a:cs typeface="Muli Black"/>
                          <a:sym typeface="Muli Black"/>
                        </a:rPr>
                        <a:t>Tài liệu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94B9FF">
                            <a:alpha val="100000"/>
                          </a:srgbClr>
                        </a:gs>
                        <a:gs pos="100000">
                          <a:srgbClr val="CDFFD8">
                            <a:alpha val="100000"/>
                          </a:srgbClr>
                        </a:gs>
                      </a:gsLst>
                      <a:lin ang="210000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2C2C2C"/>
                          </a:solidFill>
                          <a:latin typeface="Muli Black"/>
                          <a:ea typeface="Muli Black"/>
                          <a:cs typeface="Muli Black"/>
                          <a:sym typeface="Muli Black"/>
                        </a:rPr>
                        <a:t>Ghi chú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CDFFD8">
                            <a:alpha val="100000"/>
                          </a:srgbClr>
                        </a:gs>
                        <a:gs pos="100000">
                          <a:srgbClr val="94B9FF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</a:tr>
              <a:tr h="3598767">
                <a:tc>
                  <a:txBody>
                    <a:bodyPr anchor="t" rtlCol="false"/>
                    <a:lstStyle/>
                    <a:p>
                      <a:pPr algn="l" marL="539748" indent="-269874" lvl="1">
                        <a:lnSpc>
                          <a:spcPts val="349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499">
                          <a:solidFill>
                            <a:srgbClr val="2C2C2C"/>
                          </a:solidFill>
                          <a:latin typeface="Muli Bold"/>
                          <a:ea typeface="Muli Bold"/>
                          <a:cs typeface="Muli Bold"/>
                          <a:sym typeface="Muli Bold"/>
                        </a:rPr>
                        <a:t>Xây dựng giao diện người dùng.</a:t>
                      </a:r>
                      <a:endParaRPr lang="en-US" sz="1100"/>
                    </a:p>
                    <a:p>
                      <a:pPr algn="l" marL="539748" indent="-269874" lvl="1">
                        <a:lnSpc>
                          <a:spcPts val="3499"/>
                        </a:lnSpc>
                        <a:buFont typeface="Arial"/>
                        <a:buChar char="•"/>
                      </a:pPr>
                      <a:r>
                        <a:rPr lang="en-US" sz="2499">
                          <a:solidFill>
                            <a:srgbClr val="2C2C2C"/>
                          </a:solidFill>
                          <a:latin typeface="Muli Bold"/>
                          <a:ea typeface="Muli Bold"/>
                          <a:cs typeface="Muli Bold"/>
                          <a:sym typeface="Muli Bold"/>
                        </a:rPr>
                        <a:t>Lập trình </a:t>
                      </a:r>
                    </a:p>
                  </a:txBody>
                  <a:tcPr marL="0" marR="0" marT="0" marB="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CBFBDA">
                            <a:alpha val="100000"/>
                          </a:srgbClr>
                        </a:gs>
                        <a:gs pos="100000">
                          <a:srgbClr val="EDF0F2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l" marL="539748" indent="-269874" lvl="1">
                        <a:lnSpc>
                          <a:spcPts val="349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499">
                          <a:solidFill>
                            <a:srgbClr val="2C2C2C"/>
                          </a:solidFill>
                          <a:latin typeface="Muli Bold"/>
                          <a:ea typeface="Muli Bold"/>
                          <a:cs typeface="Muli Bold"/>
                          <a:sym typeface="Muli Bold"/>
                        </a:rPr>
                        <a:t>Source code của giao diện, controller và model.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539748" indent="-269874" lvl="1">
                        <a:lnSpc>
                          <a:spcPts val="349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499">
                          <a:solidFill>
                            <a:srgbClr val="2C2C2C"/>
                          </a:solidFill>
                          <a:latin typeface="Muli Bold"/>
                          <a:ea typeface="Muli Bold"/>
                          <a:cs typeface="Muli Bold"/>
                          <a:sym typeface="Muli Bold"/>
                        </a:rPr>
                        <a:t>Phân tích thiết kế giao diện theo sơ đồ để hiện thị các chức năng cho hệ thống.</a:t>
                      </a:r>
                      <a:endParaRPr lang="en-US" sz="1100"/>
                    </a:p>
                    <a:p>
                      <a:pPr algn="l" marL="539748" indent="-269874" lvl="1">
                        <a:lnSpc>
                          <a:spcPts val="3499"/>
                        </a:lnSpc>
                        <a:buFont typeface="Arial"/>
                        <a:buChar char="•"/>
                      </a:pPr>
                      <a:r>
                        <a:rPr lang="en-US" sz="2499">
                          <a:solidFill>
                            <a:srgbClr val="2C2C2C"/>
                          </a:solidFill>
                          <a:latin typeface="Muli Bold"/>
                          <a:ea typeface="Muli Bold"/>
                          <a:cs typeface="Muli Bold"/>
                          <a:sym typeface="Muli Bold"/>
                        </a:rPr>
                        <a:t>Xây dựng và ráp nối các thành phần của hệ thống.</a:t>
                      </a:r>
                    </a:p>
                    <a:p>
                      <a:pPr algn="l" marL="539748" indent="-269874" lvl="1">
                        <a:lnSpc>
                          <a:spcPts val="3499"/>
                        </a:lnSpc>
                        <a:buFont typeface="Arial"/>
                        <a:buChar char="•"/>
                      </a:pPr>
                      <a:r>
                        <a:rPr lang="en-US" sz="2499">
                          <a:solidFill>
                            <a:srgbClr val="2C2C2C"/>
                          </a:solidFill>
                          <a:latin typeface="Muli Bold"/>
                          <a:ea typeface="Muli Bold"/>
                          <a:cs typeface="Muli Bold"/>
                          <a:sym typeface="Muli Bold"/>
                        </a:rPr>
                        <a:t>Ngôn ngữ </a:t>
                      </a:r>
                      <a:r>
                        <a:rPr lang="en-US" sz="2499">
                          <a:solidFill>
                            <a:srgbClr val="2C2C2C"/>
                          </a:solidFill>
                          <a:latin typeface="Muli Bold"/>
                          <a:ea typeface="Muli Bold"/>
                          <a:cs typeface="Muli Bold"/>
                          <a:sym typeface="Muli Bold"/>
                        </a:rPr>
                        <a:t>Java. ItelliJ IDEA Community, Scene Builder.</a:t>
                      </a:r>
                    </a:p>
                    <a:p>
                      <a:pPr algn="l" marL="539748" indent="-269874" lvl="1">
                        <a:lnSpc>
                          <a:spcPts val="3499"/>
                        </a:lnSpc>
                        <a:buFont typeface="Arial"/>
                        <a:buChar char="•"/>
                      </a:pPr>
                      <a:r>
                        <a:rPr lang="en-US" sz="2499">
                          <a:solidFill>
                            <a:srgbClr val="2C2C2C"/>
                          </a:solidFill>
                          <a:latin typeface="Muli Bold"/>
                          <a:ea typeface="Muli Bold"/>
                          <a:cs typeface="Muli Bold"/>
                          <a:sym typeface="Muli Bold"/>
                        </a:rPr>
                        <a:t>Font chữ: Unicode TCVN 6901:2000</a:t>
                      </a:r>
                    </a:p>
                  </a:txBody>
                  <a:tcPr marL="0" marR="0" marT="0" marB="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EDF0F2">
                            <a:alpha val="100000"/>
                          </a:srgbClr>
                        </a:gs>
                        <a:gs pos="100000">
                          <a:srgbClr val="98BDFD">
                            <a:alpha val="76500"/>
                          </a:srgbClr>
                        </a:gs>
                      </a:gsLst>
                      <a:lin ang="0"/>
                    </a:gra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202667"/>
            <a:ext cx="12247218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200"/>
              </a:lnSpc>
              <a:spcBef>
                <a:spcPct val="0"/>
              </a:spcBef>
            </a:pPr>
            <a:r>
              <a:rPr lang="en-US" sz="8500">
                <a:solidFill>
                  <a:srgbClr val="2C2C2C"/>
                </a:solidFill>
                <a:latin typeface="Muli Black"/>
                <a:ea typeface="Muli Black"/>
                <a:cs typeface="Muli Black"/>
                <a:sym typeface="Muli Black"/>
              </a:rPr>
              <a:t>Các giai đoạn làm việc</a:t>
            </a:r>
          </a:p>
        </p:txBody>
      </p:sp>
      <p:sp>
        <p:nvSpPr>
          <p:cNvPr name="AutoShape 3" id="3"/>
          <p:cNvSpPr/>
          <p:nvPr/>
        </p:nvSpPr>
        <p:spPr>
          <a:xfrm rot="0">
            <a:off x="-408731" y="1193142"/>
            <a:ext cx="18875389" cy="0"/>
          </a:xfrm>
          <a:prstGeom prst="line">
            <a:avLst/>
          </a:prstGeom>
          <a:ln cap="flat" w="9525">
            <a:solidFill>
              <a:srgbClr val="2C2C2C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3275918" y="1202667"/>
            <a:ext cx="703736" cy="774109"/>
          </a:xfrm>
          <a:custGeom>
            <a:avLst/>
            <a:gdLst/>
            <a:ahLst/>
            <a:cxnLst/>
            <a:rect r="r" b="b" t="t" l="l"/>
            <a:pathLst>
              <a:path h="774109" w="703736">
                <a:moveTo>
                  <a:pt x="0" y="0"/>
                </a:moveTo>
                <a:lnTo>
                  <a:pt x="703736" y="0"/>
                </a:lnTo>
                <a:lnTo>
                  <a:pt x="703736" y="774110"/>
                </a:lnTo>
                <a:lnTo>
                  <a:pt x="0" y="7741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054335" y="3094019"/>
            <a:ext cx="3946292" cy="555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0"/>
              </a:lnSpc>
            </a:pPr>
            <a:r>
              <a:rPr lang="en-US" b="true" sz="3500" u="sng">
                <a:solidFill>
                  <a:srgbClr val="2C2C2C"/>
                </a:solidFill>
                <a:latin typeface="Muli Regular Bold"/>
                <a:ea typeface="Muli Regular Bold"/>
                <a:cs typeface="Muli Regular Bold"/>
                <a:sym typeface="Muli Regular Bold"/>
              </a:rPr>
              <a:t>Kiểm thử hệ thống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028700" y="2968858"/>
            <a:ext cx="704460" cy="733812"/>
          </a:xfrm>
          <a:custGeom>
            <a:avLst/>
            <a:gdLst/>
            <a:ahLst/>
            <a:cxnLst/>
            <a:rect r="r" b="b" t="t" l="l"/>
            <a:pathLst>
              <a:path h="733812" w="704460">
                <a:moveTo>
                  <a:pt x="0" y="0"/>
                </a:moveTo>
                <a:lnTo>
                  <a:pt x="704460" y="0"/>
                </a:lnTo>
                <a:lnTo>
                  <a:pt x="704460" y="733812"/>
                </a:lnTo>
                <a:lnTo>
                  <a:pt x="0" y="7338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117839" y="3043664"/>
            <a:ext cx="526182" cy="555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50"/>
              </a:lnSpc>
            </a:pPr>
            <a:r>
              <a:rPr lang="en-US" sz="3500">
                <a:solidFill>
                  <a:srgbClr val="2C2C2C"/>
                </a:solidFill>
                <a:latin typeface="Muli Regular"/>
                <a:ea typeface="Muli Regular"/>
                <a:cs typeface="Muli Regular"/>
                <a:sym typeface="Muli Regular"/>
              </a:rPr>
              <a:t>1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2055901" y="2968858"/>
            <a:ext cx="704460" cy="733812"/>
          </a:xfrm>
          <a:custGeom>
            <a:avLst/>
            <a:gdLst/>
            <a:ahLst/>
            <a:cxnLst/>
            <a:rect r="r" b="b" t="t" l="l"/>
            <a:pathLst>
              <a:path h="733812" w="704460">
                <a:moveTo>
                  <a:pt x="0" y="0"/>
                </a:moveTo>
                <a:lnTo>
                  <a:pt x="704459" y="0"/>
                </a:lnTo>
                <a:lnTo>
                  <a:pt x="704459" y="733812"/>
                </a:lnTo>
                <a:lnTo>
                  <a:pt x="0" y="73381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145039" y="3043664"/>
            <a:ext cx="526182" cy="555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50"/>
              </a:lnSpc>
            </a:pPr>
            <a:r>
              <a:rPr lang="en-US" sz="3500">
                <a:solidFill>
                  <a:srgbClr val="2C2C2C"/>
                </a:solidFill>
                <a:latin typeface="Muli Regular"/>
                <a:ea typeface="Muli Regular"/>
                <a:cs typeface="Muli Regular"/>
                <a:sym typeface="Muli Regular"/>
              </a:rPr>
              <a:t>2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3084210" y="2968858"/>
            <a:ext cx="704460" cy="733812"/>
          </a:xfrm>
          <a:custGeom>
            <a:avLst/>
            <a:gdLst/>
            <a:ahLst/>
            <a:cxnLst/>
            <a:rect r="r" b="b" t="t" l="l"/>
            <a:pathLst>
              <a:path h="733812" w="704460">
                <a:moveTo>
                  <a:pt x="0" y="0"/>
                </a:moveTo>
                <a:lnTo>
                  <a:pt x="704460" y="0"/>
                </a:lnTo>
                <a:lnTo>
                  <a:pt x="704460" y="733812"/>
                </a:lnTo>
                <a:lnTo>
                  <a:pt x="0" y="73381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112520" y="2968858"/>
            <a:ext cx="704460" cy="733812"/>
          </a:xfrm>
          <a:custGeom>
            <a:avLst/>
            <a:gdLst/>
            <a:ahLst/>
            <a:cxnLst/>
            <a:rect r="r" b="b" t="t" l="l"/>
            <a:pathLst>
              <a:path h="733812" w="704460">
                <a:moveTo>
                  <a:pt x="0" y="0"/>
                </a:moveTo>
                <a:lnTo>
                  <a:pt x="704460" y="0"/>
                </a:lnTo>
                <a:lnTo>
                  <a:pt x="704460" y="733812"/>
                </a:lnTo>
                <a:lnTo>
                  <a:pt x="0" y="73381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5140830" y="3019213"/>
            <a:ext cx="704460" cy="733812"/>
          </a:xfrm>
          <a:custGeom>
            <a:avLst/>
            <a:gdLst/>
            <a:ahLst/>
            <a:cxnLst/>
            <a:rect r="r" b="b" t="t" l="l"/>
            <a:pathLst>
              <a:path h="733812" w="704460">
                <a:moveTo>
                  <a:pt x="0" y="0"/>
                </a:moveTo>
                <a:lnTo>
                  <a:pt x="704459" y="0"/>
                </a:lnTo>
                <a:lnTo>
                  <a:pt x="704459" y="733812"/>
                </a:lnTo>
                <a:lnTo>
                  <a:pt x="0" y="73381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209673" y="3019213"/>
            <a:ext cx="704460" cy="733812"/>
          </a:xfrm>
          <a:custGeom>
            <a:avLst/>
            <a:gdLst/>
            <a:ahLst/>
            <a:cxnLst/>
            <a:rect r="r" b="b" t="t" l="l"/>
            <a:pathLst>
              <a:path h="733812" w="704460">
                <a:moveTo>
                  <a:pt x="0" y="0"/>
                </a:moveTo>
                <a:lnTo>
                  <a:pt x="704460" y="0"/>
                </a:lnTo>
                <a:lnTo>
                  <a:pt x="704460" y="733812"/>
                </a:lnTo>
                <a:lnTo>
                  <a:pt x="0" y="73381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1237983" y="3019213"/>
            <a:ext cx="704460" cy="733812"/>
          </a:xfrm>
          <a:custGeom>
            <a:avLst/>
            <a:gdLst/>
            <a:ahLst/>
            <a:cxnLst/>
            <a:rect r="r" b="b" t="t" l="l"/>
            <a:pathLst>
              <a:path h="733812" w="704460">
                <a:moveTo>
                  <a:pt x="0" y="0"/>
                </a:moveTo>
                <a:lnTo>
                  <a:pt x="704460" y="0"/>
                </a:lnTo>
                <a:lnTo>
                  <a:pt x="704460" y="733812"/>
                </a:lnTo>
                <a:lnTo>
                  <a:pt x="0" y="733812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3173349" y="3043664"/>
            <a:ext cx="526182" cy="555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50"/>
              </a:lnSpc>
            </a:pPr>
            <a:r>
              <a:rPr lang="en-US" sz="3500">
                <a:solidFill>
                  <a:srgbClr val="2C2C2C"/>
                </a:solidFill>
                <a:latin typeface="Muli Regular"/>
                <a:ea typeface="Muli Regular"/>
                <a:cs typeface="Muli Regular"/>
                <a:sym typeface="Muli Regular"/>
              </a:rPr>
              <a:t>3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201659" y="3043664"/>
            <a:ext cx="526182" cy="555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50"/>
              </a:lnSpc>
            </a:pPr>
            <a:r>
              <a:rPr lang="en-US" sz="3500">
                <a:solidFill>
                  <a:srgbClr val="2C2C2C"/>
                </a:solidFill>
                <a:latin typeface="Muli Regular"/>
                <a:ea typeface="Muli Regular"/>
                <a:cs typeface="Muli Regular"/>
                <a:sym typeface="Muli Regular"/>
              </a:rPr>
              <a:t>4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229968" y="3094019"/>
            <a:ext cx="526182" cy="555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50"/>
              </a:lnSpc>
            </a:pPr>
            <a:r>
              <a:rPr lang="en-US" sz="3500">
                <a:solidFill>
                  <a:srgbClr val="2C2C2C"/>
                </a:solidFill>
                <a:latin typeface="Muli Regular"/>
                <a:ea typeface="Muli Regular"/>
                <a:cs typeface="Muli Regular"/>
                <a:sym typeface="Muli Regular"/>
              </a:rPr>
              <a:t>5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98812" y="3094019"/>
            <a:ext cx="526182" cy="555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50"/>
              </a:lnSpc>
            </a:pPr>
            <a:r>
              <a:rPr lang="en-US" sz="3500">
                <a:solidFill>
                  <a:srgbClr val="2C2C2C"/>
                </a:solidFill>
                <a:latin typeface="Muli Regular"/>
                <a:ea typeface="Muli Regular"/>
                <a:cs typeface="Muli Regular"/>
                <a:sym typeface="Muli Regular"/>
              </a:rPr>
              <a:t>6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327122" y="3094019"/>
            <a:ext cx="526182" cy="555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50"/>
              </a:lnSpc>
            </a:pPr>
            <a:r>
              <a:rPr lang="en-US" sz="3500">
                <a:solidFill>
                  <a:srgbClr val="2C2C2C"/>
                </a:solidFill>
                <a:latin typeface="Muli Regular"/>
                <a:ea typeface="Muli Regular"/>
                <a:cs typeface="Muli Regular"/>
                <a:sym typeface="Muli Regular"/>
              </a:rPr>
              <a:t>7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028700" y="426762"/>
            <a:ext cx="5438168" cy="349143"/>
            <a:chOff x="0" y="0"/>
            <a:chExt cx="7250891" cy="46552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75907" cy="465525"/>
            </a:xfrm>
            <a:custGeom>
              <a:avLst/>
              <a:gdLst/>
              <a:ahLst/>
              <a:cxnLst/>
              <a:rect r="r" b="b" t="t" l="l"/>
              <a:pathLst>
                <a:path h="465525" w="575907">
                  <a:moveTo>
                    <a:pt x="0" y="0"/>
                  </a:moveTo>
                  <a:lnTo>
                    <a:pt x="575907" y="0"/>
                  </a:lnTo>
                  <a:lnTo>
                    <a:pt x="575907" y="465525"/>
                  </a:lnTo>
                  <a:lnTo>
                    <a:pt x="0" y="4655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0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 rot="0">
              <a:off x="838060" y="51788"/>
              <a:ext cx="6412831" cy="3333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>
                  <a:solidFill>
                    <a:srgbClr val="2C2C2C"/>
                  </a:solidFill>
                  <a:latin typeface="Muli Bold"/>
                  <a:ea typeface="Muli Bold"/>
                  <a:cs typeface="Muli Bold"/>
                  <a:sym typeface="Muli Bold"/>
                </a:rPr>
                <a:t>ĐẠI HỌC CÔNG NGHỆ THÔNG TIN - ĐHQGTPHCM</a:t>
              </a:r>
            </a:p>
          </p:txBody>
        </p:sp>
      </p:grpSp>
      <p:graphicFrame>
        <p:nvGraphicFramePr>
          <p:cNvPr name="Table 23" id="23"/>
          <p:cNvGraphicFramePr>
            <a:graphicFrameLocks noGrp="true"/>
          </p:cNvGraphicFramePr>
          <p:nvPr/>
        </p:nvGraphicFramePr>
        <p:xfrm>
          <a:off x="1028700" y="4274170"/>
          <a:ext cx="16715543" cy="5144516"/>
        </p:xfrm>
        <a:graphic>
          <a:graphicData uri="http://schemas.openxmlformats.org/drawingml/2006/table">
            <a:tbl>
              <a:tblPr/>
              <a:tblGrid>
                <a:gridCol w="5889208"/>
                <a:gridCol w="4507154"/>
                <a:gridCol w="6319181"/>
              </a:tblGrid>
              <a:tr h="110663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2C2C2C"/>
                          </a:solidFill>
                          <a:latin typeface="Muli Black"/>
                          <a:ea typeface="Muli Black"/>
                          <a:cs typeface="Muli Black"/>
                          <a:sym typeface="Muli Black"/>
                        </a:rPr>
                        <a:t>Mục đích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CDFFD8">
                            <a:alpha val="100000"/>
                          </a:srgbClr>
                        </a:gs>
                        <a:gs pos="100000">
                          <a:srgbClr val="94B9FF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2C2C2C"/>
                          </a:solidFill>
                          <a:latin typeface="Muli Black"/>
                          <a:ea typeface="Muli Black"/>
                          <a:cs typeface="Muli Black"/>
                          <a:sym typeface="Muli Black"/>
                        </a:rPr>
                        <a:t>Tài liệu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94B9FF">
                            <a:alpha val="100000"/>
                          </a:srgbClr>
                        </a:gs>
                        <a:gs pos="100000">
                          <a:srgbClr val="CDFFD8">
                            <a:alpha val="100000"/>
                          </a:srgbClr>
                        </a:gs>
                      </a:gsLst>
                      <a:lin ang="210000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2C2C2C"/>
                          </a:solidFill>
                          <a:latin typeface="Muli Black"/>
                          <a:ea typeface="Muli Black"/>
                          <a:cs typeface="Muli Black"/>
                          <a:sym typeface="Muli Black"/>
                        </a:rPr>
                        <a:t>Ghi chú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CDFFD8">
                            <a:alpha val="100000"/>
                          </a:srgbClr>
                        </a:gs>
                        <a:gs pos="100000">
                          <a:srgbClr val="94B9FF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</a:tr>
              <a:tr h="4037880">
                <a:tc>
                  <a:txBody>
                    <a:bodyPr anchor="t" rtlCol="false"/>
                    <a:lstStyle/>
                    <a:p>
                      <a:pPr algn="l" marL="539748" indent="-269874" lvl="1">
                        <a:lnSpc>
                          <a:spcPts val="349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499">
                          <a:solidFill>
                            <a:srgbClr val="2C2C2C"/>
                          </a:solidFill>
                          <a:latin typeface="Muli Bold"/>
                          <a:ea typeface="Muli Bold"/>
                          <a:cs typeface="Muli Bold"/>
                          <a:sym typeface="Muli Bold"/>
                        </a:rPr>
                        <a:t>Kiểm thử đơn vị</a:t>
                      </a:r>
                      <a:endParaRPr lang="en-US" sz="1100"/>
                    </a:p>
                    <a:p>
                      <a:pPr algn="l" marL="539748" indent="-269874" lvl="1">
                        <a:lnSpc>
                          <a:spcPts val="3499"/>
                        </a:lnSpc>
                        <a:buFont typeface="Arial"/>
                        <a:buChar char="•"/>
                      </a:pPr>
                      <a:r>
                        <a:rPr lang="en-US" sz="2499">
                          <a:solidFill>
                            <a:srgbClr val="2C2C2C"/>
                          </a:solidFill>
                          <a:latin typeface="Muli Bold"/>
                          <a:ea typeface="Muli Bold"/>
                          <a:cs typeface="Muli Bold"/>
                          <a:sym typeface="Muli Bold"/>
                        </a:rPr>
                        <a:t>Kiểm thử tích hợp</a:t>
                      </a:r>
                    </a:p>
                    <a:p>
                      <a:pPr algn="l" marL="539748" indent="-269874" lvl="1">
                        <a:lnSpc>
                          <a:spcPts val="3499"/>
                        </a:lnSpc>
                        <a:buFont typeface="Arial"/>
                        <a:buChar char="•"/>
                      </a:pPr>
                      <a:r>
                        <a:rPr lang="en-US" sz="2499">
                          <a:solidFill>
                            <a:srgbClr val="2C2C2C"/>
                          </a:solidFill>
                          <a:latin typeface="Muli Bold"/>
                          <a:ea typeface="Muli Bold"/>
                          <a:cs typeface="Muli Bold"/>
                          <a:sym typeface="Muli Bold"/>
                        </a:rPr>
                        <a:t>Kiểm thử hệ thống</a:t>
                      </a:r>
                    </a:p>
                    <a:p>
                      <a:pPr algn="l" marL="539748" indent="-269874" lvl="1">
                        <a:lnSpc>
                          <a:spcPts val="3499"/>
                        </a:lnSpc>
                        <a:buFont typeface="Arial"/>
                        <a:buChar char="•"/>
                      </a:pPr>
                      <a:r>
                        <a:rPr lang="en-US" sz="2499">
                          <a:solidFill>
                            <a:srgbClr val="2C2C2C"/>
                          </a:solidFill>
                          <a:latin typeface="Muli Bold"/>
                          <a:ea typeface="Muli Bold"/>
                          <a:cs typeface="Muli Bold"/>
                          <a:sym typeface="Muli Bold"/>
                        </a:rPr>
                        <a:t>Kiểm thử chấp nhận</a:t>
                      </a:r>
                    </a:p>
                  </a:txBody>
                  <a:tcPr marL="0" marR="0" marT="0" marB="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CBFBDA">
                            <a:alpha val="100000"/>
                          </a:srgbClr>
                        </a:gs>
                        <a:gs pos="100000">
                          <a:srgbClr val="EDF0F2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l" marL="539748" indent="-269874" lvl="1">
                        <a:lnSpc>
                          <a:spcPts val="349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499">
                          <a:solidFill>
                            <a:srgbClr val="2C2C2C"/>
                          </a:solidFill>
                          <a:latin typeface="Muli Bold"/>
                          <a:ea typeface="Muli Bold"/>
                          <a:cs typeface="Muli Bold"/>
                          <a:sym typeface="Muli Bold"/>
                        </a:rPr>
                        <a:t>Bảng kế hoạch kiểm thử</a:t>
                      </a:r>
                      <a:endParaRPr lang="en-US" sz="1100"/>
                    </a:p>
                    <a:p>
                      <a:pPr algn="l" marL="539748" indent="-269874" lvl="1">
                        <a:lnSpc>
                          <a:spcPts val="3499"/>
                        </a:lnSpc>
                        <a:buFont typeface="Arial"/>
                        <a:buChar char="•"/>
                      </a:pPr>
                      <a:r>
                        <a:rPr lang="en-US" sz="2499">
                          <a:solidFill>
                            <a:srgbClr val="2C2C2C"/>
                          </a:solidFill>
                          <a:latin typeface="Muli Bold"/>
                          <a:ea typeface="Muli Bold"/>
                          <a:cs typeface="Muli Bold"/>
                          <a:sym typeface="Muli Bold"/>
                        </a:rPr>
                        <a:t>Biên bản các kết quả kiểm thử</a:t>
                      </a:r>
                    </a:p>
                    <a:p>
                      <a:pPr algn="l" marL="539748" indent="-269874" lvl="1">
                        <a:lnSpc>
                          <a:spcPts val="3499"/>
                        </a:lnSpc>
                        <a:buFont typeface="Arial"/>
                        <a:buChar char="•"/>
                      </a:pPr>
                      <a:r>
                        <a:rPr lang="en-US" sz="2499">
                          <a:solidFill>
                            <a:srgbClr val="2C2C2C"/>
                          </a:solidFill>
                          <a:latin typeface="Muli Bold"/>
                          <a:ea typeface="Muli Bold"/>
                          <a:cs typeface="Muli Bold"/>
                          <a:sym typeface="Muli Bold"/>
                        </a:rPr>
                        <a:t>Cơ sở dữ liệu mẫu</a:t>
                      </a:r>
                    </a:p>
                  </a:txBody>
                  <a:tcPr marL="0" marR="0" marT="0" marB="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539748" indent="-269874" lvl="1">
                        <a:lnSpc>
                          <a:spcPts val="349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499">
                          <a:solidFill>
                            <a:srgbClr val="2C2C2C"/>
                          </a:solidFill>
                          <a:latin typeface="Muli Bold"/>
                          <a:ea typeface="Muli Bold"/>
                          <a:cs typeface="Muli Bold"/>
                          <a:sym typeface="Muli Bold"/>
                        </a:rPr>
                        <a:t>Kiểm thử tất cả các chức năng.</a:t>
                      </a:r>
                      <a:endParaRPr lang="en-US" sz="1100"/>
                    </a:p>
                    <a:p>
                      <a:pPr algn="l" marL="539748" indent="-269874" lvl="1">
                        <a:lnSpc>
                          <a:spcPts val="3499"/>
                        </a:lnSpc>
                        <a:buFont typeface="Arial"/>
                        <a:buChar char="•"/>
                      </a:pPr>
                      <a:r>
                        <a:rPr lang="en-US" sz="2499">
                          <a:solidFill>
                            <a:srgbClr val="2C2C2C"/>
                          </a:solidFill>
                          <a:latin typeface="Muli Bold"/>
                          <a:ea typeface="Muli Bold"/>
                          <a:cs typeface="Muli Bold"/>
                          <a:sym typeface="Muli Bold"/>
                        </a:rPr>
                        <a:t>Sử dụng các kĩ thuật thiết kế test case: kỹ thuật phân tích lớp tương đương, phân tích giá trị biên, sử dụng bảng quyết định, kiểm thử cặp đôi, đoán lỗi.</a:t>
                      </a:r>
                    </a:p>
                    <a:p>
                      <a:pPr algn="l" marL="539748" indent="-269874" lvl="1">
                        <a:lnSpc>
                          <a:spcPts val="3499"/>
                        </a:lnSpc>
                        <a:buFont typeface="Arial"/>
                        <a:buChar char="•"/>
                      </a:pPr>
                      <a:r>
                        <a:rPr lang="en-US" sz="2499">
                          <a:solidFill>
                            <a:srgbClr val="2C2C2C"/>
                          </a:solidFill>
                          <a:latin typeface="Muli Bold"/>
                          <a:ea typeface="Muli Bold"/>
                          <a:cs typeface="Muli Bold"/>
                          <a:sym typeface="Muli Bold"/>
                        </a:rPr>
                        <a:t>Đảm bảo được sản phẩm sau khi kiểm thử là toàn bộ hệ thống đã làm việc trơn tru.</a:t>
                      </a:r>
                    </a:p>
                  </a:txBody>
                  <a:tcPr marL="0" marR="0" marT="0" marB="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EDF0F2">
                            <a:alpha val="100000"/>
                          </a:srgbClr>
                        </a:gs>
                        <a:gs pos="100000">
                          <a:srgbClr val="98BDFD">
                            <a:alpha val="76500"/>
                          </a:srgbClr>
                        </a:gs>
                      </a:gsLst>
                      <a:lin ang="0"/>
                    </a:gra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202667"/>
            <a:ext cx="12247218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200"/>
              </a:lnSpc>
              <a:spcBef>
                <a:spcPct val="0"/>
              </a:spcBef>
            </a:pPr>
            <a:r>
              <a:rPr lang="en-US" sz="8500">
                <a:solidFill>
                  <a:srgbClr val="2C2C2C"/>
                </a:solidFill>
                <a:latin typeface="Muli Black"/>
                <a:ea typeface="Muli Black"/>
                <a:cs typeface="Muli Black"/>
                <a:sym typeface="Muli Black"/>
              </a:rPr>
              <a:t>Các giai đoạn làm việc</a:t>
            </a:r>
          </a:p>
        </p:txBody>
      </p:sp>
      <p:sp>
        <p:nvSpPr>
          <p:cNvPr name="AutoShape 3" id="3"/>
          <p:cNvSpPr/>
          <p:nvPr/>
        </p:nvSpPr>
        <p:spPr>
          <a:xfrm rot="0">
            <a:off x="-408731" y="1193142"/>
            <a:ext cx="18875389" cy="0"/>
          </a:xfrm>
          <a:prstGeom prst="line">
            <a:avLst/>
          </a:prstGeom>
          <a:ln cap="flat" w="9525">
            <a:solidFill>
              <a:srgbClr val="2C2C2C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3275918" y="1202667"/>
            <a:ext cx="703736" cy="774109"/>
          </a:xfrm>
          <a:custGeom>
            <a:avLst/>
            <a:gdLst/>
            <a:ahLst/>
            <a:cxnLst/>
            <a:rect r="r" b="b" t="t" l="l"/>
            <a:pathLst>
              <a:path h="774109" w="703736">
                <a:moveTo>
                  <a:pt x="0" y="0"/>
                </a:moveTo>
                <a:lnTo>
                  <a:pt x="703736" y="0"/>
                </a:lnTo>
                <a:lnTo>
                  <a:pt x="703736" y="774110"/>
                </a:lnTo>
                <a:lnTo>
                  <a:pt x="0" y="7741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055818" y="3094019"/>
            <a:ext cx="4182165" cy="555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0"/>
              </a:lnSpc>
            </a:pPr>
            <a:r>
              <a:rPr lang="en-US" b="true" sz="3500" u="sng">
                <a:solidFill>
                  <a:srgbClr val="2C2C2C"/>
                </a:solidFill>
                <a:latin typeface="Muli Regular Bold"/>
                <a:ea typeface="Muli Regular Bold"/>
                <a:cs typeface="Muli Regular Bold"/>
                <a:sym typeface="Muli Regular Bold"/>
              </a:rPr>
              <a:t>Triển khai hệ thống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028700" y="2968858"/>
            <a:ext cx="704460" cy="733812"/>
          </a:xfrm>
          <a:custGeom>
            <a:avLst/>
            <a:gdLst/>
            <a:ahLst/>
            <a:cxnLst/>
            <a:rect r="r" b="b" t="t" l="l"/>
            <a:pathLst>
              <a:path h="733812" w="704460">
                <a:moveTo>
                  <a:pt x="0" y="0"/>
                </a:moveTo>
                <a:lnTo>
                  <a:pt x="704460" y="0"/>
                </a:lnTo>
                <a:lnTo>
                  <a:pt x="704460" y="733812"/>
                </a:lnTo>
                <a:lnTo>
                  <a:pt x="0" y="7338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117839" y="3043664"/>
            <a:ext cx="526182" cy="555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50"/>
              </a:lnSpc>
            </a:pPr>
            <a:r>
              <a:rPr lang="en-US" sz="3500">
                <a:solidFill>
                  <a:srgbClr val="2C2C2C"/>
                </a:solidFill>
                <a:latin typeface="Muli Regular"/>
                <a:ea typeface="Muli Regular"/>
                <a:cs typeface="Muli Regular"/>
                <a:sym typeface="Muli Regular"/>
              </a:rPr>
              <a:t>1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2055901" y="2968858"/>
            <a:ext cx="704460" cy="733812"/>
          </a:xfrm>
          <a:custGeom>
            <a:avLst/>
            <a:gdLst/>
            <a:ahLst/>
            <a:cxnLst/>
            <a:rect r="r" b="b" t="t" l="l"/>
            <a:pathLst>
              <a:path h="733812" w="704460">
                <a:moveTo>
                  <a:pt x="0" y="0"/>
                </a:moveTo>
                <a:lnTo>
                  <a:pt x="704459" y="0"/>
                </a:lnTo>
                <a:lnTo>
                  <a:pt x="704459" y="733812"/>
                </a:lnTo>
                <a:lnTo>
                  <a:pt x="0" y="73381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145039" y="3043664"/>
            <a:ext cx="526182" cy="555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50"/>
              </a:lnSpc>
            </a:pPr>
            <a:r>
              <a:rPr lang="en-US" sz="3500">
                <a:solidFill>
                  <a:srgbClr val="2C2C2C"/>
                </a:solidFill>
                <a:latin typeface="Muli Regular"/>
                <a:ea typeface="Muli Regular"/>
                <a:cs typeface="Muli Regular"/>
                <a:sym typeface="Muli Regular"/>
              </a:rPr>
              <a:t>2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3084210" y="2968858"/>
            <a:ext cx="704460" cy="733812"/>
          </a:xfrm>
          <a:custGeom>
            <a:avLst/>
            <a:gdLst/>
            <a:ahLst/>
            <a:cxnLst/>
            <a:rect r="r" b="b" t="t" l="l"/>
            <a:pathLst>
              <a:path h="733812" w="704460">
                <a:moveTo>
                  <a:pt x="0" y="0"/>
                </a:moveTo>
                <a:lnTo>
                  <a:pt x="704460" y="0"/>
                </a:lnTo>
                <a:lnTo>
                  <a:pt x="704460" y="733812"/>
                </a:lnTo>
                <a:lnTo>
                  <a:pt x="0" y="73381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112520" y="2968858"/>
            <a:ext cx="704460" cy="733812"/>
          </a:xfrm>
          <a:custGeom>
            <a:avLst/>
            <a:gdLst/>
            <a:ahLst/>
            <a:cxnLst/>
            <a:rect r="r" b="b" t="t" l="l"/>
            <a:pathLst>
              <a:path h="733812" w="704460">
                <a:moveTo>
                  <a:pt x="0" y="0"/>
                </a:moveTo>
                <a:lnTo>
                  <a:pt x="704460" y="0"/>
                </a:lnTo>
                <a:lnTo>
                  <a:pt x="704460" y="733812"/>
                </a:lnTo>
                <a:lnTo>
                  <a:pt x="0" y="73381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5140830" y="3019213"/>
            <a:ext cx="704460" cy="733812"/>
          </a:xfrm>
          <a:custGeom>
            <a:avLst/>
            <a:gdLst/>
            <a:ahLst/>
            <a:cxnLst/>
            <a:rect r="r" b="b" t="t" l="l"/>
            <a:pathLst>
              <a:path h="733812" w="704460">
                <a:moveTo>
                  <a:pt x="0" y="0"/>
                </a:moveTo>
                <a:lnTo>
                  <a:pt x="704459" y="0"/>
                </a:lnTo>
                <a:lnTo>
                  <a:pt x="704459" y="733812"/>
                </a:lnTo>
                <a:lnTo>
                  <a:pt x="0" y="73381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6169139" y="3019213"/>
            <a:ext cx="704460" cy="733812"/>
          </a:xfrm>
          <a:custGeom>
            <a:avLst/>
            <a:gdLst/>
            <a:ahLst/>
            <a:cxnLst/>
            <a:rect r="r" b="b" t="t" l="l"/>
            <a:pathLst>
              <a:path h="733812" w="704460">
                <a:moveTo>
                  <a:pt x="0" y="0"/>
                </a:moveTo>
                <a:lnTo>
                  <a:pt x="704460" y="0"/>
                </a:lnTo>
                <a:lnTo>
                  <a:pt x="704460" y="733812"/>
                </a:lnTo>
                <a:lnTo>
                  <a:pt x="0" y="73381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1237983" y="3019213"/>
            <a:ext cx="704460" cy="733812"/>
          </a:xfrm>
          <a:custGeom>
            <a:avLst/>
            <a:gdLst/>
            <a:ahLst/>
            <a:cxnLst/>
            <a:rect r="r" b="b" t="t" l="l"/>
            <a:pathLst>
              <a:path h="733812" w="704460">
                <a:moveTo>
                  <a:pt x="0" y="0"/>
                </a:moveTo>
                <a:lnTo>
                  <a:pt x="704460" y="0"/>
                </a:lnTo>
                <a:lnTo>
                  <a:pt x="704460" y="733812"/>
                </a:lnTo>
                <a:lnTo>
                  <a:pt x="0" y="733812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3173349" y="3043664"/>
            <a:ext cx="526182" cy="555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50"/>
              </a:lnSpc>
            </a:pPr>
            <a:r>
              <a:rPr lang="en-US" sz="3500">
                <a:solidFill>
                  <a:srgbClr val="2C2C2C"/>
                </a:solidFill>
                <a:latin typeface="Muli Regular"/>
                <a:ea typeface="Muli Regular"/>
                <a:cs typeface="Muli Regular"/>
                <a:sym typeface="Muli Regular"/>
              </a:rPr>
              <a:t>3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201659" y="3043664"/>
            <a:ext cx="526182" cy="555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50"/>
              </a:lnSpc>
            </a:pPr>
            <a:r>
              <a:rPr lang="en-US" sz="3500">
                <a:solidFill>
                  <a:srgbClr val="2C2C2C"/>
                </a:solidFill>
                <a:latin typeface="Muli Regular"/>
                <a:ea typeface="Muli Regular"/>
                <a:cs typeface="Muli Regular"/>
                <a:sym typeface="Muli Regular"/>
              </a:rPr>
              <a:t>4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229968" y="3094019"/>
            <a:ext cx="526182" cy="555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50"/>
              </a:lnSpc>
            </a:pPr>
            <a:r>
              <a:rPr lang="en-US" sz="3500">
                <a:solidFill>
                  <a:srgbClr val="2C2C2C"/>
                </a:solidFill>
                <a:latin typeface="Muli Regular"/>
                <a:ea typeface="Muli Regular"/>
                <a:cs typeface="Muli Regular"/>
                <a:sym typeface="Muli Regular"/>
              </a:rPr>
              <a:t>5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258278" y="3094019"/>
            <a:ext cx="526182" cy="555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50"/>
              </a:lnSpc>
            </a:pPr>
            <a:r>
              <a:rPr lang="en-US" sz="3500">
                <a:solidFill>
                  <a:srgbClr val="2C2C2C"/>
                </a:solidFill>
                <a:latin typeface="Muli Regular"/>
                <a:ea typeface="Muli Regular"/>
                <a:cs typeface="Muli Regular"/>
                <a:sym typeface="Muli Regular"/>
              </a:rPr>
              <a:t>6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327122" y="3094019"/>
            <a:ext cx="526182" cy="555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50"/>
              </a:lnSpc>
            </a:pPr>
            <a:r>
              <a:rPr lang="en-US" sz="3500">
                <a:solidFill>
                  <a:srgbClr val="2C2C2C"/>
                </a:solidFill>
                <a:latin typeface="Muli Regular"/>
                <a:ea typeface="Muli Regular"/>
                <a:cs typeface="Muli Regular"/>
                <a:sym typeface="Muli Regular"/>
              </a:rPr>
              <a:t>7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028700" y="426762"/>
            <a:ext cx="5438168" cy="349143"/>
            <a:chOff x="0" y="0"/>
            <a:chExt cx="7250891" cy="46552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75907" cy="465525"/>
            </a:xfrm>
            <a:custGeom>
              <a:avLst/>
              <a:gdLst/>
              <a:ahLst/>
              <a:cxnLst/>
              <a:rect r="r" b="b" t="t" l="l"/>
              <a:pathLst>
                <a:path h="465525" w="575907">
                  <a:moveTo>
                    <a:pt x="0" y="0"/>
                  </a:moveTo>
                  <a:lnTo>
                    <a:pt x="575907" y="0"/>
                  </a:lnTo>
                  <a:lnTo>
                    <a:pt x="575907" y="465525"/>
                  </a:lnTo>
                  <a:lnTo>
                    <a:pt x="0" y="4655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0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 rot="0">
              <a:off x="838060" y="51788"/>
              <a:ext cx="6412831" cy="3333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>
                  <a:solidFill>
                    <a:srgbClr val="2C2C2C"/>
                  </a:solidFill>
                  <a:latin typeface="Muli Bold"/>
                  <a:ea typeface="Muli Bold"/>
                  <a:cs typeface="Muli Bold"/>
                  <a:sym typeface="Muli Bold"/>
                </a:rPr>
                <a:t>ĐẠI HỌC CÔNG NGHỆ THÔNG TIN - ĐHQGTPHCM</a:t>
              </a:r>
            </a:p>
          </p:txBody>
        </p:sp>
      </p:grpSp>
      <p:graphicFrame>
        <p:nvGraphicFramePr>
          <p:cNvPr name="Table 23" id="23"/>
          <p:cNvGraphicFramePr>
            <a:graphicFrameLocks noGrp="true"/>
          </p:cNvGraphicFramePr>
          <p:nvPr/>
        </p:nvGraphicFramePr>
        <p:xfrm>
          <a:off x="1028700" y="4274170"/>
          <a:ext cx="16715543" cy="4268216"/>
        </p:xfrm>
        <a:graphic>
          <a:graphicData uri="http://schemas.openxmlformats.org/drawingml/2006/table">
            <a:tbl>
              <a:tblPr/>
              <a:tblGrid>
                <a:gridCol w="5889208"/>
                <a:gridCol w="4507154"/>
                <a:gridCol w="6319181"/>
              </a:tblGrid>
              <a:tr h="110876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2C2C2C"/>
                          </a:solidFill>
                          <a:latin typeface="Muli Black"/>
                          <a:ea typeface="Muli Black"/>
                          <a:cs typeface="Muli Black"/>
                          <a:sym typeface="Muli Black"/>
                        </a:rPr>
                        <a:t>Mục đích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CDFFD8">
                            <a:alpha val="100000"/>
                          </a:srgbClr>
                        </a:gs>
                        <a:gs pos="100000">
                          <a:srgbClr val="94B9FF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2C2C2C"/>
                          </a:solidFill>
                          <a:latin typeface="Muli Black"/>
                          <a:ea typeface="Muli Black"/>
                          <a:cs typeface="Muli Black"/>
                          <a:sym typeface="Muli Black"/>
                        </a:rPr>
                        <a:t>Tài liệu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94B9FF">
                            <a:alpha val="100000"/>
                          </a:srgbClr>
                        </a:gs>
                        <a:gs pos="100000">
                          <a:srgbClr val="CDFFD8">
                            <a:alpha val="100000"/>
                          </a:srgbClr>
                        </a:gs>
                      </a:gsLst>
                      <a:lin ang="210000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2C2C2C"/>
                          </a:solidFill>
                          <a:latin typeface="Muli Black"/>
                          <a:ea typeface="Muli Black"/>
                          <a:cs typeface="Muli Black"/>
                          <a:sym typeface="Muli Black"/>
                        </a:rPr>
                        <a:t>Ghi chú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CDFFD8">
                            <a:alpha val="100000"/>
                          </a:srgbClr>
                        </a:gs>
                        <a:gs pos="100000">
                          <a:srgbClr val="94B9FF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</a:tr>
              <a:tr h="3159453">
                <a:tc>
                  <a:txBody>
                    <a:bodyPr anchor="t" rtlCol="false"/>
                    <a:lstStyle/>
                    <a:p>
                      <a:pPr algn="l" marL="539748" indent="-269874" lvl="1">
                        <a:lnSpc>
                          <a:spcPts val="349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499">
                          <a:solidFill>
                            <a:srgbClr val="2C2C2C"/>
                          </a:solidFill>
                          <a:latin typeface="Muli Bold"/>
                          <a:ea typeface="Muli Bold"/>
                          <a:cs typeface="Muli Bold"/>
                          <a:sym typeface="Muli Bold"/>
                        </a:rPr>
                        <a:t>Chuyển giao toàn bộ hệ thống cho người dùng.</a:t>
                      </a:r>
                      <a:endParaRPr lang="en-US" sz="1100"/>
                    </a:p>
                    <a:p>
                      <a:pPr algn="l" marL="539748" indent="-269874" lvl="1">
                        <a:lnSpc>
                          <a:spcPts val="3499"/>
                        </a:lnSpc>
                        <a:buFont typeface="Arial"/>
                        <a:buChar char="•"/>
                      </a:pPr>
                      <a:r>
                        <a:rPr lang="en-US" sz="2499">
                          <a:solidFill>
                            <a:srgbClr val="2C2C2C"/>
                          </a:solidFill>
                          <a:latin typeface="Muli Bold"/>
                          <a:ea typeface="Muli Bold"/>
                          <a:cs typeface="Muli Bold"/>
                          <a:sym typeface="Muli Bold"/>
                        </a:rPr>
                        <a:t>Vận hành và hoàn thiện hệ thống.</a:t>
                      </a:r>
                    </a:p>
                  </a:txBody>
                  <a:tcPr marL="0" marR="0" marT="0" marB="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CBFBDA">
                            <a:alpha val="100000"/>
                          </a:srgbClr>
                        </a:gs>
                        <a:gs pos="100000">
                          <a:srgbClr val="EDF0F2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l" marL="539748" indent="-269874" lvl="1">
                        <a:lnSpc>
                          <a:spcPts val="349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499">
                          <a:solidFill>
                            <a:srgbClr val="2C2C2C"/>
                          </a:solidFill>
                          <a:latin typeface="Muli Bold"/>
                          <a:ea typeface="Muli Bold"/>
                          <a:cs typeface="Muli Bold"/>
                          <a:sym typeface="Muli Bold"/>
                        </a:rPr>
                        <a:t>Báo cáo kết quả vận hành khi chuyển giao phần mềm.</a:t>
                      </a:r>
                      <a:endParaRPr lang="en-US" sz="1100"/>
                    </a:p>
                    <a:p>
                      <a:pPr algn="l" marL="539748" indent="-269874" lvl="1">
                        <a:lnSpc>
                          <a:spcPts val="3499"/>
                        </a:lnSpc>
                        <a:buFont typeface="Arial"/>
                        <a:buChar char="•"/>
                      </a:pPr>
                      <a:r>
                        <a:rPr lang="en-US" sz="2499">
                          <a:solidFill>
                            <a:srgbClr val="2C2C2C"/>
                          </a:solidFill>
                          <a:latin typeface="Muli Bold"/>
                          <a:ea typeface="Muli Bold"/>
                          <a:cs typeface="Muli Bold"/>
                          <a:sym typeface="Muli Bold"/>
                        </a:rPr>
                        <a:t>Tài liệu hướng dẫn, bảo trì, khai thác và quản lí hệ thống.</a:t>
                      </a:r>
                    </a:p>
                    <a:p>
                      <a:pPr algn="l" marL="539748" indent="-269874" lvl="1">
                        <a:lnSpc>
                          <a:spcPts val="3499"/>
                        </a:lnSpc>
                        <a:buFont typeface="Arial"/>
                        <a:buChar char="•"/>
                      </a:pPr>
                      <a:r>
                        <a:rPr lang="en-US" sz="2499">
                          <a:solidFill>
                            <a:srgbClr val="2C2C2C"/>
                          </a:solidFill>
                          <a:latin typeface="Muli Bold"/>
                          <a:ea typeface="Muli Bold"/>
                          <a:cs typeface="Muli Bold"/>
                          <a:sym typeface="Muli Bold"/>
                        </a:rPr>
                        <a:t>Tài liệu chuyển giao</a:t>
                      </a:r>
                    </a:p>
                  </a:txBody>
                  <a:tcPr marL="0" marR="0" marT="0" marB="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539748" indent="-269874" lvl="1">
                        <a:lnSpc>
                          <a:spcPts val="349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499">
                          <a:solidFill>
                            <a:srgbClr val="2C2C2C"/>
                          </a:solidFill>
                          <a:latin typeface="Muli Bold"/>
                          <a:ea typeface="Muli Bold"/>
                          <a:cs typeface="Muli Bold"/>
                          <a:sym typeface="Muli Bold"/>
                        </a:rPr>
                        <a:t>Cài đặt bàn giao hệ thống cho khách sử dụng.</a:t>
                      </a:r>
                      <a:endParaRPr lang="en-US" sz="1100"/>
                    </a:p>
                    <a:p>
                      <a:pPr algn="l" marL="539748" indent="-269874" lvl="1">
                        <a:lnSpc>
                          <a:spcPts val="3499"/>
                        </a:lnSpc>
                        <a:buFont typeface="Arial"/>
                        <a:buChar char="•"/>
                      </a:pPr>
                      <a:r>
                        <a:rPr lang="en-US" sz="2499">
                          <a:solidFill>
                            <a:srgbClr val="2C2C2C"/>
                          </a:solidFill>
                          <a:latin typeface="Muli Bold"/>
                          <a:ea typeface="Muli Bold"/>
                          <a:cs typeface="Muli Bold"/>
                          <a:sym typeface="Muli Bold"/>
                        </a:rPr>
                        <a:t>Hỗ trợ kĩ thuật</a:t>
                      </a:r>
                    </a:p>
                    <a:p>
                      <a:pPr algn="l" marL="539748" indent="-269874" lvl="1">
                        <a:lnSpc>
                          <a:spcPts val="3499"/>
                        </a:lnSpc>
                        <a:buFont typeface="Arial"/>
                        <a:buChar char="•"/>
                      </a:pPr>
                      <a:r>
                        <a:rPr lang="en-US" sz="2499">
                          <a:solidFill>
                            <a:srgbClr val="2C2C2C"/>
                          </a:solidFill>
                          <a:latin typeface="Muli Bold"/>
                          <a:ea typeface="Muli Bold"/>
                          <a:cs typeface="Muli Bold"/>
                          <a:sym typeface="Muli Bold"/>
                        </a:rPr>
                        <a:t>Viết các tài liệu hướng dẫn sử dụng, bảo trì, khai thác và quản lí hệ thống cho khách hàng.</a:t>
                      </a:r>
                    </a:p>
                  </a:txBody>
                  <a:tcPr marL="0" marR="0" marT="0" marB="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EDF0F2">
                            <a:alpha val="100000"/>
                          </a:srgbClr>
                        </a:gs>
                        <a:gs pos="100000">
                          <a:srgbClr val="98BDFD">
                            <a:alpha val="76500"/>
                          </a:srgbClr>
                        </a:gs>
                      </a:gsLst>
                      <a:lin ang="0"/>
                    </a:gra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202667"/>
            <a:ext cx="12247218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200"/>
              </a:lnSpc>
              <a:spcBef>
                <a:spcPct val="0"/>
              </a:spcBef>
            </a:pPr>
            <a:r>
              <a:rPr lang="en-US" sz="8500">
                <a:solidFill>
                  <a:srgbClr val="2C2C2C"/>
                </a:solidFill>
                <a:latin typeface="Muli Black"/>
                <a:ea typeface="Muli Black"/>
                <a:cs typeface="Muli Black"/>
                <a:sym typeface="Muli Black"/>
              </a:rPr>
              <a:t>Các giai đoạn làm việc</a:t>
            </a:r>
          </a:p>
        </p:txBody>
      </p:sp>
      <p:sp>
        <p:nvSpPr>
          <p:cNvPr name="AutoShape 3" id="3"/>
          <p:cNvSpPr/>
          <p:nvPr/>
        </p:nvSpPr>
        <p:spPr>
          <a:xfrm rot="0">
            <a:off x="-408731" y="1193142"/>
            <a:ext cx="18875389" cy="0"/>
          </a:xfrm>
          <a:prstGeom prst="line">
            <a:avLst/>
          </a:prstGeom>
          <a:ln cap="flat" w="9525">
            <a:solidFill>
              <a:srgbClr val="2C2C2C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3275918" y="1202667"/>
            <a:ext cx="703736" cy="774109"/>
          </a:xfrm>
          <a:custGeom>
            <a:avLst/>
            <a:gdLst/>
            <a:ahLst/>
            <a:cxnLst/>
            <a:rect r="r" b="b" t="t" l="l"/>
            <a:pathLst>
              <a:path h="774109" w="703736">
                <a:moveTo>
                  <a:pt x="0" y="0"/>
                </a:moveTo>
                <a:lnTo>
                  <a:pt x="703736" y="0"/>
                </a:lnTo>
                <a:lnTo>
                  <a:pt x="703736" y="774110"/>
                </a:lnTo>
                <a:lnTo>
                  <a:pt x="0" y="7741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225758" y="3094019"/>
            <a:ext cx="3946292" cy="555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0"/>
              </a:lnSpc>
            </a:pPr>
            <a:r>
              <a:rPr lang="en-US" b="true" sz="3500" u="sng">
                <a:solidFill>
                  <a:srgbClr val="2C2C2C"/>
                </a:solidFill>
                <a:latin typeface="Muli Regular Bold"/>
                <a:ea typeface="Muli Regular Bold"/>
                <a:cs typeface="Muli Regular Bold"/>
                <a:sym typeface="Muli Regular Bold"/>
              </a:rPr>
              <a:t>Kết thúc dự án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028700" y="2968858"/>
            <a:ext cx="704460" cy="733812"/>
          </a:xfrm>
          <a:custGeom>
            <a:avLst/>
            <a:gdLst/>
            <a:ahLst/>
            <a:cxnLst/>
            <a:rect r="r" b="b" t="t" l="l"/>
            <a:pathLst>
              <a:path h="733812" w="704460">
                <a:moveTo>
                  <a:pt x="0" y="0"/>
                </a:moveTo>
                <a:lnTo>
                  <a:pt x="704460" y="0"/>
                </a:lnTo>
                <a:lnTo>
                  <a:pt x="704460" y="733812"/>
                </a:lnTo>
                <a:lnTo>
                  <a:pt x="0" y="7338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117839" y="3043664"/>
            <a:ext cx="526182" cy="555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50"/>
              </a:lnSpc>
            </a:pPr>
            <a:r>
              <a:rPr lang="en-US" sz="3500">
                <a:solidFill>
                  <a:srgbClr val="2C2C2C"/>
                </a:solidFill>
                <a:latin typeface="Muli Regular"/>
                <a:ea typeface="Muli Regular"/>
                <a:cs typeface="Muli Regular"/>
                <a:sym typeface="Muli Regular"/>
              </a:rPr>
              <a:t>1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2055901" y="2968858"/>
            <a:ext cx="704460" cy="733812"/>
          </a:xfrm>
          <a:custGeom>
            <a:avLst/>
            <a:gdLst/>
            <a:ahLst/>
            <a:cxnLst/>
            <a:rect r="r" b="b" t="t" l="l"/>
            <a:pathLst>
              <a:path h="733812" w="704460">
                <a:moveTo>
                  <a:pt x="0" y="0"/>
                </a:moveTo>
                <a:lnTo>
                  <a:pt x="704459" y="0"/>
                </a:lnTo>
                <a:lnTo>
                  <a:pt x="704459" y="733812"/>
                </a:lnTo>
                <a:lnTo>
                  <a:pt x="0" y="73381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145039" y="3043664"/>
            <a:ext cx="526182" cy="555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50"/>
              </a:lnSpc>
            </a:pPr>
            <a:r>
              <a:rPr lang="en-US" sz="3500">
                <a:solidFill>
                  <a:srgbClr val="2C2C2C"/>
                </a:solidFill>
                <a:latin typeface="Muli Regular"/>
                <a:ea typeface="Muli Regular"/>
                <a:cs typeface="Muli Regular"/>
                <a:sym typeface="Muli Regular"/>
              </a:rPr>
              <a:t>2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3084210" y="2968858"/>
            <a:ext cx="704460" cy="733812"/>
          </a:xfrm>
          <a:custGeom>
            <a:avLst/>
            <a:gdLst/>
            <a:ahLst/>
            <a:cxnLst/>
            <a:rect r="r" b="b" t="t" l="l"/>
            <a:pathLst>
              <a:path h="733812" w="704460">
                <a:moveTo>
                  <a:pt x="0" y="0"/>
                </a:moveTo>
                <a:lnTo>
                  <a:pt x="704460" y="0"/>
                </a:lnTo>
                <a:lnTo>
                  <a:pt x="704460" y="733812"/>
                </a:lnTo>
                <a:lnTo>
                  <a:pt x="0" y="73381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112520" y="2968858"/>
            <a:ext cx="704460" cy="733812"/>
          </a:xfrm>
          <a:custGeom>
            <a:avLst/>
            <a:gdLst/>
            <a:ahLst/>
            <a:cxnLst/>
            <a:rect r="r" b="b" t="t" l="l"/>
            <a:pathLst>
              <a:path h="733812" w="704460">
                <a:moveTo>
                  <a:pt x="0" y="0"/>
                </a:moveTo>
                <a:lnTo>
                  <a:pt x="704460" y="0"/>
                </a:lnTo>
                <a:lnTo>
                  <a:pt x="704460" y="733812"/>
                </a:lnTo>
                <a:lnTo>
                  <a:pt x="0" y="73381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5140830" y="3019213"/>
            <a:ext cx="704460" cy="733812"/>
          </a:xfrm>
          <a:custGeom>
            <a:avLst/>
            <a:gdLst/>
            <a:ahLst/>
            <a:cxnLst/>
            <a:rect r="r" b="b" t="t" l="l"/>
            <a:pathLst>
              <a:path h="733812" w="704460">
                <a:moveTo>
                  <a:pt x="0" y="0"/>
                </a:moveTo>
                <a:lnTo>
                  <a:pt x="704459" y="0"/>
                </a:lnTo>
                <a:lnTo>
                  <a:pt x="704459" y="733812"/>
                </a:lnTo>
                <a:lnTo>
                  <a:pt x="0" y="73381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6169139" y="3019213"/>
            <a:ext cx="704460" cy="733812"/>
          </a:xfrm>
          <a:custGeom>
            <a:avLst/>
            <a:gdLst/>
            <a:ahLst/>
            <a:cxnLst/>
            <a:rect r="r" b="b" t="t" l="l"/>
            <a:pathLst>
              <a:path h="733812" w="704460">
                <a:moveTo>
                  <a:pt x="0" y="0"/>
                </a:moveTo>
                <a:lnTo>
                  <a:pt x="704460" y="0"/>
                </a:lnTo>
                <a:lnTo>
                  <a:pt x="704460" y="733812"/>
                </a:lnTo>
                <a:lnTo>
                  <a:pt x="0" y="73381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7152309" y="3019213"/>
            <a:ext cx="704460" cy="733812"/>
          </a:xfrm>
          <a:custGeom>
            <a:avLst/>
            <a:gdLst/>
            <a:ahLst/>
            <a:cxnLst/>
            <a:rect r="r" b="b" t="t" l="l"/>
            <a:pathLst>
              <a:path h="733812" w="704460">
                <a:moveTo>
                  <a:pt x="0" y="0"/>
                </a:moveTo>
                <a:lnTo>
                  <a:pt x="704460" y="0"/>
                </a:lnTo>
                <a:lnTo>
                  <a:pt x="704460" y="733812"/>
                </a:lnTo>
                <a:lnTo>
                  <a:pt x="0" y="733812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3173349" y="3043664"/>
            <a:ext cx="526182" cy="555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50"/>
              </a:lnSpc>
            </a:pPr>
            <a:r>
              <a:rPr lang="en-US" sz="3500">
                <a:solidFill>
                  <a:srgbClr val="2C2C2C"/>
                </a:solidFill>
                <a:latin typeface="Muli Regular"/>
                <a:ea typeface="Muli Regular"/>
                <a:cs typeface="Muli Regular"/>
                <a:sym typeface="Muli Regular"/>
              </a:rPr>
              <a:t>3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201659" y="3043664"/>
            <a:ext cx="526182" cy="555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50"/>
              </a:lnSpc>
            </a:pPr>
            <a:r>
              <a:rPr lang="en-US" sz="3500">
                <a:solidFill>
                  <a:srgbClr val="2C2C2C"/>
                </a:solidFill>
                <a:latin typeface="Muli Regular"/>
                <a:ea typeface="Muli Regular"/>
                <a:cs typeface="Muli Regular"/>
                <a:sym typeface="Muli Regular"/>
              </a:rPr>
              <a:t>4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229968" y="3094019"/>
            <a:ext cx="526182" cy="555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50"/>
              </a:lnSpc>
            </a:pPr>
            <a:r>
              <a:rPr lang="en-US" sz="3500">
                <a:solidFill>
                  <a:srgbClr val="2C2C2C"/>
                </a:solidFill>
                <a:latin typeface="Muli Regular"/>
                <a:ea typeface="Muli Regular"/>
                <a:cs typeface="Muli Regular"/>
                <a:sym typeface="Muli Regular"/>
              </a:rPr>
              <a:t>5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258278" y="3094019"/>
            <a:ext cx="526182" cy="555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50"/>
              </a:lnSpc>
            </a:pPr>
            <a:r>
              <a:rPr lang="en-US" sz="3500">
                <a:solidFill>
                  <a:srgbClr val="2C2C2C"/>
                </a:solidFill>
                <a:latin typeface="Muli Regular"/>
                <a:ea typeface="Muli Regular"/>
                <a:cs typeface="Muli Regular"/>
                <a:sym typeface="Muli Regular"/>
              </a:rPr>
              <a:t>6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241448" y="3094019"/>
            <a:ext cx="526182" cy="555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50"/>
              </a:lnSpc>
            </a:pPr>
            <a:r>
              <a:rPr lang="en-US" sz="3500">
                <a:solidFill>
                  <a:srgbClr val="2C2C2C"/>
                </a:solidFill>
                <a:latin typeface="Muli Regular"/>
                <a:ea typeface="Muli Regular"/>
                <a:cs typeface="Muli Regular"/>
                <a:sym typeface="Muli Regular"/>
              </a:rPr>
              <a:t>7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028700" y="426762"/>
            <a:ext cx="5438168" cy="349143"/>
            <a:chOff x="0" y="0"/>
            <a:chExt cx="7250891" cy="46552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75907" cy="465525"/>
            </a:xfrm>
            <a:custGeom>
              <a:avLst/>
              <a:gdLst/>
              <a:ahLst/>
              <a:cxnLst/>
              <a:rect r="r" b="b" t="t" l="l"/>
              <a:pathLst>
                <a:path h="465525" w="575907">
                  <a:moveTo>
                    <a:pt x="0" y="0"/>
                  </a:moveTo>
                  <a:lnTo>
                    <a:pt x="575907" y="0"/>
                  </a:lnTo>
                  <a:lnTo>
                    <a:pt x="575907" y="465525"/>
                  </a:lnTo>
                  <a:lnTo>
                    <a:pt x="0" y="4655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0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 rot="0">
              <a:off x="838060" y="51788"/>
              <a:ext cx="6412831" cy="3333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>
                  <a:solidFill>
                    <a:srgbClr val="2C2C2C"/>
                  </a:solidFill>
                  <a:latin typeface="Muli Bold"/>
                  <a:ea typeface="Muli Bold"/>
                  <a:cs typeface="Muli Bold"/>
                  <a:sym typeface="Muli Bold"/>
                </a:rPr>
                <a:t>ĐẠI HỌC CÔNG NGHỆ THÔNG TIN - ĐHQGTPHCM</a:t>
              </a:r>
            </a:p>
          </p:txBody>
        </p:sp>
      </p:grpSp>
      <p:graphicFrame>
        <p:nvGraphicFramePr>
          <p:cNvPr name="Table 23" id="23"/>
          <p:cNvGraphicFramePr>
            <a:graphicFrameLocks noGrp="true"/>
          </p:cNvGraphicFramePr>
          <p:nvPr/>
        </p:nvGraphicFramePr>
        <p:xfrm>
          <a:off x="1028700" y="4274170"/>
          <a:ext cx="16715543" cy="3163316"/>
        </p:xfrm>
        <a:graphic>
          <a:graphicData uri="http://schemas.openxmlformats.org/drawingml/2006/table">
            <a:tbl>
              <a:tblPr/>
              <a:tblGrid>
                <a:gridCol w="5889208"/>
                <a:gridCol w="4507154"/>
                <a:gridCol w="6319181"/>
              </a:tblGrid>
              <a:tr h="11131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2C2C2C"/>
                          </a:solidFill>
                          <a:latin typeface="Muli Black"/>
                          <a:ea typeface="Muli Black"/>
                          <a:cs typeface="Muli Black"/>
                          <a:sym typeface="Muli Black"/>
                        </a:rPr>
                        <a:t>Mục đích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CDFFD8">
                            <a:alpha val="100000"/>
                          </a:srgbClr>
                        </a:gs>
                        <a:gs pos="100000">
                          <a:srgbClr val="94B9FF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2C2C2C"/>
                          </a:solidFill>
                          <a:latin typeface="Muli Black"/>
                          <a:ea typeface="Muli Black"/>
                          <a:cs typeface="Muli Black"/>
                          <a:sym typeface="Muli Black"/>
                        </a:rPr>
                        <a:t>Tài liệu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94B9FF">
                            <a:alpha val="100000"/>
                          </a:srgbClr>
                        </a:gs>
                        <a:gs pos="100000">
                          <a:srgbClr val="CDFFD8">
                            <a:alpha val="100000"/>
                          </a:srgbClr>
                        </a:gs>
                      </a:gsLst>
                      <a:lin ang="210000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2C2C2C"/>
                          </a:solidFill>
                          <a:latin typeface="Muli Black"/>
                          <a:ea typeface="Muli Black"/>
                          <a:cs typeface="Muli Black"/>
                          <a:sym typeface="Muli Black"/>
                        </a:rPr>
                        <a:t>Ghi chú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CDFFD8">
                            <a:alpha val="100000"/>
                          </a:srgbClr>
                        </a:gs>
                        <a:gs pos="100000">
                          <a:srgbClr val="94B9FF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</a:tr>
              <a:tr h="2050166">
                <a:tc>
                  <a:txBody>
                    <a:bodyPr anchor="t" rtlCol="false"/>
                    <a:lstStyle/>
                    <a:p>
                      <a:pPr algn="l" marL="539748" indent="-269874" lvl="1">
                        <a:lnSpc>
                          <a:spcPts val="399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499">
                          <a:solidFill>
                            <a:srgbClr val="2C2C2C"/>
                          </a:solidFill>
                          <a:latin typeface="Muli Bold"/>
                          <a:ea typeface="Muli Bold"/>
                          <a:cs typeface="Muli Bold"/>
                          <a:sym typeface="Muli Bold"/>
                        </a:rPr>
                        <a:t>Thông báo hoàn thành dự án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CBFBDA">
                            <a:alpha val="100000"/>
                          </a:srgbClr>
                        </a:gs>
                        <a:gs pos="100000">
                          <a:srgbClr val="EDF0F2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l" marL="539748" indent="-269874" lvl="1">
                        <a:lnSpc>
                          <a:spcPts val="399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499">
                          <a:solidFill>
                            <a:srgbClr val="2C2C2C"/>
                          </a:solidFill>
                          <a:latin typeface="Muli Bold"/>
                          <a:ea typeface="Muli Bold"/>
                          <a:cs typeface="Muli Bold"/>
                          <a:sym typeface="Muli Bold"/>
                        </a:rPr>
                        <a:t>Biên bản nghiệm thu</a:t>
                      </a:r>
                      <a:endParaRPr lang="en-US" sz="1100"/>
                    </a:p>
                    <a:p>
                      <a:pPr algn="l" marL="539748" indent="-269874" lvl="1">
                        <a:lnSpc>
                          <a:spcPts val="3999"/>
                        </a:lnSpc>
                        <a:buFont typeface="Arial"/>
                        <a:buChar char="•"/>
                      </a:pPr>
                      <a:r>
                        <a:rPr lang="en-US" sz="2499">
                          <a:solidFill>
                            <a:srgbClr val="2C2C2C"/>
                          </a:solidFill>
                          <a:latin typeface="Muli Bold"/>
                          <a:ea typeface="Muli Bold"/>
                          <a:cs typeface="Muli Bold"/>
                          <a:sym typeface="Muli Bold"/>
                        </a:rPr>
                        <a:t>Báo cáo tổng kết dự án</a:t>
                      </a:r>
                    </a:p>
                  </a:txBody>
                  <a:tcPr marL="0" marR="0" marT="0" marB="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539748" indent="-269874" lvl="1">
                        <a:lnSpc>
                          <a:spcPts val="399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499">
                          <a:solidFill>
                            <a:srgbClr val="2C2C2C"/>
                          </a:solidFill>
                          <a:latin typeface="Muli Bold"/>
                          <a:ea typeface="Muli Bold"/>
                          <a:cs typeface="Muli Bold"/>
                          <a:sym typeface="Muli Bold"/>
                        </a:rPr>
                        <a:t>Quản lí nhân sự</a:t>
                      </a:r>
                      <a:endParaRPr lang="en-US" sz="1100"/>
                    </a:p>
                    <a:p>
                      <a:pPr algn="l" marL="539748" indent="-269874" lvl="1">
                        <a:lnSpc>
                          <a:spcPts val="3999"/>
                        </a:lnSpc>
                        <a:buFont typeface="Arial"/>
                        <a:buChar char="•"/>
                      </a:pPr>
                      <a:r>
                        <a:rPr lang="en-US" sz="2499">
                          <a:solidFill>
                            <a:srgbClr val="2C2C2C"/>
                          </a:solidFill>
                          <a:latin typeface="Muli Bold"/>
                          <a:ea typeface="Muli Bold"/>
                          <a:cs typeface="Muli Bold"/>
                          <a:sym typeface="Muli Bold"/>
                        </a:rPr>
                        <a:t>Quản lí truyền thông</a:t>
                      </a:r>
                    </a:p>
                    <a:p>
                      <a:pPr algn="l" marL="539748" indent="-269874" lvl="1">
                        <a:lnSpc>
                          <a:spcPts val="3999"/>
                        </a:lnSpc>
                        <a:buFont typeface="Arial"/>
                        <a:buChar char="•"/>
                      </a:pPr>
                      <a:r>
                        <a:rPr lang="en-US" sz="2499">
                          <a:solidFill>
                            <a:srgbClr val="2C2C2C"/>
                          </a:solidFill>
                          <a:latin typeface="Muli Bold"/>
                          <a:ea typeface="Muli Bold"/>
                          <a:cs typeface="Muli Bold"/>
                          <a:sym typeface="Muli Bold"/>
                        </a:rPr>
                        <a:t>Quản lý thông tin</a:t>
                      </a:r>
                    </a:p>
                    <a:p>
                      <a:pPr algn="l" marL="539748" indent="-269874" lvl="1">
                        <a:lnSpc>
                          <a:spcPts val="3999"/>
                        </a:lnSpc>
                        <a:buFont typeface="Arial"/>
                        <a:buChar char="•"/>
                      </a:pPr>
                      <a:r>
                        <a:rPr lang="en-US" sz="2499">
                          <a:solidFill>
                            <a:srgbClr val="2C2C2C"/>
                          </a:solidFill>
                          <a:latin typeface="Muli Bold"/>
                          <a:ea typeface="Muli Bold"/>
                          <a:cs typeface="Muli Bold"/>
                          <a:sym typeface="Muli Bold"/>
                        </a:rPr>
                        <a:t>Quản lý chuyển giao quyền lực</a:t>
                      </a:r>
                    </a:p>
                  </a:txBody>
                  <a:tcPr marL="0" marR="0" marT="0" marB="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EDF0F2">
                            <a:alpha val="100000"/>
                          </a:srgbClr>
                        </a:gs>
                        <a:gs pos="100000">
                          <a:srgbClr val="98BDFD">
                            <a:alpha val="76500"/>
                          </a:srgbClr>
                        </a:gs>
                      </a:gsLst>
                      <a:lin ang="0"/>
                    </a:gra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721316">
            <a:off x="1499698" y="539490"/>
            <a:ext cx="2578854" cy="2621756"/>
          </a:xfrm>
          <a:custGeom>
            <a:avLst/>
            <a:gdLst/>
            <a:ahLst/>
            <a:cxnLst/>
            <a:rect r="r" b="b" t="t" l="l"/>
            <a:pathLst>
              <a:path h="2621756" w="2578854">
                <a:moveTo>
                  <a:pt x="0" y="0"/>
                </a:moveTo>
                <a:lnTo>
                  <a:pt x="2578854" y="0"/>
                </a:lnTo>
                <a:lnTo>
                  <a:pt x="2578854" y="2621755"/>
                </a:lnTo>
                <a:lnTo>
                  <a:pt x="0" y="26217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202667"/>
            <a:ext cx="8212263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200"/>
              </a:lnSpc>
              <a:spcBef>
                <a:spcPct val="0"/>
              </a:spcBef>
            </a:pPr>
            <a:r>
              <a:rPr lang="en-US" sz="8500">
                <a:solidFill>
                  <a:srgbClr val="2C2C2C"/>
                </a:solidFill>
                <a:latin typeface="Muli Black"/>
                <a:ea typeface="Muli Black"/>
                <a:cs typeface="Muli Black"/>
                <a:sym typeface="Muli Black"/>
              </a:rPr>
              <a:t>Chi phí dự án</a:t>
            </a:r>
          </a:p>
        </p:txBody>
      </p:sp>
      <p:sp>
        <p:nvSpPr>
          <p:cNvPr name="AutoShape 4" id="4"/>
          <p:cNvSpPr/>
          <p:nvPr/>
        </p:nvSpPr>
        <p:spPr>
          <a:xfrm rot="0">
            <a:off x="-408731" y="1193142"/>
            <a:ext cx="18875389" cy="0"/>
          </a:xfrm>
          <a:prstGeom prst="line">
            <a:avLst/>
          </a:prstGeom>
          <a:ln cap="flat" w="9525">
            <a:solidFill>
              <a:srgbClr val="2C2C2C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028700" y="426762"/>
            <a:ext cx="5438168" cy="349143"/>
            <a:chOff x="0" y="0"/>
            <a:chExt cx="7250891" cy="4655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75907" cy="465525"/>
            </a:xfrm>
            <a:custGeom>
              <a:avLst/>
              <a:gdLst/>
              <a:ahLst/>
              <a:cxnLst/>
              <a:rect r="r" b="b" t="t" l="l"/>
              <a:pathLst>
                <a:path h="465525" w="575907">
                  <a:moveTo>
                    <a:pt x="0" y="0"/>
                  </a:moveTo>
                  <a:lnTo>
                    <a:pt x="575907" y="0"/>
                  </a:lnTo>
                  <a:lnTo>
                    <a:pt x="575907" y="465525"/>
                  </a:lnTo>
                  <a:lnTo>
                    <a:pt x="0" y="4655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 rot="0">
              <a:off x="838060" y="51788"/>
              <a:ext cx="6412831" cy="3333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>
                  <a:solidFill>
                    <a:srgbClr val="2C2C2C"/>
                  </a:solidFill>
                  <a:latin typeface="Muli Bold"/>
                  <a:ea typeface="Muli Bold"/>
                  <a:cs typeface="Muli Bold"/>
                  <a:sym typeface="Muli Bold"/>
                </a:rPr>
                <a:t>ĐẠI HỌC CÔNG NGHỆ THÔNG TIN - ĐHQGTPHCM</a:t>
              </a:r>
            </a:p>
          </p:txBody>
        </p:sp>
      </p:grp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1028700" y="2498067"/>
          <a:ext cx="16230600" cy="7620000"/>
        </p:xfrm>
        <a:graphic>
          <a:graphicData uri="http://schemas.openxmlformats.org/drawingml/2006/table">
            <a:tbl>
              <a:tblPr/>
              <a:tblGrid>
                <a:gridCol w="4731748"/>
                <a:gridCol w="2428252"/>
                <a:gridCol w="2270436"/>
                <a:gridCol w="2358111"/>
                <a:gridCol w="2726349"/>
                <a:gridCol w="1715704"/>
              </a:tblGrid>
              <a:tr h="65804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99"/>
                        </a:lnSpc>
                        <a:defRPr/>
                      </a:pPr>
                      <a:r>
                        <a:rPr lang="en-US" sz="1799" b="true">
                          <a:solidFill>
                            <a:srgbClr val="000000"/>
                          </a:solidFill>
                          <a:latin typeface="Muli Bold Bold"/>
                          <a:ea typeface="Muli Bold Bold"/>
                          <a:cs typeface="Muli Bold Bold"/>
                          <a:sym typeface="Muli Bold Bold"/>
                        </a:rPr>
                        <a:t>Cấu trúc phân chia công việc  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99"/>
                        </a:lnSpc>
                        <a:defRPr/>
                      </a:pPr>
                      <a:r>
                        <a:rPr lang="en-US" sz="1799" b="true">
                          <a:solidFill>
                            <a:srgbClr val="000000"/>
                          </a:solidFill>
                          <a:latin typeface="Muli Bold Bold"/>
                          <a:ea typeface="Muli Bold Bold"/>
                          <a:cs typeface="Muli Bold Bold"/>
                          <a:sym typeface="Muli Bold Bold"/>
                        </a:rPr>
                        <a:t>Đơn vị/giờ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99"/>
                        </a:lnSpc>
                        <a:defRPr/>
                      </a:pPr>
                      <a:r>
                        <a:rPr lang="en-US" sz="1799" b="true">
                          <a:solidFill>
                            <a:srgbClr val="000000"/>
                          </a:solidFill>
                          <a:latin typeface="Muli Bold Bold"/>
                          <a:ea typeface="Muli Bold Bold"/>
                          <a:cs typeface="Muli Bold Bold"/>
                          <a:sym typeface="Muli Bold Bold"/>
                        </a:rPr>
                        <a:t>Chi phí/đơn vị/giờ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99"/>
                        </a:lnSpc>
                        <a:defRPr/>
                      </a:pPr>
                      <a:r>
                        <a:rPr lang="en-US" sz="1799" b="true">
                          <a:solidFill>
                            <a:srgbClr val="000000"/>
                          </a:solidFill>
                          <a:latin typeface="Muli Bold Bold"/>
                          <a:ea typeface="Muli Bold Bold"/>
                          <a:cs typeface="Muli Bold Bold"/>
                          <a:sym typeface="Muli Bold Bold"/>
                        </a:rPr>
                        <a:t>Tổng phụ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99"/>
                        </a:lnSpc>
                        <a:defRPr/>
                      </a:pPr>
                      <a:r>
                        <a:rPr lang="en-US" sz="1799" b="true">
                          <a:solidFill>
                            <a:srgbClr val="000000"/>
                          </a:solidFill>
                          <a:latin typeface="Muli Bold Bold"/>
                          <a:ea typeface="Muli Bold Bold"/>
                          <a:cs typeface="Muli Bold Bold"/>
                          <a:sym typeface="Muli Bold Bold"/>
                        </a:rPr>
                        <a:t>Tổng cấu trúc phân chia công việc cấp 2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99"/>
                        </a:lnSpc>
                        <a:defRPr/>
                      </a:pPr>
                      <a:r>
                        <a:rPr lang="en-US" sz="1799" b="true">
                          <a:solidFill>
                            <a:srgbClr val="000000"/>
                          </a:solidFill>
                          <a:latin typeface="Muli Bold Bold"/>
                          <a:ea typeface="Muli Bold Bold"/>
                          <a:cs typeface="Muli Bold Bold"/>
                          <a:sym typeface="Muli Bold Bold"/>
                        </a:rPr>
                        <a:t>% của tổng  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55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Muli Bold Bold"/>
                          <a:ea typeface="Muli Bold Bold"/>
                          <a:cs typeface="Muli Bold Bold"/>
                          <a:sym typeface="Muli Bold Bold"/>
                        </a:rPr>
                        <a:t>1.Quản trị  dự án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endParaRPr lang="en-US" sz="1100"/>
                    </a:p>
                  </a:txBody>
                  <a:tcPr marL="38100" marR="38100" marT="38100" marB="381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endParaRPr lang="en-US" sz="1100"/>
                    </a:p>
                  </a:txBody>
                  <a:tcPr marL="38100" marR="38100" marT="38100" marB="381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endParaRPr lang="en-US" sz="1100"/>
                    </a:p>
                  </a:txBody>
                  <a:tcPr marL="38100" marR="38100" marT="38100" marB="381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Muli Regular"/>
                          <a:ea typeface="Muli Regular"/>
                          <a:cs typeface="Muli Regular"/>
                          <a:sym typeface="Muli Regular"/>
                        </a:rPr>
                        <a:t>230 097 732.2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Muli Regular"/>
                          <a:ea typeface="Muli Regular"/>
                          <a:cs typeface="Muli Regular"/>
                          <a:sym typeface="Muli Regular"/>
                        </a:rPr>
                        <a:t>33%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712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Muli Regular Bold"/>
                          <a:ea typeface="Muli Regular Bold"/>
                          <a:cs typeface="Muli Regular Bold"/>
                          <a:sym typeface="Muli Regular Bold"/>
                        </a:rPr>
                        <a:t>Người quản lí dự án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Muli Regular"/>
                          <a:ea typeface="Muli Regular"/>
                          <a:cs typeface="Muli Regular"/>
                          <a:sym typeface="Muli Regular"/>
                        </a:rPr>
                        <a:t>16 262 216.53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Muli Regular"/>
                          <a:ea typeface="Muli Regular"/>
                          <a:cs typeface="Muli Regular"/>
                          <a:sym typeface="Muli Regular"/>
                        </a:rPr>
                        <a:t>8</a:t>
                      </a:r>
                      <a:endParaRPr lang="en-US" sz="1100"/>
                    </a:p>
                    <a:p>
                      <a:pPr algn="l">
                        <a:lnSpc>
                          <a:spcPts val="2239"/>
                        </a:lnSpc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Muli Regular"/>
                          <a:ea typeface="Muli Regular"/>
                          <a:cs typeface="Muli Regular"/>
                          <a:sym typeface="Muli Regular"/>
                        </a:rPr>
                        <a:t>  </a:t>
                      </a:r>
                    </a:p>
                  </a:txBody>
                  <a:tcPr marL="38100" marR="38100" marT="38100" marB="381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Muli Regular"/>
                          <a:ea typeface="Muli Regular"/>
                          <a:cs typeface="Muli Regular"/>
                          <a:sym typeface="Muli Regular"/>
                        </a:rPr>
                        <a:t>130 097 732.2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endParaRPr lang="en-US" sz="1100"/>
                    </a:p>
                  </a:txBody>
                  <a:tcPr marL="38100" marR="38100" marT="38100" marB="381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endParaRPr lang="en-US" sz="1100"/>
                    </a:p>
                  </a:txBody>
                  <a:tcPr marL="38100" marR="38100" marT="38100" marB="381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55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Muli Regular Bold"/>
                          <a:ea typeface="Muli Regular Bold"/>
                          <a:cs typeface="Muli Regular Bold"/>
                          <a:sym typeface="Muli Regular Bold"/>
                        </a:rPr>
                        <a:t>Đội ngũ quản lí dự án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Muli Regular"/>
                          <a:ea typeface="Muli Regular"/>
                          <a:cs typeface="Muli Regular"/>
                          <a:sym typeface="Muli Regular"/>
                        </a:rPr>
                        <a:t>15 000 000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Muli Regular"/>
                          <a:ea typeface="Muli Regular"/>
                          <a:cs typeface="Muli Regular"/>
                          <a:sym typeface="Muli Regular"/>
                        </a:rPr>
                        <a:t>8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Muli Regular"/>
                          <a:ea typeface="Muli Regular"/>
                          <a:cs typeface="Muli Regular"/>
                          <a:sym typeface="Muli Regular"/>
                        </a:rPr>
                        <a:t>100 000 000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endParaRPr lang="en-US" sz="1100"/>
                    </a:p>
                  </a:txBody>
                  <a:tcPr marL="38100" marR="38100" marT="38100" marB="381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endParaRPr lang="en-US" sz="1100"/>
                    </a:p>
                  </a:txBody>
                  <a:tcPr marL="38100" marR="38100" marT="38100" marB="381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55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Muli Bold Bold"/>
                          <a:ea typeface="Muli Bold Bold"/>
                          <a:cs typeface="Muli Bold Bold"/>
                          <a:sym typeface="Muli Bold Bold"/>
                        </a:rPr>
                        <a:t>2.Phần cứng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endParaRPr lang="en-US" sz="1100"/>
                    </a:p>
                  </a:txBody>
                  <a:tcPr marL="38100" marR="38100" marT="38100" marB="381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endParaRPr lang="en-US" sz="1100"/>
                    </a:p>
                  </a:txBody>
                  <a:tcPr marL="38100" marR="38100" marT="38100" marB="381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endParaRPr lang="en-US" sz="1100"/>
                    </a:p>
                  </a:txBody>
                  <a:tcPr marL="38100" marR="38100" marT="38100" marB="381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Muli Regular"/>
                          <a:ea typeface="Muli Regular"/>
                          <a:cs typeface="Muli Regular"/>
                          <a:sym typeface="Muli Regular"/>
                        </a:rPr>
                        <a:t>48 808 609.85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Muli Regular"/>
                          <a:ea typeface="Muli Regular"/>
                          <a:cs typeface="Muli Regular"/>
                          <a:sym typeface="Muli Regular"/>
                        </a:rPr>
                        <a:t>7%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55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Muli Regular Bold"/>
                          <a:ea typeface="Muli Regular Bold"/>
                          <a:cs typeface="Muli Regular Bold"/>
                          <a:sym typeface="Muli Regular Bold"/>
                        </a:rPr>
                        <a:t>Thiết bị cầm tay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Muli Regular"/>
                          <a:ea typeface="Muli Regular"/>
                          <a:cs typeface="Muli Regular"/>
                          <a:sym typeface="Muli Regular"/>
                        </a:rPr>
                        <a:t>2 000 000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Muli Regular"/>
                          <a:ea typeface="Muli Regular"/>
                          <a:cs typeface="Muli Regular"/>
                          <a:sym typeface="Muli Regular"/>
                        </a:rPr>
                        <a:t>5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Muli Regular"/>
                          <a:ea typeface="Muli Regular"/>
                          <a:cs typeface="Muli Regular"/>
                          <a:sym typeface="Muli Regular"/>
                        </a:rPr>
                        <a:t>10 000 000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endParaRPr lang="en-US" sz="1100"/>
                    </a:p>
                  </a:txBody>
                  <a:tcPr marL="38100" marR="38100" marT="38100" marB="381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endParaRPr lang="en-US" sz="1100"/>
                    </a:p>
                  </a:txBody>
                  <a:tcPr marL="38100" marR="38100" marT="38100" marB="381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55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Muli Regular Bold"/>
                          <a:ea typeface="Muli Regular Bold"/>
                          <a:cs typeface="Muli Regular Bold"/>
                          <a:sym typeface="Muli Regular Bold"/>
                        </a:rPr>
                        <a:t>Server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Muli Regular"/>
                          <a:ea typeface="Muli Regular"/>
                          <a:cs typeface="Muli Regular"/>
                          <a:sym typeface="Muli Regular"/>
                        </a:rPr>
                        <a:t>194 043 049.3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Muli Regular"/>
                          <a:ea typeface="Muli Regular"/>
                          <a:cs typeface="Muli Regular"/>
                          <a:sym typeface="Muli Regular"/>
                        </a:rPr>
                        <a:t>20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Muli Regular"/>
                          <a:ea typeface="Muli Regular"/>
                          <a:cs typeface="Muli Regular"/>
                          <a:sym typeface="Muli Regular"/>
                        </a:rPr>
                        <a:t>38 808 609.85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endParaRPr lang="en-US" sz="1100"/>
                    </a:p>
                  </a:txBody>
                  <a:tcPr marL="38100" marR="38100" marT="38100" marB="381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endParaRPr lang="en-US" sz="1100"/>
                    </a:p>
                  </a:txBody>
                  <a:tcPr marL="38100" marR="38100" marT="38100" marB="381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55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Muli Bold Bold"/>
                          <a:ea typeface="Muli Bold Bold"/>
                          <a:cs typeface="Muli Bold Bold"/>
                          <a:sym typeface="Muli Bold Bold"/>
                        </a:rPr>
                        <a:t>3.Phần mềm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endParaRPr lang="en-US" sz="1100"/>
                    </a:p>
                  </a:txBody>
                  <a:tcPr marL="38100" marR="38100" marT="38100" marB="381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endParaRPr lang="en-US" sz="1100"/>
                    </a:p>
                  </a:txBody>
                  <a:tcPr marL="38100" marR="38100" marT="38100" marB="381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endParaRPr lang="en-US" sz="1100"/>
                    </a:p>
                  </a:txBody>
                  <a:tcPr marL="38100" marR="38100" marT="38100" marB="381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Muli Regular"/>
                          <a:ea typeface="Muli Regular"/>
                          <a:cs typeface="Muli Regular"/>
                          <a:sym typeface="Muli Regular"/>
                        </a:rPr>
                        <a:t>174 316 463.8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Muli Regular"/>
                          <a:ea typeface="Muli Regular"/>
                          <a:cs typeface="Muli Regular"/>
                          <a:sym typeface="Muli Regular"/>
                        </a:rPr>
                        <a:t>25%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55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Muli Regular Bold"/>
                          <a:ea typeface="Muli Regular Bold"/>
                          <a:cs typeface="Muli Regular Bold"/>
                          <a:sym typeface="Muli Regular Bold"/>
                        </a:rPr>
                        <a:t>Phần mềm được cấp phép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Muli Regular"/>
                          <a:ea typeface="Muli Regular"/>
                          <a:cs typeface="Muli Regular"/>
                          <a:sym typeface="Muli Regular"/>
                        </a:rPr>
                        <a:t>928 955.7975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Muli Regular"/>
                          <a:ea typeface="Muli Regular"/>
                          <a:cs typeface="Muli Regular"/>
                          <a:sym typeface="Muli Regular"/>
                        </a:rPr>
                        <a:t>80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Muli Regular"/>
                          <a:ea typeface="Muli Regular"/>
                          <a:cs typeface="Muli Regular"/>
                          <a:sym typeface="Muli Regular"/>
                        </a:rPr>
                        <a:t>74 316 463.8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endParaRPr lang="en-US" sz="1100"/>
                    </a:p>
                  </a:txBody>
                  <a:tcPr marL="38100" marR="38100" marT="38100" marB="381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endParaRPr lang="en-US" sz="1100"/>
                    </a:p>
                  </a:txBody>
                  <a:tcPr marL="38100" marR="38100" marT="38100" marB="381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55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Muli Regular Bold"/>
                          <a:ea typeface="Muli Regular Bold"/>
                          <a:cs typeface="Muli Regular Bold"/>
                          <a:sym typeface="Muli Regular Bold"/>
                        </a:rPr>
                        <a:t>Nhà phát triển phần mềm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endParaRPr lang="en-US" sz="1100"/>
                    </a:p>
                  </a:txBody>
                  <a:tcPr marL="38100" marR="38100" marT="38100" marB="381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endParaRPr lang="en-US" sz="1100"/>
                    </a:p>
                  </a:txBody>
                  <a:tcPr marL="38100" marR="38100" marT="38100" marB="381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Muli Regular"/>
                          <a:ea typeface="Muli Regular"/>
                          <a:cs typeface="Muli Regular"/>
                          <a:sym typeface="Muli Regular"/>
                        </a:rPr>
                        <a:t>100 000 000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endParaRPr lang="en-US" sz="1100"/>
                    </a:p>
                  </a:txBody>
                  <a:tcPr marL="38100" marR="38100" marT="38100" marB="381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endParaRPr lang="en-US" sz="1100"/>
                    </a:p>
                  </a:txBody>
                  <a:tcPr marL="38100" marR="38100" marT="38100" marB="381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712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Muli Bold Bold"/>
                          <a:ea typeface="Muli Bold Bold"/>
                          <a:cs typeface="Muli Bold Bold"/>
                          <a:sym typeface="Muli Bold Bold"/>
                        </a:rPr>
                        <a:t>4.Kiểm thử (10% chi phí phần cứng và phần mềm)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endParaRPr lang="en-US" sz="1100"/>
                    </a:p>
                  </a:txBody>
                  <a:tcPr marL="38100" marR="38100" marT="38100" marB="381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endParaRPr lang="en-US" sz="1100"/>
                    </a:p>
                  </a:txBody>
                  <a:tcPr marL="38100" marR="38100" marT="38100" marB="381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Muli Regular"/>
                          <a:ea typeface="Muli Regular"/>
                          <a:cs typeface="Muli Regular"/>
                          <a:sym typeface="Muli Regular"/>
                        </a:rPr>
                        <a:t>13 945 317.1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Muli Regular"/>
                          <a:ea typeface="Muli Regular"/>
                          <a:cs typeface="Muli Regular"/>
                          <a:sym typeface="Muli Regular"/>
                        </a:rPr>
                        <a:t>13 945 317.1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Muli Regular"/>
                          <a:ea typeface="Muli Regular"/>
                          <a:cs typeface="Muli Regular"/>
                          <a:sym typeface="Muli Regular"/>
                        </a:rPr>
                        <a:t>2% 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55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Muli Bold Bold"/>
                          <a:ea typeface="Muli Bold Bold"/>
                          <a:cs typeface="Muli Bold Bold"/>
                          <a:sym typeface="Muli Bold Bold"/>
                        </a:rPr>
                        <a:t>5.Đào tạo và hỗ trợ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endParaRPr lang="en-US" sz="1100"/>
                    </a:p>
                  </a:txBody>
                  <a:tcPr marL="38100" marR="38100" marT="38100" marB="381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endParaRPr lang="en-US" sz="1100"/>
                    </a:p>
                  </a:txBody>
                  <a:tcPr marL="38100" marR="38100" marT="38100" marB="381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endParaRPr lang="en-US" sz="1100"/>
                    </a:p>
                  </a:txBody>
                  <a:tcPr marL="38100" marR="38100" marT="38100" marB="381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Muli Regular"/>
                          <a:ea typeface="Muli Regular"/>
                          <a:cs typeface="Muli Regular"/>
                          <a:sym typeface="Muli Regular"/>
                        </a:rPr>
                        <a:t>139 453 171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Muli Regular"/>
                          <a:ea typeface="Muli Regular"/>
                          <a:cs typeface="Muli Regular"/>
                          <a:sym typeface="Muli Regular"/>
                        </a:rPr>
                        <a:t>20%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55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Muli Regular Bold"/>
                          <a:ea typeface="Muli Regular Bold"/>
                          <a:cs typeface="Muli Regular Bold"/>
                          <a:sym typeface="Muli Regular Bold"/>
                        </a:rPr>
                        <a:t>Chi phí đào tạo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Muli Regular"/>
                          <a:ea typeface="Muli Regular"/>
                          <a:cs typeface="Muli Regular"/>
                          <a:sym typeface="Muli Regular"/>
                        </a:rPr>
                        <a:t>10 000 000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Muli Regular"/>
                          <a:ea typeface="Muli Regular"/>
                          <a:cs typeface="Muli Regular"/>
                          <a:sym typeface="Muli Regular"/>
                        </a:rPr>
                        <a:t>5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Muli Regular"/>
                          <a:ea typeface="Muli Regular"/>
                          <a:cs typeface="Muli Regular"/>
                          <a:sym typeface="Muli Regular"/>
                        </a:rPr>
                        <a:t>50 000 000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endParaRPr lang="en-US" sz="1100"/>
                    </a:p>
                  </a:txBody>
                  <a:tcPr marL="38100" marR="38100" marT="38100" marB="381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endParaRPr lang="en-US" sz="1100"/>
                    </a:p>
                  </a:txBody>
                  <a:tcPr marL="38100" marR="38100" marT="38100" marB="381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55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Muli Regular Bold"/>
                          <a:ea typeface="Muli Regular Bold"/>
                          <a:cs typeface="Muli Regular Bold"/>
                          <a:sym typeface="Muli Regular Bold"/>
                        </a:rPr>
                        <a:t>Chi phí đi lại 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Muli Regular"/>
                          <a:ea typeface="Muli Regular"/>
                          <a:cs typeface="Muli Regular"/>
                          <a:sym typeface="Muli Regular"/>
                        </a:rPr>
                        <a:t>1 315 105.7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Muli Regular"/>
                          <a:ea typeface="Muli Regular"/>
                          <a:cs typeface="Muli Regular"/>
                          <a:sym typeface="Muli Regular"/>
                        </a:rPr>
                        <a:t>30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Muli Regular"/>
                          <a:ea typeface="Muli Regular"/>
                          <a:cs typeface="Muli Regular"/>
                          <a:sym typeface="Muli Regular"/>
                        </a:rPr>
                        <a:t>39 453 171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endParaRPr lang="en-US" sz="1100"/>
                    </a:p>
                  </a:txBody>
                  <a:tcPr marL="38100" marR="38100" marT="38100" marB="381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endParaRPr lang="en-US" sz="1100"/>
                    </a:p>
                  </a:txBody>
                  <a:tcPr marL="38100" marR="38100" marT="38100" marB="381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55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Muli Regular Bold"/>
                          <a:ea typeface="Muli Regular Bold"/>
                          <a:cs typeface="Muli Regular Bold"/>
                          <a:sym typeface="Muli Regular Bold"/>
                        </a:rPr>
                        <a:t>Thành viên dự án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Muli Regular"/>
                          <a:ea typeface="Muli Regular"/>
                          <a:cs typeface="Muli Regular"/>
                          <a:sym typeface="Muli Regular"/>
                        </a:rPr>
                        <a:t>1</a:t>
                      </a:r>
                      <a:r>
                        <a:rPr lang="en-US" sz="1599">
                          <a:solidFill>
                            <a:srgbClr val="000000"/>
                          </a:solidFill>
                          <a:latin typeface="Muli Regular"/>
                          <a:ea typeface="Muli Regular"/>
                          <a:cs typeface="Muli Regular"/>
                          <a:sym typeface="Muli Regular"/>
                        </a:rPr>
                        <a:t>0 000 000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Muli Regular"/>
                          <a:ea typeface="Muli Regular"/>
                          <a:cs typeface="Muli Regular"/>
                          <a:sym typeface="Muli Regular"/>
                        </a:rPr>
                        <a:t>5 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Muli Regular"/>
                          <a:ea typeface="Muli Regular"/>
                          <a:cs typeface="Muli Regular"/>
                          <a:sym typeface="Muli Regular"/>
                        </a:rPr>
                        <a:t>50 000 000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endParaRPr lang="en-US" sz="1100"/>
                    </a:p>
                  </a:txBody>
                  <a:tcPr marL="38100" marR="38100" marT="38100" marB="381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endParaRPr lang="en-US" sz="1100"/>
                    </a:p>
                  </a:txBody>
                  <a:tcPr marL="38100" marR="38100" marT="38100" marB="381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55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Muli Bold Bold"/>
                          <a:ea typeface="Muli Bold Bold"/>
                          <a:cs typeface="Muli Bold Bold"/>
                          <a:sym typeface="Muli Bold Bold"/>
                        </a:rPr>
                        <a:t>6.Dự phòng (12% tổng dự kiến) 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endParaRPr lang="en-US" sz="1100"/>
                    </a:p>
                  </a:txBody>
                  <a:tcPr marL="38100" marR="38100" marT="38100" marB="381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endParaRPr lang="en-US" sz="1100"/>
                    </a:p>
                  </a:txBody>
                  <a:tcPr marL="38100" marR="38100" marT="38100" marB="381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Muli Regular"/>
                          <a:ea typeface="Muli Regular"/>
                          <a:cs typeface="Muli Regular"/>
                          <a:sym typeface="Muli Regular"/>
                        </a:rPr>
                        <a:t>83 671 902.6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Muli Regular"/>
                          <a:ea typeface="Muli Regular"/>
                          <a:cs typeface="Muli Regular"/>
                          <a:sym typeface="Muli Regular"/>
                        </a:rPr>
                        <a:t> 83 671 902.6 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Muli Regular"/>
                          <a:ea typeface="Muli Regular"/>
                          <a:cs typeface="Muli Regular"/>
                          <a:sym typeface="Muli Regular"/>
                        </a:rPr>
                        <a:t>12% 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55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Muli Bold Bold"/>
                          <a:ea typeface="Muli Bold Bold"/>
                          <a:cs typeface="Muli Bold Bold"/>
                          <a:sym typeface="Muli Bold Bold"/>
                        </a:rPr>
                        <a:t>Tổng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endParaRPr lang="en-US" sz="1100"/>
                    </a:p>
                  </a:txBody>
                  <a:tcPr marL="38100" marR="38100" marT="38100" marB="381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endParaRPr lang="en-US" sz="1100"/>
                    </a:p>
                  </a:txBody>
                  <a:tcPr marL="38100" marR="38100" marT="38100" marB="381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endParaRPr lang="en-US" sz="1100"/>
                    </a:p>
                  </a:txBody>
                  <a:tcPr marL="38100" marR="38100" marT="38100" marB="381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Muli Bold Bold"/>
                          <a:ea typeface="Muli Bold Bold"/>
                          <a:cs typeface="Muli Bold Bold"/>
                          <a:sym typeface="Muli Bold Bold"/>
                        </a:rPr>
                        <a:t>697 265 855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endParaRPr lang="en-US" sz="1100"/>
                    </a:p>
                  </a:txBody>
                  <a:tcPr marL="38100" marR="38100" marT="38100" marB="381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9" id="9"/>
          <p:cNvSpPr txBox="true"/>
          <p:nvPr/>
        </p:nvSpPr>
        <p:spPr>
          <a:xfrm rot="0">
            <a:off x="15700251" y="1965915"/>
            <a:ext cx="1604516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2C2C2C"/>
                </a:solidFill>
                <a:latin typeface="Muli Bold Bold"/>
                <a:ea typeface="Muli Bold Bold"/>
                <a:cs typeface="Muli Bold Bold"/>
                <a:sym typeface="Muli Bold Bold"/>
              </a:rPr>
              <a:t>Đơn vị: Đồng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825414">
            <a:off x="1051579" y="-232693"/>
            <a:ext cx="4586848" cy="4870205"/>
          </a:xfrm>
          <a:custGeom>
            <a:avLst/>
            <a:gdLst/>
            <a:ahLst/>
            <a:cxnLst/>
            <a:rect r="r" b="b" t="t" l="l"/>
            <a:pathLst>
              <a:path h="4870205" w="4586848">
                <a:moveTo>
                  <a:pt x="0" y="0"/>
                </a:moveTo>
                <a:lnTo>
                  <a:pt x="4586847" y="0"/>
                </a:lnTo>
                <a:lnTo>
                  <a:pt x="4586847" y="4870205"/>
                </a:lnTo>
                <a:lnTo>
                  <a:pt x="0" y="48702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554710"/>
            <a:ext cx="11588248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200"/>
              </a:lnSpc>
              <a:spcBef>
                <a:spcPct val="0"/>
              </a:spcBef>
            </a:pPr>
            <a:r>
              <a:rPr lang="en-US" sz="8500">
                <a:solidFill>
                  <a:srgbClr val="2C2C2C"/>
                </a:solidFill>
                <a:latin typeface="Muli Black"/>
                <a:ea typeface="Muli Black"/>
                <a:cs typeface="Muli Black"/>
                <a:sym typeface="Muli Black"/>
              </a:rPr>
              <a:t>Quản lý rủi ro</a:t>
            </a:r>
          </a:p>
        </p:txBody>
      </p:sp>
      <p:sp>
        <p:nvSpPr>
          <p:cNvPr name="AutoShape 4" id="4"/>
          <p:cNvSpPr/>
          <p:nvPr/>
        </p:nvSpPr>
        <p:spPr>
          <a:xfrm>
            <a:off x="-408731" y="985838"/>
            <a:ext cx="18875389" cy="0"/>
          </a:xfrm>
          <a:prstGeom prst="line">
            <a:avLst/>
          </a:prstGeom>
          <a:ln cap="flat" w="9525">
            <a:solidFill>
              <a:srgbClr val="2C2C2C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7713831" y="4375131"/>
            <a:ext cx="9030007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2C2C2C"/>
                </a:solidFill>
                <a:latin typeface="Muli Regular"/>
                <a:ea typeface="Muli Regular"/>
                <a:cs typeface="Muli Regular"/>
                <a:sym typeface="Muli Regular"/>
              </a:rPr>
              <a:t>Nhân viên phá vỡ hợp đồng hoặc có công </a:t>
            </a:r>
            <a:r>
              <a:rPr lang="en-US" sz="2999">
                <a:solidFill>
                  <a:srgbClr val="2C2C2C"/>
                </a:solidFill>
                <a:latin typeface="Muli Regular"/>
                <a:ea typeface="Muli Regular"/>
                <a:cs typeface="Muli Regular"/>
                <a:sym typeface="Muli Regular"/>
              </a:rPr>
              <a:t>việc xin rút khỏi trong quá trình thực hiện dự án.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2487888">
            <a:off x="6736901" y="4378932"/>
            <a:ext cx="705746" cy="712221"/>
          </a:xfrm>
          <a:custGeom>
            <a:avLst/>
            <a:gdLst/>
            <a:ahLst/>
            <a:cxnLst/>
            <a:rect r="r" b="b" t="t" l="l"/>
            <a:pathLst>
              <a:path h="712221" w="705746">
                <a:moveTo>
                  <a:pt x="0" y="0"/>
                </a:moveTo>
                <a:lnTo>
                  <a:pt x="705746" y="0"/>
                </a:lnTo>
                <a:lnTo>
                  <a:pt x="705746" y="712221"/>
                </a:lnTo>
                <a:lnTo>
                  <a:pt x="0" y="7122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490717" y="4505585"/>
            <a:ext cx="2741210" cy="609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32"/>
              </a:lnSpc>
            </a:pPr>
            <a:r>
              <a:rPr lang="en-US" sz="3793" b="true">
                <a:solidFill>
                  <a:srgbClr val="2C2C2C"/>
                </a:solidFill>
                <a:latin typeface="Muli Bold Bold"/>
                <a:ea typeface="Muli Bold Bold"/>
                <a:cs typeface="Muli Bold Bold"/>
                <a:sym typeface="Muli Bold Bold"/>
              </a:rPr>
              <a:t>Rủi ro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345002" y="7383553"/>
            <a:ext cx="2741210" cy="537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2"/>
              </a:lnSpc>
            </a:pPr>
            <a:r>
              <a:rPr lang="en-US" sz="3393" b="true">
                <a:solidFill>
                  <a:srgbClr val="2C2C2C"/>
                </a:solidFill>
                <a:latin typeface="Muli Bold Bold"/>
                <a:ea typeface="Muli Bold Bold"/>
                <a:cs typeface="Muli Bold Bold"/>
                <a:sym typeface="Muli Bold Bold"/>
              </a:rPr>
              <a:t>Giai đoạn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712680" y="5492479"/>
            <a:ext cx="8337771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2C2C2C"/>
                </a:solidFill>
                <a:latin typeface="Muli Regular"/>
                <a:ea typeface="Muli Regular"/>
                <a:cs typeface="Muli Regular"/>
                <a:sym typeface="Muli Regular"/>
              </a:rPr>
              <a:t>Dự án vi phạm về các vấn đề liên quan đến </a:t>
            </a:r>
            <a:r>
              <a:rPr lang="en-US" sz="2999">
                <a:solidFill>
                  <a:srgbClr val="2C2C2C"/>
                </a:solidFill>
                <a:latin typeface="Muli Regular"/>
                <a:ea typeface="Muli Regular"/>
                <a:cs typeface="Muli Regular"/>
                <a:sym typeface="Muli Regular"/>
              </a:rPr>
              <a:t>chính sách và pháp luật nhà nước.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2487888">
            <a:off x="6736901" y="5379960"/>
            <a:ext cx="705746" cy="712221"/>
          </a:xfrm>
          <a:custGeom>
            <a:avLst/>
            <a:gdLst/>
            <a:ahLst/>
            <a:cxnLst/>
            <a:rect r="r" b="b" t="t" l="l"/>
            <a:pathLst>
              <a:path h="712221" w="705746">
                <a:moveTo>
                  <a:pt x="0" y="0"/>
                </a:moveTo>
                <a:lnTo>
                  <a:pt x="705746" y="0"/>
                </a:lnTo>
                <a:lnTo>
                  <a:pt x="705746" y="712221"/>
                </a:lnTo>
                <a:lnTo>
                  <a:pt x="0" y="7122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028700" y="283887"/>
            <a:ext cx="5438168" cy="349143"/>
            <a:chOff x="0" y="0"/>
            <a:chExt cx="7250891" cy="46552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75907" cy="465525"/>
            </a:xfrm>
            <a:custGeom>
              <a:avLst/>
              <a:gdLst/>
              <a:ahLst/>
              <a:cxnLst/>
              <a:rect r="r" b="b" t="t" l="l"/>
              <a:pathLst>
                <a:path h="465525" w="575907">
                  <a:moveTo>
                    <a:pt x="0" y="0"/>
                  </a:moveTo>
                  <a:lnTo>
                    <a:pt x="575907" y="0"/>
                  </a:lnTo>
                  <a:lnTo>
                    <a:pt x="575907" y="465525"/>
                  </a:lnTo>
                  <a:lnTo>
                    <a:pt x="0" y="4655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 rot="0">
              <a:off x="838060" y="51788"/>
              <a:ext cx="6412831" cy="3333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>
                  <a:solidFill>
                    <a:srgbClr val="2C2C2C"/>
                  </a:solidFill>
                  <a:latin typeface="Muli Bold"/>
                  <a:ea typeface="Muli Bold"/>
                  <a:cs typeface="Muli Bold"/>
                  <a:sym typeface="Muli Bold"/>
                </a:rPr>
                <a:t>ĐẠI HỌC CÔNG NGHỆ THÔNG TIN - ĐHQGTPHCM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7712680" y="7364503"/>
            <a:ext cx="9030007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2C2C2C"/>
                </a:solidFill>
                <a:latin typeface="Muli Regular"/>
                <a:ea typeface="Muli Regular"/>
                <a:cs typeface="Muli Regular"/>
                <a:sym typeface="Muli Regular"/>
              </a:rPr>
              <a:t>Giai đoạn thiết kế hệ thống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2487888">
            <a:off x="6736901" y="7243343"/>
            <a:ext cx="705746" cy="712221"/>
          </a:xfrm>
          <a:custGeom>
            <a:avLst/>
            <a:gdLst/>
            <a:ahLst/>
            <a:cxnLst/>
            <a:rect r="r" b="b" t="t" l="l"/>
            <a:pathLst>
              <a:path h="712221" w="705746">
                <a:moveTo>
                  <a:pt x="0" y="0"/>
                </a:moveTo>
                <a:lnTo>
                  <a:pt x="705746" y="0"/>
                </a:lnTo>
                <a:lnTo>
                  <a:pt x="705746" y="712221"/>
                </a:lnTo>
                <a:lnTo>
                  <a:pt x="0" y="7122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712680" y="8477450"/>
            <a:ext cx="8337771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2C2C2C"/>
                </a:solidFill>
                <a:latin typeface="Muli Regular"/>
                <a:ea typeface="Muli Regular"/>
                <a:cs typeface="Muli Regular"/>
                <a:sym typeface="Muli Regular"/>
              </a:rPr>
              <a:t>Giai đoạn thu thập yêu cầu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2487888">
            <a:off x="6736901" y="8356290"/>
            <a:ext cx="705746" cy="712221"/>
          </a:xfrm>
          <a:custGeom>
            <a:avLst/>
            <a:gdLst/>
            <a:ahLst/>
            <a:cxnLst/>
            <a:rect r="r" b="b" t="t" l="l"/>
            <a:pathLst>
              <a:path h="712221" w="705746">
                <a:moveTo>
                  <a:pt x="0" y="0"/>
                </a:moveTo>
                <a:lnTo>
                  <a:pt x="705746" y="0"/>
                </a:lnTo>
                <a:lnTo>
                  <a:pt x="705746" y="712221"/>
                </a:lnTo>
                <a:lnTo>
                  <a:pt x="0" y="7122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646891"/>
            <a:ext cx="16795954" cy="9425887"/>
          </a:xfrm>
          <a:custGeom>
            <a:avLst/>
            <a:gdLst/>
            <a:ahLst/>
            <a:cxnLst/>
            <a:rect r="r" b="b" t="t" l="l"/>
            <a:pathLst>
              <a:path h="9425887" w="16795954">
                <a:moveTo>
                  <a:pt x="0" y="0"/>
                </a:moveTo>
                <a:lnTo>
                  <a:pt x="16795954" y="0"/>
                </a:lnTo>
                <a:lnTo>
                  <a:pt x="16795954" y="9425887"/>
                </a:lnTo>
                <a:lnTo>
                  <a:pt x="0" y="94258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657" b="-3879"/>
            </a:stretch>
          </a:blipFill>
        </p:spPr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953820"/>
            <a:ext cx="3563064" cy="634873"/>
          </a:xfrm>
          <a:custGeom>
            <a:avLst/>
            <a:gdLst/>
            <a:ahLst/>
            <a:cxnLst/>
            <a:rect r="r" b="b" t="t" l="l"/>
            <a:pathLst>
              <a:path h="634873" w="3563064">
                <a:moveTo>
                  <a:pt x="0" y="0"/>
                </a:moveTo>
                <a:lnTo>
                  <a:pt x="3563064" y="0"/>
                </a:lnTo>
                <a:lnTo>
                  <a:pt x="3563064" y="634873"/>
                </a:lnTo>
                <a:lnTo>
                  <a:pt x="0" y="6348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690232"/>
            <a:ext cx="8979406" cy="1152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000"/>
              </a:lnSpc>
              <a:spcBef>
                <a:spcPct val="0"/>
              </a:spcBef>
            </a:pPr>
            <a:r>
              <a:rPr lang="en-US" sz="7500">
                <a:solidFill>
                  <a:srgbClr val="2C2C2C"/>
                </a:solidFill>
                <a:latin typeface="Muli Bold"/>
                <a:ea typeface="Muli Bold"/>
                <a:cs typeface="Muli Bold"/>
                <a:sym typeface="Muli Bold"/>
              </a:rPr>
              <a:t>Hướng phát triển</a:t>
            </a:r>
          </a:p>
        </p:txBody>
      </p:sp>
      <p:sp>
        <p:nvSpPr>
          <p:cNvPr name="AutoShape 4" id="4"/>
          <p:cNvSpPr/>
          <p:nvPr/>
        </p:nvSpPr>
        <p:spPr>
          <a:xfrm rot="0">
            <a:off x="-408731" y="1193142"/>
            <a:ext cx="18875389" cy="0"/>
          </a:xfrm>
          <a:prstGeom prst="line">
            <a:avLst/>
          </a:prstGeom>
          <a:ln cap="flat" w="9525">
            <a:solidFill>
              <a:srgbClr val="2C2C2C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1445692" y="3063992"/>
            <a:ext cx="6097587" cy="5870815"/>
            <a:chOff x="0" y="0"/>
            <a:chExt cx="8130117" cy="7827753"/>
          </a:xfrm>
        </p:grpSpPr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4"/>
            <a:srcRect l="15400" t="0" r="15400" b="0"/>
            <a:stretch>
              <a:fillRect/>
            </a:stretch>
          </p:blipFill>
          <p:spPr>
            <a:xfrm flipH="false" flipV="false">
              <a:off x="0" y="0"/>
              <a:ext cx="8130117" cy="7827753"/>
            </a:xfrm>
            <a:prstGeom prst="rect">
              <a:avLst/>
            </a:prstGeom>
          </p:spPr>
        </p:pic>
      </p:grpSp>
      <p:sp>
        <p:nvSpPr>
          <p:cNvPr name="TextBox 7" id="7"/>
          <p:cNvSpPr txBox="true"/>
          <p:nvPr/>
        </p:nvSpPr>
        <p:spPr>
          <a:xfrm rot="0">
            <a:off x="1028700" y="5060629"/>
            <a:ext cx="4326423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1028700" y="426762"/>
            <a:ext cx="5438168" cy="349143"/>
            <a:chOff x="0" y="0"/>
            <a:chExt cx="7250891" cy="46552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75907" cy="465525"/>
            </a:xfrm>
            <a:custGeom>
              <a:avLst/>
              <a:gdLst/>
              <a:ahLst/>
              <a:cxnLst/>
              <a:rect r="r" b="b" t="t" l="l"/>
              <a:pathLst>
                <a:path h="465525" w="575907">
                  <a:moveTo>
                    <a:pt x="0" y="0"/>
                  </a:moveTo>
                  <a:lnTo>
                    <a:pt x="575907" y="0"/>
                  </a:lnTo>
                  <a:lnTo>
                    <a:pt x="575907" y="465525"/>
                  </a:lnTo>
                  <a:lnTo>
                    <a:pt x="0" y="4655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 rot="0">
              <a:off x="838060" y="51788"/>
              <a:ext cx="6412831" cy="3333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>
                  <a:solidFill>
                    <a:srgbClr val="2C2C2C"/>
                  </a:solidFill>
                  <a:latin typeface="Muli Bold"/>
                  <a:ea typeface="Muli Bold"/>
                  <a:cs typeface="Muli Bold"/>
                  <a:sym typeface="Muli Bold"/>
                </a:rPr>
                <a:t>ĐẠI HỌC CÔNG NGHỆ THÔNG TIN - ĐHQGTPHCM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689389" y="3814307"/>
            <a:ext cx="7658027" cy="3973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46" indent="-377823" lvl="1">
              <a:lnSpc>
                <a:spcPts val="6439"/>
              </a:lnSpc>
              <a:buFont typeface="Arial"/>
              <a:buChar char="•"/>
            </a:pPr>
            <a:r>
              <a:rPr lang="en-US" sz="3499" spc="27">
                <a:solidFill>
                  <a:srgbClr val="2C2C2C"/>
                </a:solidFill>
                <a:latin typeface="Muli Regular"/>
                <a:ea typeface="Muli Regular"/>
                <a:cs typeface="Muli Regular"/>
                <a:sym typeface="Muli Regular"/>
              </a:rPr>
              <a:t>TÍch hợp tính năng mở rộng</a:t>
            </a:r>
          </a:p>
          <a:p>
            <a:pPr algn="l" marL="755646" indent="-377823" lvl="1">
              <a:lnSpc>
                <a:spcPts val="6439"/>
              </a:lnSpc>
              <a:buFont typeface="Arial"/>
              <a:buChar char="•"/>
            </a:pPr>
            <a:r>
              <a:rPr lang="en-US" sz="3499" spc="27">
                <a:solidFill>
                  <a:srgbClr val="2C2C2C"/>
                </a:solidFill>
                <a:latin typeface="Muli Regular"/>
                <a:ea typeface="Muli Regular"/>
                <a:cs typeface="Muli Regular"/>
                <a:sym typeface="Muli Regular"/>
              </a:rPr>
              <a:t>Nâng cao giao diện người dùng và hiệu suất hệ thống</a:t>
            </a:r>
          </a:p>
          <a:p>
            <a:pPr algn="l" marL="755646" indent="-377823" lvl="1">
              <a:lnSpc>
                <a:spcPts val="6439"/>
              </a:lnSpc>
              <a:buFont typeface="Arial"/>
              <a:buChar char="•"/>
            </a:pPr>
            <a:r>
              <a:rPr lang="en-US" sz="3499" spc="27">
                <a:solidFill>
                  <a:srgbClr val="2C2C2C"/>
                </a:solidFill>
                <a:latin typeface="Muli Regular"/>
                <a:ea typeface="Muli Regular"/>
                <a:cs typeface="Muli Regular"/>
                <a:sym typeface="Muli Regular"/>
              </a:rPr>
              <a:t>Áp dụng công nghệ mới để tăng tính bảo mật và đáng tin cậy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1202667"/>
            <a:ext cx="18288000" cy="9084333"/>
          </a:xfrm>
          <a:prstGeom prst="rect">
            <a:avLst/>
          </a:prstGeom>
          <a:solidFill>
            <a:srgbClr val="EDF0F2"/>
          </a:solidFill>
        </p:spPr>
      </p:sp>
      <p:sp>
        <p:nvSpPr>
          <p:cNvPr name="Freeform 3" id="3"/>
          <p:cNvSpPr/>
          <p:nvPr/>
        </p:nvSpPr>
        <p:spPr>
          <a:xfrm flipH="false" flipV="false" rot="2825414">
            <a:off x="6858046" y="3013597"/>
            <a:ext cx="4341836" cy="4610057"/>
          </a:xfrm>
          <a:custGeom>
            <a:avLst/>
            <a:gdLst/>
            <a:ahLst/>
            <a:cxnLst/>
            <a:rect r="r" b="b" t="t" l="l"/>
            <a:pathLst>
              <a:path h="4610057" w="4341836">
                <a:moveTo>
                  <a:pt x="0" y="0"/>
                </a:moveTo>
                <a:lnTo>
                  <a:pt x="4341836" y="0"/>
                </a:lnTo>
                <a:lnTo>
                  <a:pt x="4341836" y="4610057"/>
                </a:lnTo>
                <a:lnTo>
                  <a:pt x="0" y="46100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 rot="0">
            <a:off x="-408731" y="1193142"/>
            <a:ext cx="18875389" cy="0"/>
          </a:xfrm>
          <a:prstGeom prst="line">
            <a:avLst/>
          </a:prstGeom>
          <a:ln cap="flat" w="9525">
            <a:solidFill>
              <a:srgbClr val="2C2C2C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028700" y="426762"/>
            <a:ext cx="5438168" cy="349143"/>
            <a:chOff x="0" y="0"/>
            <a:chExt cx="7250891" cy="4655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75907" cy="465525"/>
            </a:xfrm>
            <a:custGeom>
              <a:avLst/>
              <a:gdLst/>
              <a:ahLst/>
              <a:cxnLst/>
              <a:rect r="r" b="b" t="t" l="l"/>
              <a:pathLst>
                <a:path h="465525" w="575907">
                  <a:moveTo>
                    <a:pt x="0" y="0"/>
                  </a:moveTo>
                  <a:lnTo>
                    <a:pt x="575907" y="0"/>
                  </a:lnTo>
                  <a:lnTo>
                    <a:pt x="575907" y="465525"/>
                  </a:lnTo>
                  <a:lnTo>
                    <a:pt x="0" y="4655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 rot="0">
              <a:off x="838060" y="51788"/>
              <a:ext cx="6412831" cy="3333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>
                  <a:solidFill>
                    <a:srgbClr val="2C2C2C"/>
                  </a:solidFill>
                  <a:latin typeface="Muli Bold"/>
                  <a:ea typeface="Muli Bold"/>
                  <a:cs typeface="Muli Bold"/>
                  <a:sym typeface="Muli Bold"/>
                </a:rPr>
                <a:t>ĐẠI HỌC CÔNG NGHỆ THÔNG TIN - ĐHQGTPHCM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689034" y="4672928"/>
            <a:ext cx="8909931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200"/>
              </a:lnSpc>
              <a:spcBef>
                <a:spcPct val="0"/>
              </a:spcBef>
            </a:pPr>
            <a:r>
              <a:rPr lang="en-US" sz="8500">
                <a:solidFill>
                  <a:srgbClr val="2C2C2C"/>
                </a:solidFill>
                <a:latin typeface="Muli Black"/>
                <a:ea typeface="Muli Black"/>
                <a:cs typeface="Muli Black"/>
                <a:sym typeface="Muli Black"/>
              </a:rPr>
              <a:t>Demo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1202667"/>
            <a:ext cx="18288000" cy="9084333"/>
          </a:xfrm>
          <a:prstGeom prst="rect">
            <a:avLst/>
          </a:prstGeom>
          <a:solidFill>
            <a:srgbClr val="EDF0F2"/>
          </a:solidFill>
        </p:spPr>
      </p:sp>
      <p:sp>
        <p:nvSpPr>
          <p:cNvPr name="Freeform 3" id="3"/>
          <p:cNvSpPr/>
          <p:nvPr/>
        </p:nvSpPr>
        <p:spPr>
          <a:xfrm flipH="false" flipV="false" rot="2825414">
            <a:off x="6858046" y="3013597"/>
            <a:ext cx="4341836" cy="4610057"/>
          </a:xfrm>
          <a:custGeom>
            <a:avLst/>
            <a:gdLst/>
            <a:ahLst/>
            <a:cxnLst/>
            <a:rect r="r" b="b" t="t" l="l"/>
            <a:pathLst>
              <a:path h="4610057" w="4341836">
                <a:moveTo>
                  <a:pt x="0" y="0"/>
                </a:moveTo>
                <a:lnTo>
                  <a:pt x="4341836" y="0"/>
                </a:lnTo>
                <a:lnTo>
                  <a:pt x="4341836" y="4610057"/>
                </a:lnTo>
                <a:lnTo>
                  <a:pt x="0" y="46100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4689034" y="4672928"/>
            <a:ext cx="8909931" cy="2143811"/>
            <a:chOff x="0" y="0"/>
            <a:chExt cx="11879909" cy="2858415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0"/>
              <a:ext cx="11879909" cy="1727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0200"/>
                </a:lnSpc>
                <a:spcBef>
                  <a:spcPct val="0"/>
                </a:spcBef>
              </a:pPr>
              <a:r>
                <a:rPr lang="en-US" sz="8500" u="none">
                  <a:solidFill>
                    <a:srgbClr val="2C2C2C"/>
                  </a:solidFill>
                  <a:latin typeface="Muli Black"/>
                  <a:ea typeface="Muli Black"/>
                  <a:cs typeface="Muli Black"/>
                  <a:sym typeface="Muli Black"/>
                </a:rPr>
                <a:t>Q&amp;A 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2191665"/>
              <a:ext cx="11879909" cy="6667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0"/>
                </a:lnSpc>
              </a:pPr>
              <a:r>
                <a:rPr lang="en-US" sz="3000">
                  <a:solidFill>
                    <a:srgbClr val="2C2C2C"/>
                  </a:solidFill>
                  <a:latin typeface="Muli Regular"/>
                  <a:ea typeface="Muli Regular"/>
                  <a:cs typeface="Muli Regular"/>
                  <a:sym typeface="Muli Regular"/>
                </a:rPr>
                <a:t>Cảm ơn tất cả mọi người đã lắng nghe</a:t>
              </a:r>
            </a:p>
          </p:txBody>
        </p:sp>
      </p:grpSp>
      <p:sp>
        <p:nvSpPr>
          <p:cNvPr name="AutoShape 7" id="7"/>
          <p:cNvSpPr/>
          <p:nvPr/>
        </p:nvSpPr>
        <p:spPr>
          <a:xfrm rot="0">
            <a:off x="-408731" y="1193142"/>
            <a:ext cx="18875389" cy="0"/>
          </a:xfrm>
          <a:prstGeom prst="line">
            <a:avLst/>
          </a:prstGeom>
          <a:ln cap="flat" w="9525">
            <a:solidFill>
              <a:srgbClr val="2C2C2C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1028700" y="426762"/>
            <a:ext cx="5438168" cy="349143"/>
            <a:chOff x="0" y="0"/>
            <a:chExt cx="7250891" cy="46552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75907" cy="465525"/>
            </a:xfrm>
            <a:custGeom>
              <a:avLst/>
              <a:gdLst/>
              <a:ahLst/>
              <a:cxnLst/>
              <a:rect r="r" b="b" t="t" l="l"/>
              <a:pathLst>
                <a:path h="465525" w="575907">
                  <a:moveTo>
                    <a:pt x="0" y="0"/>
                  </a:moveTo>
                  <a:lnTo>
                    <a:pt x="575907" y="0"/>
                  </a:lnTo>
                  <a:lnTo>
                    <a:pt x="575907" y="465525"/>
                  </a:lnTo>
                  <a:lnTo>
                    <a:pt x="0" y="4655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 rot="0">
              <a:off x="838060" y="51788"/>
              <a:ext cx="6412831" cy="3333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>
                  <a:solidFill>
                    <a:srgbClr val="2C2C2C"/>
                  </a:solidFill>
                  <a:latin typeface="Muli Bold"/>
                  <a:ea typeface="Muli Bold"/>
                  <a:cs typeface="Muli Bold"/>
                  <a:sym typeface="Muli Bold"/>
                </a:rPr>
                <a:t>ĐẠI HỌC CÔNG NGHỆ THÔNG TIN - ĐHQGTPHCM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DAFlhNMY8BI</dc:identifier>
  <dcterms:modified xsi:type="dcterms:W3CDTF">2011-08-01T06:04:30Z</dcterms:modified>
  <cp:revision>1</cp:revision>
  <dc:title>PHẦN MỀM QUẢN LÝ TIỀN LƯƠNG CÁN BỘ</dc:title>
</cp:coreProperties>
</file>